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5">
  <p:sldMasterIdLst>
    <p:sldMasterId id="2147483660" r:id="rId1"/>
  </p:sldMasterIdLst>
  <p:notesMasterIdLst>
    <p:notesMasterId r:id="rId53"/>
  </p:notesMasterIdLst>
  <p:sldIdLst>
    <p:sldId id="257" r:id="rId2"/>
    <p:sldId id="311" r:id="rId3"/>
    <p:sldId id="289" r:id="rId4"/>
    <p:sldId id="290" r:id="rId5"/>
    <p:sldId id="291" r:id="rId6"/>
    <p:sldId id="292" r:id="rId7"/>
    <p:sldId id="293" r:id="rId8"/>
    <p:sldId id="294" r:id="rId9"/>
    <p:sldId id="295" r:id="rId10"/>
    <p:sldId id="296" r:id="rId11"/>
    <p:sldId id="297" r:id="rId12"/>
    <p:sldId id="298" r:id="rId13"/>
    <p:sldId id="299" r:id="rId14"/>
    <p:sldId id="300" r:id="rId15"/>
    <p:sldId id="301" r:id="rId16"/>
    <p:sldId id="302" r:id="rId17"/>
    <p:sldId id="303" r:id="rId18"/>
    <p:sldId id="304" r:id="rId19"/>
    <p:sldId id="306" r:id="rId20"/>
    <p:sldId id="305" r:id="rId21"/>
    <p:sldId id="307" r:id="rId22"/>
    <p:sldId id="308" r:id="rId23"/>
    <p:sldId id="309" r:id="rId24"/>
    <p:sldId id="310" r:id="rId25"/>
    <p:sldId id="312" r:id="rId26"/>
    <p:sldId id="313" r:id="rId27"/>
    <p:sldId id="314" r:id="rId28"/>
    <p:sldId id="315" r:id="rId29"/>
    <p:sldId id="316" r:id="rId30"/>
    <p:sldId id="319" r:id="rId31"/>
    <p:sldId id="320" r:id="rId32"/>
    <p:sldId id="321" r:id="rId33"/>
    <p:sldId id="322" r:id="rId34"/>
    <p:sldId id="323" r:id="rId35"/>
    <p:sldId id="324" r:id="rId36"/>
    <p:sldId id="325" r:id="rId37"/>
    <p:sldId id="326" r:id="rId38"/>
    <p:sldId id="327" r:id="rId39"/>
    <p:sldId id="328" r:id="rId40"/>
    <p:sldId id="329" r:id="rId41"/>
    <p:sldId id="330" r:id="rId42"/>
    <p:sldId id="331" r:id="rId43"/>
    <p:sldId id="332" r:id="rId44"/>
    <p:sldId id="317" r:id="rId45"/>
    <p:sldId id="318" r:id="rId46"/>
    <p:sldId id="333" r:id="rId47"/>
    <p:sldId id="336" r:id="rId48"/>
    <p:sldId id="338" r:id="rId49"/>
    <p:sldId id="337" r:id="rId50"/>
    <p:sldId id="335" r:id="rId51"/>
    <p:sldId id="288"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tin Ernek" initials="ME" lastIdx="5" clrIdx="0">
    <p:extLst>
      <p:ext uri="{19B8F6BF-5375-455C-9EA6-DF929625EA0E}">
        <p15:presenceInfo xmlns:p15="http://schemas.microsoft.com/office/powerpoint/2012/main" userId="Martin Ernek"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redný štýl 2 - zvýrazneni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2" autoAdjust="0"/>
    <p:restoredTop sz="94714" autoAdjust="0"/>
  </p:normalViewPr>
  <p:slideViewPr>
    <p:cSldViewPr snapToGrid="0">
      <p:cViewPr varScale="1">
        <p:scale>
          <a:sx n="154" d="100"/>
          <a:sy n="154" d="100"/>
        </p:scale>
        <p:origin x="156" y="19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customXml" Target="../customXml/item3.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hlavičky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Zástupný symbol dátum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07E61-9030-4CA0-B221-889846E31DE6}" type="datetimeFigureOut">
              <a:rPr lang="en-US" smtClean="0"/>
              <a:t>4/9/2026</a:t>
            </a:fld>
            <a:endParaRPr lang="en-US" dirty="0"/>
          </a:p>
        </p:txBody>
      </p:sp>
      <p:sp>
        <p:nvSpPr>
          <p:cNvPr id="4" name="Zástupný symbol obrazu snímky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Zástupný symbol poznámo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
        <p:nvSpPr>
          <p:cNvPr id="6" name="Zástupný symbol päty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Zástupný symbol čísla snímk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29A903-7947-4FD4-B0C8-A12B2CAB3BCA}" type="slidenum">
              <a:rPr lang="en-US" smtClean="0"/>
              <a:t>‹#›</a:t>
            </a:fld>
            <a:endParaRPr lang="en-US" dirty="0"/>
          </a:p>
        </p:txBody>
      </p:sp>
    </p:spTree>
    <p:extLst>
      <p:ext uri="{BB962C8B-B14F-4D97-AF65-F5344CB8AC3E}">
        <p14:creationId xmlns:p14="http://schemas.microsoft.com/office/powerpoint/2010/main" val="3717365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razu snímky 1"/>
          <p:cNvSpPr>
            <a:spLocks noGrp="1" noRot="1" noChangeAspect="1"/>
          </p:cNvSpPr>
          <p:nvPr>
            <p:ph type="sldImg"/>
          </p:nvPr>
        </p:nvSpPr>
        <p:spPr/>
      </p:sp>
      <p:sp>
        <p:nvSpPr>
          <p:cNvPr id="3" name="Zástupný symbol poznámok 2"/>
          <p:cNvSpPr>
            <a:spLocks noGrp="1"/>
          </p:cNvSpPr>
          <p:nvPr>
            <p:ph type="body" idx="1"/>
          </p:nvPr>
        </p:nvSpPr>
        <p:spPr/>
        <p:txBody>
          <a:bodyPr/>
          <a:lstStyle/>
          <a:p>
            <a:endParaRPr lang="en-US" dirty="0"/>
          </a:p>
        </p:txBody>
      </p:sp>
      <p:sp>
        <p:nvSpPr>
          <p:cNvPr id="4" name="Zástupný symbol čísla snímky 3"/>
          <p:cNvSpPr>
            <a:spLocks noGrp="1"/>
          </p:cNvSpPr>
          <p:nvPr>
            <p:ph type="sldNum" sz="quarter" idx="10"/>
          </p:nvPr>
        </p:nvSpPr>
        <p:spPr/>
        <p:txBody>
          <a:bodyPr/>
          <a:lstStyle/>
          <a:p>
            <a:fld id="{1A6FE940-ED10-4003-8467-34CB6679BD36}" type="slidenum">
              <a:rPr lang="en-US" smtClean="0"/>
              <a:t>1</a:t>
            </a:fld>
            <a:endParaRPr lang="en-US" dirty="0"/>
          </a:p>
        </p:txBody>
      </p:sp>
    </p:spTree>
    <p:extLst>
      <p:ext uri="{BB962C8B-B14F-4D97-AF65-F5344CB8AC3E}">
        <p14:creationId xmlns:p14="http://schemas.microsoft.com/office/powerpoint/2010/main" val="5561419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k-SK" dirty="0"/>
          </a:p>
        </p:txBody>
      </p:sp>
      <p:sp>
        <p:nvSpPr>
          <p:cNvPr id="4" name="Slide Number Placeholder 3"/>
          <p:cNvSpPr>
            <a:spLocks noGrp="1"/>
          </p:cNvSpPr>
          <p:nvPr>
            <p:ph type="sldNum" sz="quarter" idx="5"/>
          </p:nvPr>
        </p:nvSpPr>
        <p:spPr/>
        <p:txBody>
          <a:bodyPr/>
          <a:lstStyle/>
          <a:p>
            <a:fld id="{8029A903-7947-4FD4-B0C8-A12B2CAB3BCA}" type="slidenum">
              <a:rPr lang="en-US" smtClean="0"/>
              <a:t>47</a:t>
            </a:fld>
            <a:endParaRPr lang="en-US" dirty="0"/>
          </a:p>
        </p:txBody>
      </p:sp>
    </p:spTree>
    <p:extLst>
      <p:ext uri="{BB962C8B-B14F-4D97-AF65-F5344CB8AC3E}">
        <p14:creationId xmlns:p14="http://schemas.microsoft.com/office/powerpoint/2010/main" val="1357094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k-SK" dirty="0"/>
          </a:p>
        </p:txBody>
      </p:sp>
      <p:sp>
        <p:nvSpPr>
          <p:cNvPr id="4" name="Slide Number Placeholder 3"/>
          <p:cNvSpPr>
            <a:spLocks noGrp="1"/>
          </p:cNvSpPr>
          <p:nvPr>
            <p:ph type="sldNum" sz="quarter" idx="5"/>
          </p:nvPr>
        </p:nvSpPr>
        <p:spPr/>
        <p:txBody>
          <a:bodyPr/>
          <a:lstStyle/>
          <a:p>
            <a:fld id="{8029A903-7947-4FD4-B0C8-A12B2CAB3BCA}" type="slidenum">
              <a:rPr lang="en-US" smtClean="0"/>
              <a:t>48</a:t>
            </a:fld>
            <a:endParaRPr lang="en-US" dirty="0"/>
          </a:p>
        </p:txBody>
      </p:sp>
    </p:spTree>
    <p:extLst>
      <p:ext uri="{BB962C8B-B14F-4D97-AF65-F5344CB8AC3E}">
        <p14:creationId xmlns:p14="http://schemas.microsoft.com/office/powerpoint/2010/main" val="791264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k-SK" dirty="0"/>
          </a:p>
        </p:txBody>
      </p:sp>
      <p:sp>
        <p:nvSpPr>
          <p:cNvPr id="4" name="Slide Number Placeholder 3"/>
          <p:cNvSpPr>
            <a:spLocks noGrp="1"/>
          </p:cNvSpPr>
          <p:nvPr>
            <p:ph type="sldNum" sz="quarter" idx="5"/>
          </p:nvPr>
        </p:nvSpPr>
        <p:spPr/>
        <p:txBody>
          <a:bodyPr/>
          <a:lstStyle/>
          <a:p>
            <a:fld id="{8029A903-7947-4FD4-B0C8-A12B2CAB3BCA}" type="slidenum">
              <a:rPr lang="en-US" smtClean="0"/>
              <a:t>49</a:t>
            </a:fld>
            <a:endParaRPr lang="en-US" dirty="0"/>
          </a:p>
        </p:txBody>
      </p:sp>
    </p:spTree>
    <p:extLst>
      <p:ext uri="{BB962C8B-B14F-4D97-AF65-F5344CB8AC3E}">
        <p14:creationId xmlns:p14="http://schemas.microsoft.com/office/powerpoint/2010/main" val="3625706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Úvodná snímka">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sk-SK"/>
              <a:t>Upravte štýly predlohy textu</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k-SK"/>
              <a:t>Upravte štýl predlohy podnadpisov</a:t>
            </a:r>
            <a:endParaRPr lang="en-US" dirty="0"/>
          </a:p>
        </p:txBody>
      </p:sp>
      <p:sp>
        <p:nvSpPr>
          <p:cNvPr id="4" name="Date Placeholder 3"/>
          <p:cNvSpPr>
            <a:spLocks noGrp="1"/>
          </p:cNvSpPr>
          <p:nvPr>
            <p:ph type="dt" sz="half" idx="10"/>
          </p:nvPr>
        </p:nvSpPr>
        <p:spPr/>
        <p:txBody>
          <a:bodyPr/>
          <a:lstStyle/>
          <a:p>
            <a:fld id="{2E4F350D-D4C3-4D1C-AC05-9244C4B3CEE9}" type="datetimeFigureOut">
              <a:rPr lang="en-US" smtClean="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4B0F8B6-B4DE-4040-ADB7-E86EA34CC827}" type="slidenum">
              <a:rPr lang="en-US" smtClean="0"/>
              <a:t>‹#›</a:t>
            </a:fld>
            <a:endParaRPr lang="en-US" dirty="0"/>
          </a:p>
        </p:txBody>
      </p:sp>
    </p:spTree>
    <p:extLst>
      <p:ext uri="{BB962C8B-B14F-4D97-AF65-F5344CB8AC3E}">
        <p14:creationId xmlns:p14="http://schemas.microsoft.com/office/powerpoint/2010/main" val="1710538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sk-SK"/>
              <a:t>Upravte štýly predlohy textu</a:t>
            </a:r>
            <a:endParaRPr lang="en-US" dirty="0"/>
          </a:p>
        </p:txBody>
      </p:sp>
      <p:sp>
        <p:nvSpPr>
          <p:cNvPr id="3" name="Content Placeholder 2"/>
          <p:cNvSpPr>
            <a:spLocks noGrp="1"/>
          </p:cNvSpPr>
          <p:nvPr>
            <p:ph idx="1"/>
          </p:nvPr>
        </p:nvSpPr>
        <p:spPr/>
        <p:txBody>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Date Placeholder 3"/>
          <p:cNvSpPr>
            <a:spLocks noGrp="1"/>
          </p:cNvSpPr>
          <p:nvPr>
            <p:ph type="dt" sz="half" idx="10"/>
          </p:nvPr>
        </p:nvSpPr>
        <p:spPr/>
        <p:txBody>
          <a:bodyPr/>
          <a:lstStyle/>
          <a:p>
            <a:fld id="{2E4F350D-D4C3-4D1C-AC05-9244C4B3CEE9}" type="datetimeFigureOut">
              <a:rPr lang="en-US" smtClean="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4B0F8B6-B4DE-4040-ADB7-E86EA34CC827}" type="slidenum">
              <a:rPr lang="en-US" smtClean="0"/>
              <a:t>‹#›</a:t>
            </a:fld>
            <a:endParaRPr lang="en-US" dirty="0"/>
          </a:p>
        </p:txBody>
      </p:sp>
    </p:spTree>
    <p:extLst>
      <p:ext uri="{BB962C8B-B14F-4D97-AF65-F5344CB8AC3E}">
        <p14:creationId xmlns:p14="http://schemas.microsoft.com/office/powerpoint/2010/main" val="2843994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Hlavička sekcie">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sk-SK"/>
              <a:t>Upravte štýly predlohy textu</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k-SK"/>
              <a:t>Upravte štýl predlohy textu.</a:t>
            </a:r>
          </a:p>
        </p:txBody>
      </p:sp>
      <p:sp>
        <p:nvSpPr>
          <p:cNvPr id="4" name="Date Placeholder 3"/>
          <p:cNvSpPr>
            <a:spLocks noGrp="1"/>
          </p:cNvSpPr>
          <p:nvPr>
            <p:ph type="dt" sz="half" idx="10"/>
          </p:nvPr>
        </p:nvSpPr>
        <p:spPr/>
        <p:txBody>
          <a:bodyPr/>
          <a:lstStyle/>
          <a:p>
            <a:fld id="{2E4F350D-D4C3-4D1C-AC05-9244C4B3CEE9}" type="datetimeFigureOut">
              <a:rPr lang="en-US" smtClean="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4B0F8B6-B4DE-4040-ADB7-E86EA34CC827}" type="slidenum">
              <a:rPr lang="en-US" smtClean="0"/>
              <a:t>‹#›</a:t>
            </a:fld>
            <a:endParaRPr lang="en-US" dirty="0"/>
          </a:p>
        </p:txBody>
      </p:sp>
    </p:spTree>
    <p:extLst>
      <p:ext uri="{BB962C8B-B14F-4D97-AF65-F5344CB8AC3E}">
        <p14:creationId xmlns:p14="http://schemas.microsoft.com/office/powerpoint/2010/main" val="2335210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Upravte štýly predlohy textu</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5" name="Date Placeholder 4"/>
          <p:cNvSpPr>
            <a:spLocks noGrp="1"/>
          </p:cNvSpPr>
          <p:nvPr>
            <p:ph type="dt" sz="half" idx="10"/>
          </p:nvPr>
        </p:nvSpPr>
        <p:spPr/>
        <p:txBody>
          <a:bodyPr/>
          <a:lstStyle/>
          <a:p>
            <a:fld id="{2E4F350D-D4C3-4D1C-AC05-9244C4B3CEE9}" type="datetimeFigureOut">
              <a:rPr lang="en-US" smtClean="0"/>
              <a:t>4/9/2026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4B0F8B6-B4DE-4040-ADB7-E86EA34CC827}" type="slidenum">
              <a:rPr lang="en-US" smtClean="0"/>
              <a:t>‹#›</a:t>
            </a:fld>
            <a:endParaRPr lang="en-US" dirty="0"/>
          </a:p>
        </p:txBody>
      </p:sp>
    </p:spTree>
    <p:extLst>
      <p:ext uri="{BB962C8B-B14F-4D97-AF65-F5344CB8AC3E}">
        <p14:creationId xmlns:p14="http://schemas.microsoft.com/office/powerpoint/2010/main" val="3886794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ani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sk-SK"/>
              <a:t>Upravte štýly predlohy textu</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Upravte štýl predlohy textu.</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Upravte štýl predlohy textu.</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7" name="Date Placeholder 6"/>
          <p:cNvSpPr>
            <a:spLocks noGrp="1"/>
          </p:cNvSpPr>
          <p:nvPr>
            <p:ph type="dt" sz="half" idx="10"/>
          </p:nvPr>
        </p:nvSpPr>
        <p:spPr/>
        <p:txBody>
          <a:bodyPr/>
          <a:lstStyle/>
          <a:p>
            <a:fld id="{2E4F350D-D4C3-4D1C-AC05-9244C4B3CEE9}" type="datetimeFigureOut">
              <a:rPr lang="en-US" smtClean="0"/>
              <a:t>4/9/2026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4B0F8B6-B4DE-4040-ADB7-E86EA34CC827}" type="slidenum">
              <a:rPr lang="en-US" smtClean="0"/>
              <a:t>‹#›</a:t>
            </a:fld>
            <a:endParaRPr lang="en-US" dirty="0"/>
          </a:p>
        </p:txBody>
      </p:sp>
    </p:spTree>
    <p:extLst>
      <p:ext uri="{BB962C8B-B14F-4D97-AF65-F5344CB8AC3E}">
        <p14:creationId xmlns:p14="http://schemas.microsoft.com/office/powerpoint/2010/main" val="2784298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Len nadpis">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sk-SK"/>
              <a:t>Upravte štýly predlohy textu</a:t>
            </a:r>
            <a:endParaRPr lang="en-US" dirty="0"/>
          </a:p>
        </p:txBody>
      </p:sp>
      <p:sp>
        <p:nvSpPr>
          <p:cNvPr id="3" name="Date Placeholder 2"/>
          <p:cNvSpPr>
            <a:spLocks noGrp="1"/>
          </p:cNvSpPr>
          <p:nvPr>
            <p:ph type="dt" sz="half" idx="10"/>
          </p:nvPr>
        </p:nvSpPr>
        <p:spPr/>
        <p:txBody>
          <a:bodyPr/>
          <a:lstStyle/>
          <a:p>
            <a:fld id="{2E4F350D-D4C3-4D1C-AC05-9244C4B3CEE9}" type="datetimeFigureOut">
              <a:rPr lang="en-US" smtClean="0"/>
              <a:t>4/9/2026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4B0F8B6-B4DE-4040-ADB7-E86EA34CC827}" type="slidenum">
              <a:rPr lang="en-US" smtClean="0"/>
              <a:t>‹#›</a:t>
            </a:fld>
            <a:endParaRPr lang="en-US" dirty="0"/>
          </a:p>
        </p:txBody>
      </p:sp>
    </p:spTree>
    <p:extLst>
      <p:ext uri="{BB962C8B-B14F-4D97-AF65-F5344CB8AC3E}">
        <p14:creationId xmlns:p14="http://schemas.microsoft.com/office/powerpoint/2010/main" val="2842680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4F350D-D4C3-4D1C-AC05-9244C4B3CEE9}" type="datetimeFigureOut">
              <a:rPr lang="en-US" smtClean="0"/>
              <a:t>4/9/2026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4B0F8B6-B4DE-4040-ADB7-E86EA34CC827}" type="slidenum">
              <a:rPr lang="en-US" smtClean="0"/>
              <a:t>‹#›</a:t>
            </a:fld>
            <a:endParaRPr lang="en-US" dirty="0"/>
          </a:p>
        </p:txBody>
      </p:sp>
    </p:spTree>
    <p:extLst>
      <p:ext uri="{BB962C8B-B14F-4D97-AF65-F5344CB8AC3E}">
        <p14:creationId xmlns:p14="http://schemas.microsoft.com/office/powerpoint/2010/main" val="354436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popisom">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sk-SK"/>
              <a:t>Upravte štýly predlohy textu</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sk-SK"/>
              <a:t>Upravte štýl predlohy textu.</a:t>
            </a:r>
          </a:p>
        </p:txBody>
      </p:sp>
      <p:sp>
        <p:nvSpPr>
          <p:cNvPr id="5" name="Date Placeholder 4"/>
          <p:cNvSpPr>
            <a:spLocks noGrp="1"/>
          </p:cNvSpPr>
          <p:nvPr>
            <p:ph type="dt" sz="half" idx="10"/>
          </p:nvPr>
        </p:nvSpPr>
        <p:spPr/>
        <p:txBody>
          <a:bodyPr/>
          <a:lstStyle/>
          <a:p>
            <a:fld id="{2E4F350D-D4C3-4D1C-AC05-9244C4B3CEE9}" type="datetimeFigureOut">
              <a:rPr lang="en-US" smtClean="0"/>
              <a:t>4/9/2026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4B0F8B6-B4DE-4040-ADB7-E86EA34CC827}" type="slidenum">
              <a:rPr lang="en-US" smtClean="0"/>
              <a:t>‹#›</a:t>
            </a:fld>
            <a:endParaRPr lang="en-US" dirty="0"/>
          </a:p>
        </p:txBody>
      </p:sp>
    </p:spTree>
    <p:extLst>
      <p:ext uri="{BB962C8B-B14F-4D97-AF65-F5344CB8AC3E}">
        <p14:creationId xmlns:p14="http://schemas.microsoft.com/office/powerpoint/2010/main" val="901547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ok s popisom">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sk-SK"/>
              <a:t>Upravte štýly predlohy textu</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sk-SK" dirty="0"/>
              <a:t>Ak chcete pridať obrázok, kliknite na ikonu</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k-SK"/>
              <a:t>Upravte štýl predlohy textu.</a:t>
            </a:r>
          </a:p>
        </p:txBody>
      </p:sp>
      <p:sp>
        <p:nvSpPr>
          <p:cNvPr id="5" name="Date Placeholder 4"/>
          <p:cNvSpPr>
            <a:spLocks noGrp="1"/>
          </p:cNvSpPr>
          <p:nvPr>
            <p:ph type="dt" sz="half" idx="10"/>
          </p:nvPr>
        </p:nvSpPr>
        <p:spPr/>
        <p:txBody>
          <a:bodyPr/>
          <a:lstStyle/>
          <a:p>
            <a:fld id="{2E4F350D-D4C3-4D1C-AC05-9244C4B3CEE9}" type="datetimeFigureOut">
              <a:rPr lang="en-US" smtClean="0"/>
              <a:t>4/9/2026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4B0F8B6-B4DE-4040-ADB7-E86EA34CC827}" type="slidenum">
              <a:rPr lang="en-US" smtClean="0"/>
              <a:t>‹#›</a:t>
            </a:fld>
            <a:endParaRPr lang="en-US" dirty="0"/>
          </a:p>
        </p:txBody>
      </p:sp>
    </p:spTree>
    <p:extLst>
      <p:ext uri="{BB962C8B-B14F-4D97-AF65-F5344CB8AC3E}">
        <p14:creationId xmlns:p14="http://schemas.microsoft.com/office/powerpoint/2010/main" val="934307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Názov a popis">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sk-SK"/>
              <a:t>Upravte štýly predlohy textu</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k-SK"/>
              <a:t>Upravte štýl predlohy textu.</a:t>
            </a:r>
          </a:p>
        </p:txBody>
      </p:sp>
      <p:sp>
        <p:nvSpPr>
          <p:cNvPr id="4" name="Date Placeholder 3"/>
          <p:cNvSpPr>
            <a:spLocks noGrp="1"/>
          </p:cNvSpPr>
          <p:nvPr>
            <p:ph type="dt" sz="half" idx="10"/>
          </p:nvPr>
        </p:nvSpPr>
        <p:spPr/>
        <p:txBody>
          <a:bodyPr/>
          <a:lstStyle/>
          <a:p>
            <a:fld id="{2E4F350D-D4C3-4D1C-AC05-9244C4B3CEE9}" type="datetimeFigureOut">
              <a:rPr lang="en-US" smtClean="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4B0F8B6-B4DE-4040-ADB7-E86EA34CC827}" type="slidenum">
              <a:rPr lang="en-US" smtClean="0"/>
              <a:t>‹#›</a:t>
            </a:fld>
            <a:endParaRPr lang="en-US" dirty="0"/>
          </a:p>
        </p:txBody>
      </p:sp>
    </p:spTree>
    <p:extLst>
      <p:ext uri="{BB962C8B-B14F-4D97-AF65-F5344CB8AC3E}">
        <p14:creationId xmlns:p14="http://schemas.microsoft.com/office/powerpoint/2010/main" val="436878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onuka s popisom">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sk-SK"/>
              <a:t>Upravte štýly predlohy textu</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k-SK"/>
              <a:t>Upravte štýl predlohy textu.</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k-SK"/>
              <a:t>Upravte štýl predlohy textu.</a:t>
            </a:r>
          </a:p>
        </p:txBody>
      </p:sp>
      <p:sp>
        <p:nvSpPr>
          <p:cNvPr id="4" name="Date Placeholder 3"/>
          <p:cNvSpPr>
            <a:spLocks noGrp="1"/>
          </p:cNvSpPr>
          <p:nvPr>
            <p:ph type="dt" sz="half" idx="10"/>
          </p:nvPr>
        </p:nvSpPr>
        <p:spPr/>
        <p:txBody>
          <a:bodyPr/>
          <a:lstStyle/>
          <a:p>
            <a:fld id="{2E4F350D-D4C3-4D1C-AC05-9244C4B3CEE9}" type="datetimeFigureOut">
              <a:rPr lang="en-US" smtClean="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4B0F8B6-B4DE-4040-ADB7-E86EA34CC827}" type="slidenum">
              <a:rPr lang="en-US" smtClean="0"/>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2550740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Karta s názv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sk-SK"/>
              <a:t>Upravte štýly predlohy textu</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k-SK"/>
              <a:t>Upravte štýl predlohy textu.</a:t>
            </a:r>
          </a:p>
        </p:txBody>
      </p:sp>
      <p:sp>
        <p:nvSpPr>
          <p:cNvPr id="4" name="Date Placeholder 3"/>
          <p:cNvSpPr>
            <a:spLocks noGrp="1"/>
          </p:cNvSpPr>
          <p:nvPr>
            <p:ph type="dt" sz="half" idx="10"/>
          </p:nvPr>
        </p:nvSpPr>
        <p:spPr/>
        <p:txBody>
          <a:bodyPr/>
          <a:lstStyle/>
          <a:p>
            <a:fld id="{2E4F350D-D4C3-4D1C-AC05-9244C4B3CEE9}" type="datetimeFigureOut">
              <a:rPr lang="en-US" smtClean="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4B0F8B6-B4DE-4040-ADB7-E86EA34CC827}" type="slidenum">
              <a:rPr lang="en-US" smtClean="0"/>
              <a:t>‹#›</a:t>
            </a:fld>
            <a:endParaRPr lang="en-US" dirty="0"/>
          </a:p>
        </p:txBody>
      </p:sp>
    </p:spTree>
    <p:extLst>
      <p:ext uri="{BB962C8B-B14F-4D97-AF65-F5344CB8AC3E}">
        <p14:creationId xmlns:p14="http://schemas.microsoft.com/office/powerpoint/2010/main" val="31638871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Karta s názvom ponuky">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sk-SK"/>
              <a:t>Upravte štýly predlohy textu</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k-SK"/>
              <a:t>Upravte štýl predlohy textu.</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k-SK"/>
              <a:t>Upravte štýl predlohy textu.</a:t>
            </a:r>
          </a:p>
        </p:txBody>
      </p:sp>
      <p:sp>
        <p:nvSpPr>
          <p:cNvPr id="4" name="Date Placeholder 3"/>
          <p:cNvSpPr>
            <a:spLocks noGrp="1"/>
          </p:cNvSpPr>
          <p:nvPr>
            <p:ph type="dt" sz="half" idx="10"/>
          </p:nvPr>
        </p:nvSpPr>
        <p:spPr/>
        <p:txBody>
          <a:bodyPr/>
          <a:lstStyle/>
          <a:p>
            <a:fld id="{2E4F350D-D4C3-4D1C-AC05-9244C4B3CEE9}" type="datetimeFigureOut">
              <a:rPr lang="en-US" smtClean="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4B0F8B6-B4DE-4040-ADB7-E86EA34CC827}"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307277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alebo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sk-SK"/>
              <a:t>Upravte štýly predlohy textu</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sk-SK"/>
              <a:t>Upravte štýl predlohy textu.</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k-SK"/>
              <a:t>Upravte štýl predlohy textu.</a:t>
            </a:r>
          </a:p>
        </p:txBody>
      </p:sp>
      <p:sp>
        <p:nvSpPr>
          <p:cNvPr id="4" name="Date Placeholder 3"/>
          <p:cNvSpPr>
            <a:spLocks noGrp="1"/>
          </p:cNvSpPr>
          <p:nvPr>
            <p:ph type="dt" sz="half" idx="10"/>
          </p:nvPr>
        </p:nvSpPr>
        <p:spPr/>
        <p:txBody>
          <a:bodyPr/>
          <a:lstStyle/>
          <a:p>
            <a:fld id="{2E4F350D-D4C3-4D1C-AC05-9244C4B3CEE9}" type="datetimeFigureOut">
              <a:rPr lang="en-US" smtClean="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4B0F8B6-B4DE-4040-ADB7-E86EA34CC827}" type="slidenum">
              <a:rPr lang="en-US" smtClean="0"/>
              <a:t>‹#›</a:t>
            </a:fld>
            <a:endParaRPr lang="en-US" dirty="0"/>
          </a:p>
        </p:txBody>
      </p:sp>
    </p:spTree>
    <p:extLst>
      <p:ext uri="{BB962C8B-B14F-4D97-AF65-F5344CB8AC3E}">
        <p14:creationId xmlns:p14="http://schemas.microsoft.com/office/powerpoint/2010/main" val="33725525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Nadpis a zvislý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Upravte štýly predlohy textu</a:t>
            </a:r>
            <a:endParaRPr lang="en-US" dirty="0"/>
          </a:p>
        </p:txBody>
      </p:sp>
      <p:sp>
        <p:nvSpPr>
          <p:cNvPr id="3" name="Vertical Text Placeholder 2"/>
          <p:cNvSpPr>
            <a:spLocks noGrp="1"/>
          </p:cNvSpPr>
          <p:nvPr>
            <p:ph type="body" orient="vert" idx="1"/>
          </p:nvPr>
        </p:nvSpPr>
        <p:spPr/>
        <p:txBody>
          <a:bodyPr vert="eaVert"/>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Date Placeholder 3"/>
          <p:cNvSpPr>
            <a:spLocks noGrp="1"/>
          </p:cNvSpPr>
          <p:nvPr>
            <p:ph type="dt" sz="half" idx="10"/>
          </p:nvPr>
        </p:nvSpPr>
        <p:spPr/>
        <p:txBody>
          <a:bodyPr/>
          <a:lstStyle/>
          <a:p>
            <a:fld id="{2E4F350D-D4C3-4D1C-AC05-9244C4B3CEE9}" type="datetimeFigureOut">
              <a:rPr lang="en-US" smtClean="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4B0F8B6-B4DE-4040-ADB7-E86EA34CC827}" type="slidenum">
              <a:rPr lang="en-US" smtClean="0"/>
              <a:t>‹#›</a:t>
            </a:fld>
            <a:endParaRPr lang="en-US" dirty="0"/>
          </a:p>
        </p:txBody>
      </p:sp>
    </p:spTree>
    <p:extLst>
      <p:ext uri="{BB962C8B-B14F-4D97-AF65-F5344CB8AC3E}">
        <p14:creationId xmlns:p14="http://schemas.microsoft.com/office/powerpoint/2010/main" val="12292383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Zvislý nadpis a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sk-SK"/>
              <a:t>Upravte štýly predlohy textu</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Date Placeholder 3"/>
          <p:cNvSpPr>
            <a:spLocks noGrp="1"/>
          </p:cNvSpPr>
          <p:nvPr>
            <p:ph type="dt" sz="half" idx="10"/>
          </p:nvPr>
        </p:nvSpPr>
        <p:spPr/>
        <p:txBody>
          <a:bodyPr/>
          <a:lstStyle/>
          <a:p>
            <a:fld id="{2E4F350D-D4C3-4D1C-AC05-9244C4B3CEE9}" type="datetimeFigureOut">
              <a:rPr lang="en-US" smtClean="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4B0F8B6-B4DE-4040-ADB7-E86EA34CC827}" type="slidenum">
              <a:rPr lang="en-US" smtClean="0"/>
              <a:t>‹#›</a:t>
            </a:fld>
            <a:endParaRPr lang="en-US" dirty="0"/>
          </a:p>
        </p:txBody>
      </p:sp>
    </p:spTree>
    <p:extLst>
      <p:ext uri="{BB962C8B-B14F-4D97-AF65-F5344CB8AC3E}">
        <p14:creationId xmlns:p14="http://schemas.microsoft.com/office/powerpoint/2010/main" val="3564647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k-SK"/>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sk-SK"/>
              <a:t>Upravte štýly predlohy textu</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E4F350D-D4C3-4D1C-AC05-9244C4B3CEE9}" type="datetimeFigureOut">
              <a:rPr lang="en-US" smtClean="0"/>
              <a:t>4/9/2026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4B0F8B6-B4DE-4040-ADB7-E86EA34CC827}" type="slidenum">
              <a:rPr lang="en-US" smtClean="0"/>
              <a:t>‹#›</a:t>
            </a:fld>
            <a:endParaRPr lang="en-US" dirty="0"/>
          </a:p>
        </p:txBody>
      </p:sp>
    </p:spTree>
    <p:extLst>
      <p:ext uri="{BB962C8B-B14F-4D97-AF65-F5344CB8AC3E}">
        <p14:creationId xmlns:p14="http://schemas.microsoft.com/office/powerpoint/2010/main" val="11515545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ctrTitle"/>
          </p:nvPr>
        </p:nvSpPr>
        <p:spPr/>
        <p:txBody>
          <a:bodyPr/>
          <a:lstStyle/>
          <a:p>
            <a:r>
              <a:rPr lang="sk-SK" dirty="0"/>
              <a:t>Dynamika elektrizačných sústav</a:t>
            </a:r>
            <a:br>
              <a:rPr lang="en-US" dirty="0"/>
            </a:br>
            <a:r>
              <a:rPr lang="sk-SK" sz="2800" dirty="0"/>
              <a:t>7. Týždeň: Havarijné riadenie elektrizačných sústav</a:t>
            </a:r>
            <a:br>
              <a:rPr lang="sk-SK" dirty="0"/>
            </a:br>
            <a:endParaRPr lang="sk-SK" dirty="0"/>
          </a:p>
        </p:txBody>
      </p:sp>
      <p:sp>
        <p:nvSpPr>
          <p:cNvPr id="3" name="Podnadpis 2"/>
          <p:cNvSpPr>
            <a:spLocks noGrp="1"/>
          </p:cNvSpPr>
          <p:nvPr>
            <p:ph type="subTitle" idx="1"/>
          </p:nvPr>
        </p:nvSpPr>
        <p:spPr/>
        <p:txBody>
          <a:bodyPr>
            <a:normAutofit lnSpcReduction="10000"/>
          </a:bodyPr>
          <a:lstStyle/>
          <a:p>
            <a:r>
              <a:rPr lang="sk-SK" dirty="0"/>
              <a:t>Študijný program: Robotika a kybernetika</a:t>
            </a:r>
          </a:p>
          <a:p>
            <a:r>
              <a:rPr lang="sk-SK" dirty="0"/>
              <a:t>2026</a:t>
            </a:r>
          </a:p>
          <a:p>
            <a:r>
              <a:rPr lang="sk-SK"/>
              <a:t>Doc. Ing</a:t>
            </a:r>
            <a:r>
              <a:rPr lang="sk-SK" dirty="0"/>
              <a:t>. Martin Ernek PhD.</a:t>
            </a:r>
            <a:endParaRPr lang="en-US" dirty="0"/>
          </a:p>
        </p:txBody>
      </p:sp>
    </p:spTree>
    <p:extLst>
      <p:ext uri="{BB962C8B-B14F-4D97-AF65-F5344CB8AC3E}">
        <p14:creationId xmlns:p14="http://schemas.microsoft.com/office/powerpoint/2010/main" val="513133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Frekvenčná stabilita</a:t>
            </a:r>
          </a:p>
        </p:txBody>
      </p:sp>
      <mc:AlternateContent xmlns:mc="http://schemas.openxmlformats.org/markup-compatibility/2006" xmlns:a14="http://schemas.microsoft.com/office/drawing/2010/main">
        <mc:Choice Requires="a14">
          <p:sp>
            <p:nvSpPr>
              <p:cNvPr id="3" name="Zástupný symbol obsahu 2"/>
              <p:cNvSpPr>
                <a:spLocks noGrp="1"/>
              </p:cNvSpPr>
              <p:nvPr>
                <p:ph idx="1"/>
              </p:nvPr>
            </p:nvSpPr>
            <p:spPr/>
            <p:txBody>
              <a:bodyPr>
                <a:normAutofit fontScale="92500" lnSpcReduction="20000"/>
              </a:bodyPr>
              <a:lstStyle/>
              <a:p>
                <a:pPr algn="just"/>
                <a:r>
                  <a:rPr lang="sk-SK" dirty="0"/>
                  <a:t>Frekvenčná stabilita predstavuje schopnosť elektrizačnej sústavy udržať rovnováhu medzi výrobou a spotrebou pri závažných systémových poruchách. Nakoľko frekvencia prestavuje globálnu premennú, každá nerovnováha medzi výrobou a spotrebou bude mať vplyv na prevádzku každého generátora zapojeného do elektrizačnej sústavy. </a:t>
                </a:r>
              </a:p>
              <a:p>
                <a:pPr algn="just"/>
                <a:r>
                  <a:rPr lang="sk-SK" dirty="0"/>
                  <a:t>Každá zmena v uhlovej rýchlosti bude mať za následok zmenu elektromagnetického momentu a následne spôsobí nerovnováhu medzi elektromagnetickým momentom a mechanickým momentom každého synchrónneho generátora. </a:t>
                </a:r>
              </a:p>
              <a:p>
                <a:pPr algn="just"/>
                <a:r>
                  <a:rPr lang="sk-SK" dirty="0"/>
                  <a:t>Zmena uhlovej rýchlosti je daná rovnicou</a:t>
                </a:r>
                <a:r>
                  <a:rPr lang="en-US" dirty="0"/>
                  <a:t> </a:t>
                </a:r>
                <a14:m>
                  <m:oMath xmlns:m="http://schemas.openxmlformats.org/officeDocument/2006/math">
                    <m:r>
                      <a:rPr lang="sk-SK" i="1">
                        <a:latin typeface="Cambria Math" panose="02040503050406030204" pitchFamily="18" charset="0"/>
                      </a:rPr>
                      <m:t>∆</m:t>
                    </m:r>
                    <m:r>
                      <a:rPr lang="sk-SK" i="1">
                        <a:latin typeface="Cambria Math" panose="02040503050406030204" pitchFamily="18" charset="0"/>
                      </a:rPr>
                      <m:t>𝜔</m:t>
                    </m:r>
                    <m:r>
                      <a:rPr lang="sk-SK" i="1">
                        <a:latin typeface="Cambria Math" panose="02040503050406030204" pitchFamily="18" charset="0"/>
                      </a:rPr>
                      <m:t>=∆</m:t>
                    </m:r>
                    <m:r>
                      <a:rPr lang="sk-SK" i="1">
                        <a:latin typeface="Cambria Math" panose="02040503050406030204" pitchFamily="18" charset="0"/>
                      </a:rPr>
                      <m:t>𝑃</m:t>
                    </m:r>
                    <m:r>
                      <a:rPr lang="sk-SK" i="1">
                        <a:latin typeface="Cambria Math" panose="02040503050406030204" pitchFamily="18" charset="0"/>
                      </a:rPr>
                      <m:t>/</m:t>
                    </m:r>
                    <m:sSub>
                      <m:sSubPr>
                        <m:ctrlPr>
                          <a:rPr lang="sk-SK" i="1">
                            <a:latin typeface="Cambria Math" panose="02040503050406030204" pitchFamily="18" charset="0"/>
                          </a:rPr>
                        </m:ctrlPr>
                      </m:sSubPr>
                      <m:e>
                        <m:r>
                          <a:rPr lang="sk-SK" i="1">
                            <a:latin typeface="Cambria Math" panose="02040503050406030204" pitchFamily="18" charset="0"/>
                          </a:rPr>
                          <m:t>𝐻</m:t>
                        </m:r>
                      </m:e>
                      <m:sub>
                        <m:r>
                          <a:rPr lang="sk-SK" i="1">
                            <a:latin typeface="Cambria Math" panose="02040503050406030204" pitchFamily="18" charset="0"/>
                          </a:rPr>
                          <m:t>𝑠𝑦𝑠</m:t>
                        </m:r>
                      </m:sub>
                    </m:sSub>
                  </m:oMath>
                </a14:m>
                <a:r>
                  <a:rPr lang="sk-SK" dirty="0"/>
                  <a:t>, kde </a:t>
                </a:r>
                <a14:m>
                  <m:oMath xmlns:m="http://schemas.openxmlformats.org/officeDocument/2006/math">
                    <m:r>
                      <a:rPr lang="sk-SK" i="1">
                        <a:latin typeface="Cambria Math" panose="02040503050406030204" pitchFamily="18" charset="0"/>
                      </a:rPr>
                      <m:t>∆</m:t>
                    </m:r>
                    <m:r>
                      <a:rPr lang="sk-SK" i="1">
                        <a:latin typeface="Cambria Math" panose="02040503050406030204" pitchFamily="18" charset="0"/>
                      </a:rPr>
                      <m:t>𝑃</m:t>
                    </m:r>
                  </m:oMath>
                </a14:m>
                <a:r>
                  <a:rPr lang="sk-SK" dirty="0"/>
                  <a:t> predstavuje odchýlku činného výkonu a </a:t>
                </a:r>
                <a14:m>
                  <m:oMath xmlns:m="http://schemas.openxmlformats.org/officeDocument/2006/math">
                    <m:sSub>
                      <m:sSubPr>
                        <m:ctrlPr>
                          <a:rPr lang="sk-SK" i="1">
                            <a:latin typeface="Cambria Math" panose="02040503050406030204" pitchFamily="18" charset="0"/>
                          </a:rPr>
                        </m:ctrlPr>
                      </m:sSubPr>
                      <m:e>
                        <m:r>
                          <a:rPr lang="sk-SK" i="1">
                            <a:latin typeface="Cambria Math" panose="02040503050406030204" pitchFamily="18" charset="0"/>
                          </a:rPr>
                          <m:t>𝐻</m:t>
                        </m:r>
                      </m:e>
                      <m:sub>
                        <m:r>
                          <a:rPr lang="sk-SK" i="1">
                            <a:latin typeface="Cambria Math" panose="02040503050406030204" pitchFamily="18" charset="0"/>
                          </a:rPr>
                          <m:t>𝑠𝑦𝑠</m:t>
                        </m:r>
                      </m:sub>
                    </m:sSub>
                  </m:oMath>
                </a14:m>
                <a:r>
                  <a:rPr lang="sk-SK" dirty="0"/>
                  <a:t> je moment zotrvačnosti počítaný ako súčet momentov zotrvačnosti všetkých generátorov v elektrizačnej sústave. Zotrvačnosť generátora predstavuje fyzikálnu vlastnosť stroja odolávať zmenám rýchlosti rotora. Pri veľkých elektrizačných sústavách s veľa prepojenými strojmi ako je napríklad ENTSO-e je moment zotrvačnosti všetkých strojov veľmi veľký a preto je sústava stabilnejšia. </a:t>
                </a:r>
              </a:p>
              <a:p>
                <a:pPr algn="just"/>
                <a:endParaRPr lang="sk-SK" dirty="0"/>
              </a:p>
            </p:txBody>
          </p:sp>
        </mc:Choice>
        <mc:Fallback xmlns="">
          <p:sp>
            <p:nvSpPr>
              <p:cNvPr id="3" name="Zástupný symbol obsahu 2"/>
              <p:cNvSpPr>
                <a:spLocks noGrp="1" noRot="1" noChangeAspect="1" noMove="1" noResize="1" noEditPoints="1" noAdjustHandles="1" noChangeArrowheads="1" noChangeShapeType="1" noTextEdit="1"/>
              </p:cNvSpPr>
              <p:nvPr>
                <p:ph idx="1"/>
              </p:nvPr>
            </p:nvSpPr>
            <p:spPr>
              <a:blipFill>
                <a:blip r:embed="rId2"/>
                <a:stretch>
                  <a:fillRect l="-71" t="-1727" r="-496"/>
                </a:stretch>
              </a:blipFill>
            </p:spPr>
            <p:txBody>
              <a:bodyPr/>
              <a:lstStyle/>
              <a:p>
                <a:r>
                  <a:rPr lang="sk-SK">
                    <a:noFill/>
                  </a:rPr>
                  <a:t> </a:t>
                </a:r>
              </a:p>
            </p:txBody>
          </p:sp>
        </mc:Fallback>
      </mc:AlternateContent>
    </p:spTree>
    <p:extLst>
      <p:ext uri="{BB962C8B-B14F-4D97-AF65-F5344CB8AC3E}">
        <p14:creationId xmlns:p14="http://schemas.microsoft.com/office/powerpoint/2010/main" val="4275927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Stavy elektrizačnej sústavy</a:t>
            </a:r>
          </a:p>
        </p:txBody>
      </p:sp>
      <p:sp>
        <p:nvSpPr>
          <p:cNvPr id="3" name="Zástupný symbol obsahu 2"/>
          <p:cNvSpPr>
            <a:spLocks noGrp="1"/>
          </p:cNvSpPr>
          <p:nvPr>
            <p:ph idx="1"/>
          </p:nvPr>
        </p:nvSpPr>
        <p:spPr/>
        <p:txBody>
          <a:bodyPr/>
          <a:lstStyle/>
          <a:p>
            <a:pPr algn="just"/>
            <a:r>
              <a:rPr lang="sk-SK" dirty="0"/>
              <a:t>HAVARIJNÝ STAV</a:t>
            </a:r>
          </a:p>
          <a:p>
            <a:pPr lvl="1" algn="just"/>
            <a:r>
              <a:rPr lang="sk-SK" dirty="0"/>
              <a:t>stav, keď frekvencia, napätie alebo prenášané výkony v ktoromkoľvek mieste sústavy sú mimo toleranciu normálnych hodnôt, najmä keď dôjde k prerušeniu dodávky užívateľom v časti alebo v celej sústave</a:t>
            </a:r>
          </a:p>
          <a:p>
            <a:pPr algn="just"/>
            <a:r>
              <a:rPr lang="sk-SK" dirty="0"/>
              <a:t>Sústava z hľadiska bezpečnosti, spoľahlivosti a riadenia prevádzky môže byť v:</a:t>
            </a:r>
          </a:p>
          <a:p>
            <a:pPr lvl="1" algn="just"/>
            <a:r>
              <a:rPr lang="sk-SK" dirty="0"/>
              <a:t>normálnom stave</a:t>
            </a:r>
          </a:p>
          <a:p>
            <a:pPr lvl="1" algn="just"/>
            <a:r>
              <a:rPr lang="sk-SK" dirty="0"/>
              <a:t>stave ohrozenia</a:t>
            </a:r>
          </a:p>
          <a:p>
            <a:pPr lvl="1" algn="just"/>
            <a:r>
              <a:rPr lang="sk-SK" dirty="0"/>
              <a:t>stave núdze</a:t>
            </a:r>
          </a:p>
          <a:p>
            <a:pPr lvl="1" algn="just"/>
            <a:r>
              <a:rPr lang="sk-SK" dirty="0"/>
              <a:t>stave bez napätia</a:t>
            </a:r>
          </a:p>
          <a:p>
            <a:pPr lvl="1" algn="just"/>
            <a:r>
              <a:rPr lang="sk-SK" dirty="0"/>
              <a:t>stave obnovy</a:t>
            </a:r>
          </a:p>
        </p:txBody>
      </p:sp>
    </p:spTree>
    <p:extLst>
      <p:ext uri="{BB962C8B-B14F-4D97-AF65-F5344CB8AC3E}">
        <p14:creationId xmlns:p14="http://schemas.microsoft.com/office/powerpoint/2010/main" val="3892545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Normálny stav</a:t>
            </a:r>
          </a:p>
        </p:txBody>
      </p:sp>
      <p:sp>
        <p:nvSpPr>
          <p:cNvPr id="3" name="Zástupný symbol obsahu 2"/>
          <p:cNvSpPr>
            <a:spLocks noGrp="1"/>
          </p:cNvSpPr>
          <p:nvPr>
            <p:ph idx="1"/>
          </p:nvPr>
        </p:nvSpPr>
        <p:spPr/>
        <p:txBody>
          <a:bodyPr/>
          <a:lstStyle/>
          <a:p>
            <a:pPr algn="just"/>
            <a:r>
              <a:rPr lang="sk-SK" dirty="0"/>
              <a:t>Počas normálneho stavu sa sústava nachádza v rámci limitov prevádzkovej bezpečnosti a PPS v stanovených časových intervaloch monitoruje aktuálny stav sústavy a reaguje na odchýlky hodnôt frekvencie alebo napätia, ako aj na zvýšenie zaťaženia.</a:t>
            </a:r>
          </a:p>
          <a:p>
            <a:pPr algn="just"/>
            <a:r>
              <a:rPr lang="sk-SK" dirty="0"/>
              <a:t>Na reguláciu sú využívané </a:t>
            </a:r>
            <a:r>
              <a:rPr lang="sk-SK" dirty="0" err="1"/>
              <a:t>PpS</a:t>
            </a:r>
            <a:r>
              <a:rPr lang="sk-SK" dirty="0"/>
              <a:t> na výrobu elektriny (činný výkon, napätie) a manipulácie s prenosovým zariadením.</a:t>
            </a:r>
          </a:p>
          <a:p>
            <a:pPr algn="just"/>
            <a:r>
              <a:rPr lang="sk-SK" dirty="0"/>
              <a:t>Slovenský elektroenergetický dispečing (ďalej len „SED“) zodpovedá za operatívne riadenie sústavy a za spoľahlivý prenos a dodávku elektriny v rámci PS SR</a:t>
            </a:r>
          </a:p>
        </p:txBody>
      </p:sp>
    </p:spTree>
    <p:extLst>
      <p:ext uri="{BB962C8B-B14F-4D97-AF65-F5344CB8AC3E}">
        <p14:creationId xmlns:p14="http://schemas.microsoft.com/office/powerpoint/2010/main" val="4157871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Stav ohrozenia</a:t>
            </a:r>
          </a:p>
        </p:txBody>
      </p:sp>
      <p:sp>
        <p:nvSpPr>
          <p:cNvPr id="3" name="Zástupný symbol obsahu 2"/>
          <p:cNvSpPr>
            <a:spLocks noGrp="1"/>
          </p:cNvSpPr>
          <p:nvPr>
            <p:ph idx="1"/>
          </p:nvPr>
        </p:nvSpPr>
        <p:spPr/>
        <p:txBody>
          <a:bodyPr/>
          <a:lstStyle/>
          <a:p>
            <a:pPr algn="just"/>
            <a:r>
              <a:rPr lang="sk-SK" dirty="0"/>
              <a:t>V stave ohrozenia sa sústava nachádza v rozsahu limitov prevádzkovej bezpečnosti</a:t>
            </a:r>
            <a:r>
              <a:rPr lang="en-US" dirty="0"/>
              <a:t> a </a:t>
            </a:r>
            <a:r>
              <a:rPr lang="sk-SK" dirty="0"/>
              <a:t>bola zistená taká neplánovaná udalosť, kedy v prípade jej výskytu nie sú k dispozícii dostatočné nápravné opatrenia na zachovanie normálneho stavu</a:t>
            </a:r>
          </a:p>
        </p:txBody>
      </p:sp>
    </p:spTree>
    <p:extLst>
      <p:ext uri="{BB962C8B-B14F-4D97-AF65-F5344CB8AC3E}">
        <p14:creationId xmlns:p14="http://schemas.microsoft.com/office/powerpoint/2010/main" val="375864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Stav núdze</a:t>
            </a:r>
          </a:p>
        </p:txBody>
      </p:sp>
      <p:sp>
        <p:nvSpPr>
          <p:cNvPr id="3" name="Zástupný symbol obsahu 2"/>
          <p:cNvSpPr>
            <a:spLocks noGrp="1"/>
          </p:cNvSpPr>
          <p:nvPr>
            <p:ph idx="1"/>
          </p:nvPr>
        </p:nvSpPr>
        <p:spPr/>
        <p:txBody>
          <a:bodyPr/>
          <a:lstStyle/>
          <a:p>
            <a:r>
              <a:rPr lang="sk-SK" dirty="0"/>
              <a:t>Pri stave núdze došlo v PS k porušeniu jedného alebo viacerých limitov prevádzkovej bezpečnosti. V tomto stave SED lokalizuje poruchové miesto, zisťuje rozsah a dopady poruchového stavu na zásobovanie odberateľov, na výrobu elektriny a na zahraničné prenosy. Ak si to vyžaduje situácia, pomocou opatrení Plánu obrany zabraňuje zhoršovaniu stavu sústavy a šíreniu porúch.</a:t>
            </a:r>
          </a:p>
        </p:txBody>
      </p:sp>
    </p:spTree>
    <p:extLst>
      <p:ext uri="{BB962C8B-B14F-4D97-AF65-F5344CB8AC3E}">
        <p14:creationId xmlns:p14="http://schemas.microsoft.com/office/powerpoint/2010/main" val="896152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Stav bez napätia - </a:t>
            </a:r>
            <a:r>
              <a:rPr lang="sk-SK" dirty="0" err="1"/>
              <a:t>blackout</a:t>
            </a:r>
            <a:endParaRPr lang="sk-SK" dirty="0"/>
          </a:p>
        </p:txBody>
      </p:sp>
      <p:sp>
        <p:nvSpPr>
          <p:cNvPr id="3" name="Zástupný symbol obsahu 2"/>
          <p:cNvSpPr>
            <a:spLocks noGrp="1"/>
          </p:cNvSpPr>
          <p:nvPr>
            <p:ph idx="1"/>
          </p:nvPr>
        </p:nvSpPr>
        <p:spPr/>
        <p:txBody>
          <a:bodyPr/>
          <a:lstStyle/>
          <a:p>
            <a:pPr algn="just"/>
            <a:r>
              <a:rPr lang="sk-SK" dirty="0"/>
              <a:t>Stav bez napätia je stav sústavy, kedy je celá PS alebo jej časť mimo prevádzky. Takýto stav sústavy je nazývaný tiež </a:t>
            </a:r>
            <a:r>
              <a:rPr lang="sk-SK" dirty="0" err="1"/>
              <a:t>black-out</a:t>
            </a:r>
            <a:r>
              <a:rPr lang="sk-SK" dirty="0"/>
              <a:t>.</a:t>
            </a:r>
          </a:p>
        </p:txBody>
      </p:sp>
    </p:spTree>
    <p:extLst>
      <p:ext uri="{BB962C8B-B14F-4D97-AF65-F5344CB8AC3E}">
        <p14:creationId xmlns:p14="http://schemas.microsoft.com/office/powerpoint/2010/main" val="369108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Stav obnovy</a:t>
            </a:r>
          </a:p>
        </p:txBody>
      </p:sp>
      <p:sp>
        <p:nvSpPr>
          <p:cNvPr id="3" name="Zástupný symbol obsahu 2"/>
          <p:cNvSpPr>
            <a:spLocks noGrp="1"/>
          </p:cNvSpPr>
          <p:nvPr>
            <p:ph idx="1"/>
          </p:nvPr>
        </p:nvSpPr>
        <p:spPr/>
        <p:txBody>
          <a:bodyPr/>
          <a:lstStyle/>
          <a:p>
            <a:pPr algn="just"/>
            <a:r>
              <a:rPr lang="sk-SK" dirty="0"/>
              <a:t>Stav obnovy je stav sústavy, v ktorom je cieľom všetkých činností v PS opätovné obnovenie prevádzky sústavy a zachovanie prevádzkovej bezpečnosti po stave bez napätia alebo stave núdze.</a:t>
            </a:r>
          </a:p>
        </p:txBody>
      </p:sp>
    </p:spTree>
    <p:extLst>
      <p:ext uri="{BB962C8B-B14F-4D97-AF65-F5344CB8AC3E}">
        <p14:creationId xmlns:p14="http://schemas.microsoft.com/office/powerpoint/2010/main" val="3068148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PLÁN OBRANY</a:t>
            </a:r>
          </a:p>
        </p:txBody>
      </p:sp>
      <p:sp>
        <p:nvSpPr>
          <p:cNvPr id="3" name="Zástupný symbol obsahu 2"/>
          <p:cNvSpPr>
            <a:spLocks noGrp="1"/>
          </p:cNvSpPr>
          <p:nvPr>
            <p:ph idx="1"/>
          </p:nvPr>
        </p:nvSpPr>
        <p:spPr/>
        <p:txBody>
          <a:bodyPr>
            <a:normAutofit/>
          </a:bodyPr>
          <a:lstStyle/>
          <a:p>
            <a:pPr algn="just"/>
            <a:r>
              <a:rPr lang="sk-SK" dirty="0"/>
              <a:t>Pre zabránenie vzniku a šírenia veľkých systémových porúch, resp. zvládnutie kritických stavov v ES SR je vytvorený systém preventívnych opatrení, s cieľom udržať v maximálne možnej miere ES SR v stabilnej prevádzke. Tento systém opatrení je skrátene nazývaný ako „Plán obrany“.</a:t>
            </a:r>
          </a:p>
          <a:p>
            <a:pPr algn="just"/>
            <a:endParaRPr lang="sk-SK" dirty="0"/>
          </a:p>
          <a:p>
            <a:pPr algn="just"/>
            <a:r>
              <a:rPr lang="sk-SK" dirty="0"/>
              <a:t>Plán obrany združuje súbor technických a organizačných postupov a opatrení, ktorými je možné zabrániť prekračovaniu limitov prevádzkovej bezpečnosti a šíreniu poruchy, je možné prinavrátiť sústavu späť do štandardných prevádzkových limitov a skrátiť čas alebo zamedziť procesu obnovy sústavy. Týmto je možné zamedziť stratám na ľudských životoch a ľudskom zdraví, škodám na majetku, poškodeniam životného prostredia a v neposlednom rade ekonomickým stratám užívateľov ES SR ako aj susedných štátov.</a:t>
            </a:r>
          </a:p>
        </p:txBody>
      </p:sp>
    </p:spTree>
    <p:extLst>
      <p:ext uri="{BB962C8B-B14F-4D97-AF65-F5344CB8AC3E}">
        <p14:creationId xmlns:p14="http://schemas.microsoft.com/office/powerpoint/2010/main" val="167213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PLÁN OBRANY</a:t>
            </a:r>
          </a:p>
        </p:txBody>
      </p:sp>
      <p:sp>
        <p:nvSpPr>
          <p:cNvPr id="3" name="Zástupný symbol obsahu 2"/>
          <p:cNvSpPr>
            <a:spLocks noGrp="1"/>
          </p:cNvSpPr>
          <p:nvPr>
            <p:ph idx="1"/>
          </p:nvPr>
        </p:nvSpPr>
        <p:spPr/>
        <p:txBody>
          <a:bodyPr>
            <a:normAutofit fontScale="92500" lnSpcReduction="20000"/>
          </a:bodyPr>
          <a:lstStyle/>
          <a:p>
            <a:pPr algn="just"/>
            <a:r>
              <a:rPr lang="sk-SK" dirty="0"/>
              <a:t>Prenosová sústava SR je v rámci prevádzkových bezpečnostných limitov, ak napätia a toky výkonu nepresahujú limity prevádzkovej bezpečnosti a frekvenčná odchýlka je v rámci rozsahu ±200 </a:t>
            </a:r>
            <a:r>
              <a:rPr lang="sk-SK" dirty="0" err="1"/>
              <a:t>mHz</a:t>
            </a:r>
            <a:r>
              <a:rPr lang="sk-SK" dirty="0"/>
              <a:t>. V tomto stave sa frekvencia reguluje pomocou </a:t>
            </a:r>
            <a:r>
              <a:rPr lang="en-US" dirty="0" err="1"/>
              <a:t>podporn</a:t>
            </a:r>
            <a:r>
              <a:rPr lang="sk-SK" dirty="0" err="1"/>
              <a:t>ých</a:t>
            </a:r>
            <a:r>
              <a:rPr lang="sk-SK" dirty="0"/>
              <a:t> služieb. </a:t>
            </a:r>
          </a:p>
          <a:p>
            <a:pPr algn="just"/>
            <a:r>
              <a:rPr lang="sk-SK" dirty="0"/>
              <a:t>Úlohou primárnej regulácie činného výkonu je udržiavanie rovnováhy medzi výrobou a spotrebou elektriny v rámci prepojenej ES. Primárna regulácia činného výkonu stabilizuje frekvenciu na rovnovážnej hodnote po poruche bez toho, aby obnovila požadovanú hodnota frekvencie sústavy a výmeny výkonov. </a:t>
            </a:r>
          </a:p>
          <a:p>
            <a:pPr algn="just"/>
            <a:r>
              <a:rPr lang="sk-SK" dirty="0"/>
              <a:t>Sekundárna regulácia činného výkonu (ďalej len „SRV“) udržiava rovnováhu medzi výrobou a spotrebou elektriny, ako aj frekvenciu sústavy v rámci každej regulačnej oblasti, pričom sa berie do úvahy plánovaný program výmen elektriny. </a:t>
            </a:r>
          </a:p>
          <a:p>
            <a:pPr algn="just"/>
            <a:r>
              <a:rPr lang="sk-SK" dirty="0"/>
              <a:t>Terciárna regulácia činného výkonu (ďalej len „TRV“) je predovšetkým využívaná na uvoľnenie rezerv v SRV vo vyváženom stave sústavy, ale je taktiež aktivovaná ako doplnok sekundárnej rezervy po väčších poruchách a na uvoľnenie primárnej rezervy v rámci celej ES. </a:t>
            </a:r>
          </a:p>
        </p:txBody>
      </p:sp>
    </p:spTree>
    <p:extLst>
      <p:ext uri="{BB962C8B-B14F-4D97-AF65-F5344CB8AC3E}">
        <p14:creationId xmlns:p14="http://schemas.microsoft.com/office/powerpoint/2010/main" val="1157134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PLÁN OBRANY</a:t>
            </a:r>
          </a:p>
        </p:txBody>
      </p:sp>
      <p:sp>
        <p:nvSpPr>
          <p:cNvPr id="3" name="Zástupný symbol obsahu 2"/>
          <p:cNvSpPr>
            <a:spLocks noGrp="1"/>
          </p:cNvSpPr>
          <p:nvPr>
            <p:ph idx="1"/>
          </p:nvPr>
        </p:nvSpPr>
        <p:spPr/>
        <p:txBody>
          <a:bodyPr/>
          <a:lstStyle/>
          <a:p>
            <a:r>
              <a:rPr lang="sk-SK" dirty="0"/>
              <a:t>Plán obrany je primerane záväzný pre všetky subjekty, ktoré na území SR spolu vytvárajú sektor </a:t>
            </a:r>
            <a:r>
              <a:rPr lang="sk-SK" dirty="0" err="1"/>
              <a:t>elektroenergetiky</a:t>
            </a:r>
            <a:r>
              <a:rPr lang="sk-SK" dirty="0"/>
              <a:t>, resp. participujú na trhu s elektrinou v SR. Sú to najmä PPS, prevádzkovatelia distribučných sústav (ďalej len „PDS“), prevádzkovatelia zariadení na výrobu elektriny, koncoví odberatelia elektriny, subjekty obchodujúce s elektrinou. </a:t>
            </a:r>
          </a:p>
          <a:p>
            <a:r>
              <a:rPr lang="sk-SK" dirty="0"/>
              <a:t>Všetky tieto subjekty sú povinné konať v zmysle ďalej definovaných opatrení v Pláne obrany a sú povinné neustále konať v rozsahu svojich kompetencií a činností tak, aby nielen nespôsobili vznik veľkých systémových porúch, ale aby boli schopné v maximálnej miere podľa svojich schopností, technického vybavenia a svojho komplexného dosahu zabrániť šíreniu alebo rozšíreniu porúch a kritických stavov v ES SR, ak už aj nastanú niekde inde alebo vplyvom iných subjektov vo vnútri alebo mimo územia SR.</a:t>
            </a:r>
          </a:p>
        </p:txBody>
      </p:sp>
    </p:spTree>
    <p:extLst>
      <p:ext uri="{BB962C8B-B14F-4D97-AF65-F5344CB8AC3E}">
        <p14:creationId xmlns:p14="http://schemas.microsoft.com/office/powerpoint/2010/main" val="398267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PLÁN OBRANY</a:t>
            </a:r>
          </a:p>
        </p:txBody>
      </p:sp>
      <p:sp>
        <p:nvSpPr>
          <p:cNvPr id="3" name="Zástupný symbol obsahu 2"/>
          <p:cNvSpPr>
            <a:spLocks noGrp="1"/>
          </p:cNvSpPr>
          <p:nvPr>
            <p:ph idx="1"/>
          </p:nvPr>
        </p:nvSpPr>
        <p:spPr/>
        <p:txBody>
          <a:bodyPr/>
          <a:lstStyle/>
          <a:p>
            <a:pPr algn="just"/>
            <a:r>
              <a:rPr lang="sk-SK" dirty="0"/>
              <a:t>Plán obrany proti vzniku a šíreniu veľkých systémových porúch počas prevádzky ES SR pozostáva z nasledujúcich opatrení:</a:t>
            </a:r>
          </a:p>
          <a:p>
            <a:pPr lvl="1" algn="just"/>
            <a:r>
              <a:rPr lang="sk-SK" dirty="0"/>
              <a:t>opatrenia proti poklesom a nárastom frekvencie v ES SR</a:t>
            </a:r>
          </a:p>
          <a:p>
            <a:pPr lvl="1" algn="just"/>
            <a:r>
              <a:rPr lang="sk-SK" dirty="0"/>
              <a:t>opatrenia proti poklesu a nárastu napätí</a:t>
            </a:r>
          </a:p>
          <a:p>
            <a:pPr lvl="1" algn="just"/>
            <a:r>
              <a:rPr lang="sk-SK" dirty="0"/>
              <a:t>opatrenia pre zabránenie preťaženia prvkov v PS SR</a:t>
            </a:r>
          </a:p>
        </p:txBody>
      </p:sp>
    </p:spTree>
    <p:extLst>
      <p:ext uri="{BB962C8B-B14F-4D97-AF65-F5344CB8AC3E}">
        <p14:creationId xmlns:p14="http://schemas.microsoft.com/office/powerpoint/2010/main" val="2988495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sk-SK" dirty="0"/>
              <a:t>Opatrenia proti poklesom a nárastom frekvencie v ES SR</a:t>
            </a:r>
            <a:br>
              <a:rPr lang="sk-SK" dirty="0"/>
            </a:br>
            <a:endParaRPr lang="sk-SK" dirty="0"/>
          </a:p>
        </p:txBody>
      </p:sp>
      <p:sp>
        <p:nvSpPr>
          <p:cNvPr id="3" name="Zástupný symbol obsahu 2"/>
          <p:cNvSpPr>
            <a:spLocks noGrp="1"/>
          </p:cNvSpPr>
          <p:nvPr>
            <p:ph idx="1"/>
          </p:nvPr>
        </p:nvSpPr>
        <p:spPr/>
        <p:txBody>
          <a:bodyPr/>
          <a:lstStyle/>
          <a:p>
            <a:pPr algn="just"/>
            <a:r>
              <a:rPr lang="sk-SK" dirty="0"/>
              <a:t>Pre ustálený chod ES musí byť splnená podmienka rovnováhy medzi celkovým dodaným a spotrebovaným činným výkonom. Narušenie tejto rovnováhy má za následok zmenu frekvencie v celej prepojenej ES. Frekvencia sústavy sa mení do okamihu, kedy nastane nový rovnovážny stav medzi výrobou a spotrebou. </a:t>
            </a:r>
          </a:p>
          <a:p>
            <a:pPr algn="just"/>
            <a:r>
              <a:rPr lang="sk-SK" dirty="0"/>
              <a:t>Na udržanie rovnováhy medzi výrobou a spotrebou sa v normálnom frekvenčnom pásme využívajú podporné služby. Ak v dôsledku nepredvídanej poruchy dôjde k narušeniu rovnováhy medzi výrobou a spotrebou elektriny a frekvencia sa vychýli z normálneho frekvenčného pásma, je potrebné použiť všetky dostupné nápravné opatrenia na zabránenie zhoršovania tohto stavu. V ES SR sa využívajú opatrenia tak na strane výroby ako aj na strane spotreby elektriny.</a:t>
            </a:r>
          </a:p>
        </p:txBody>
      </p:sp>
    </p:spTree>
    <p:extLst>
      <p:ext uri="{BB962C8B-B14F-4D97-AF65-F5344CB8AC3E}">
        <p14:creationId xmlns:p14="http://schemas.microsoft.com/office/powerpoint/2010/main" val="2357396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Normálne frekvenčné pásmo</a:t>
            </a:r>
          </a:p>
        </p:txBody>
      </p:sp>
      <p:sp>
        <p:nvSpPr>
          <p:cNvPr id="3" name="Zástupný symbol obsahu 2"/>
          <p:cNvSpPr>
            <a:spLocks noGrp="1"/>
          </p:cNvSpPr>
          <p:nvPr>
            <p:ph idx="1"/>
          </p:nvPr>
        </p:nvSpPr>
        <p:spPr/>
        <p:txBody>
          <a:bodyPr/>
          <a:lstStyle/>
          <a:p>
            <a:pPr algn="just"/>
            <a:r>
              <a:rPr lang="sk-SK" dirty="0"/>
              <a:t>V prepojenej sústave RG-CE ENTSO-E sa za nominálnu frekvenciu považuje hodnota 50,0 Hz a za normálne frekvenčné pásmo rozsah frekvencií 49,8 Hz – 50,2 Hz. V normálnom frekvenčnom pásme sa reguluje činný výkon využitím </a:t>
            </a:r>
            <a:r>
              <a:rPr lang="sk-SK" dirty="0" err="1"/>
              <a:t>PpS</a:t>
            </a:r>
            <a:r>
              <a:rPr lang="sk-SK" dirty="0"/>
              <a:t>, ako sú primárna, sekundárna a terciárna regulácia činného výkonu. </a:t>
            </a:r>
          </a:p>
          <a:p>
            <a:pPr algn="just"/>
            <a:r>
              <a:rPr lang="sk-SK" dirty="0"/>
              <a:t>Cieľom regulácie činného výkonu je udržiavať odchýlku salda ACE regulačnej oblasti SEPS okolo 0 MW, pričom sa nepodnikajú žiadne mimoriadne opatrenia. </a:t>
            </a:r>
          </a:p>
        </p:txBody>
      </p:sp>
    </p:spTree>
    <p:extLst>
      <p:ext uri="{BB962C8B-B14F-4D97-AF65-F5344CB8AC3E}">
        <p14:creationId xmlns:p14="http://schemas.microsoft.com/office/powerpoint/2010/main" val="399750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Abnormálna frekvencia v ES SR</a:t>
            </a:r>
          </a:p>
        </p:txBody>
      </p:sp>
      <p:sp>
        <p:nvSpPr>
          <p:cNvPr id="3" name="Zástupný symbol obsahu 2"/>
          <p:cNvSpPr>
            <a:spLocks noGrp="1"/>
          </p:cNvSpPr>
          <p:nvPr>
            <p:ph idx="1"/>
          </p:nvPr>
        </p:nvSpPr>
        <p:spPr/>
        <p:txBody>
          <a:bodyPr/>
          <a:lstStyle/>
          <a:p>
            <a:pPr algn="just"/>
            <a:r>
              <a:rPr lang="sk-SK" dirty="0"/>
              <a:t>Pokiaľ sa frekvencia v prepojenej sústave RG-CE ENTSO-E vychýli z normálneho frekvenčného pásma 49,8 Hz - 50,2 Hz, dostáva sa sústava do stavu núdze a tento stav je potrebné riešiť mimoriadnymi opatreniami, ktorých cieľom je dostať frekvenciu do normálneho pásma. V takomto stave dispečer SED a ďalšie osoby začlenené do procesu obrany sa musia usilovať o navrátenie frekvencie do normálneho pásma.</a:t>
            </a:r>
          </a:p>
        </p:txBody>
      </p:sp>
    </p:spTree>
    <p:extLst>
      <p:ext uri="{BB962C8B-B14F-4D97-AF65-F5344CB8AC3E}">
        <p14:creationId xmlns:p14="http://schemas.microsoft.com/office/powerpoint/2010/main" val="3448271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Prevádzka zdrojov na výrobu elektriny pri abnormálnej frekvencii </a:t>
            </a:r>
          </a:p>
        </p:txBody>
      </p:sp>
      <p:sp>
        <p:nvSpPr>
          <p:cNvPr id="3" name="Zástupný symbol obsahu 2"/>
          <p:cNvSpPr>
            <a:spLocks noGrp="1"/>
          </p:cNvSpPr>
          <p:nvPr>
            <p:ph idx="1"/>
          </p:nvPr>
        </p:nvSpPr>
        <p:spPr/>
        <p:txBody>
          <a:bodyPr/>
          <a:lstStyle/>
          <a:p>
            <a:pPr algn="just"/>
            <a:r>
              <a:rPr lang="sk-SK" dirty="0"/>
              <a:t>Zdroje na výrobu elektriny majú pri dosiahnutí interných frekvenčných limitov časovo obmedzenú prevádzku a nakoniec sa od sústavy odpájajú. Cieľom tohto opatrenia je ochrániť technologické zariadenie zdrojov na výrobu elektriny pred poškodením. Odpojením elektrární dochádza k úplnému rozpadu prepojenej sústavy. Prevádzku zdrojov na výrobu elektriny pri vysokej frekvencii rozdeľujeme do troch fáz:</a:t>
            </a:r>
          </a:p>
          <a:p>
            <a:pPr lvl="1" algn="just">
              <a:buFont typeface="Arial" panose="020B0604020202020204" pitchFamily="34" charset="0"/>
              <a:buChar char="•"/>
            </a:pPr>
            <a:r>
              <a:rPr lang="sk-SK" dirty="0"/>
              <a:t>časovo neobmedzená prevádzka</a:t>
            </a:r>
          </a:p>
          <a:p>
            <a:pPr lvl="1" algn="just">
              <a:buFont typeface="Arial" panose="020B0604020202020204" pitchFamily="34" charset="0"/>
              <a:buChar char="•"/>
            </a:pPr>
            <a:r>
              <a:rPr lang="sk-SK" dirty="0"/>
              <a:t>časovo obmedzená prevádzka</a:t>
            </a:r>
          </a:p>
          <a:p>
            <a:pPr lvl="1" algn="just">
              <a:buFont typeface="Arial" panose="020B0604020202020204" pitchFamily="34" charset="0"/>
              <a:buChar char="•"/>
            </a:pPr>
            <a:r>
              <a:rPr lang="sk-SK" dirty="0"/>
              <a:t>odpojenie od sústavy</a:t>
            </a:r>
          </a:p>
        </p:txBody>
      </p:sp>
    </p:spTree>
    <p:extLst>
      <p:ext uri="{BB962C8B-B14F-4D97-AF65-F5344CB8AC3E}">
        <p14:creationId xmlns:p14="http://schemas.microsoft.com/office/powerpoint/2010/main" val="1239535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Prevádzka jadrových elektrární JE pri abnormálnej frekvencii</a:t>
            </a:r>
          </a:p>
        </p:txBody>
      </p:sp>
      <p:sp>
        <p:nvSpPr>
          <p:cNvPr id="3" name="Zástupný symbol obsahu 2"/>
          <p:cNvSpPr>
            <a:spLocks noGrp="1"/>
          </p:cNvSpPr>
          <p:nvPr>
            <p:ph idx="1"/>
          </p:nvPr>
        </p:nvSpPr>
        <p:spPr/>
        <p:txBody>
          <a:bodyPr>
            <a:normAutofit fontScale="92500" lnSpcReduction="10000"/>
          </a:bodyPr>
          <a:lstStyle/>
          <a:p>
            <a:pPr algn="just"/>
            <a:r>
              <a:rPr lang="sk-SK" dirty="0"/>
              <a:t>Bloky JE sa pri frekvenčnej odchýlke väčšej alebo rovnej 200 </a:t>
            </a:r>
            <a:r>
              <a:rPr lang="sk-SK" dirty="0" err="1"/>
              <a:t>mHz</a:t>
            </a:r>
            <a:r>
              <a:rPr lang="sk-SK" dirty="0"/>
              <a:t> automaticky prepnú z aktuálneho režimu riadenia činného výkonu do režimu „Ostrovná prevádzka“ a obsluha bloku vypne sekundárnu reguláciu napätia (ďalej len „SRN“).</a:t>
            </a:r>
          </a:p>
          <a:p>
            <a:pPr algn="just"/>
            <a:r>
              <a:rPr lang="sk-SK" dirty="0"/>
              <a:t>Statika proporcionálnej regulácie otvárania ventilov je nastavená na 5 %. Vzhľadom na to, že pri ostrovnej prevádzke sa reguluje otvorenie regulačných ventilov turbíny, očakávané zvýšenie alebo zníženie výkonu je približne 20 MW / 0,1 Hz s rešpektovaním aktuálnych technických možností bloku JE. V prípade potreby môže dispečer SED požadovať zmenu aktuálneho zadaného výkonu v rámci technických možností bloku, čo vykoná obsluha bloku zmenou žiadaných otáčok bloku. Bloky zostávajú v otáčkovej regulácii až do pokynu dispečera na prechod do výkonovej regulácie po návrate frekvencie do normálneho frekvenčného pásma 49,8 Hz-50,2 Hz. </a:t>
            </a:r>
          </a:p>
          <a:p>
            <a:pPr algn="just"/>
            <a:r>
              <a:rPr lang="sk-SK" dirty="0"/>
              <a:t>Pri frekvencii 47,5 alebo 51 Hz sa bloky JE s oneskorením od sústavy automaticky odpoja a prejdú na vlastnú spotrebu. Frekvencia 51 Hz je daná limitnými hodnotami prietoku chladiacej vody reaktorom. </a:t>
            </a:r>
          </a:p>
        </p:txBody>
      </p:sp>
    </p:spTree>
    <p:extLst>
      <p:ext uri="{BB962C8B-B14F-4D97-AF65-F5344CB8AC3E}">
        <p14:creationId xmlns:p14="http://schemas.microsoft.com/office/powerpoint/2010/main" val="1428247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Prevádzka elektrární na fosílne palivá FE pri abnormálnej frekvencii</a:t>
            </a:r>
          </a:p>
        </p:txBody>
      </p:sp>
      <p:sp>
        <p:nvSpPr>
          <p:cNvPr id="3" name="Zástupný symbol obsahu 2"/>
          <p:cNvSpPr>
            <a:spLocks noGrp="1"/>
          </p:cNvSpPr>
          <p:nvPr>
            <p:ph idx="1"/>
          </p:nvPr>
        </p:nvSpPr>
        <p:spPr/>
        <p:txBody>
          <a:bodyPr/>
          <a:lstStyle/>
          <a:p>
            <a:pPr algn="just"/>
            <a:r>
              <a:rPr lang="sk-SK" dirty="0"/>
              <a:t>Bloky sa pri frekvenčnej odchýlke väčšej alebo rovnej ±200 </a:t>
            </a:r>
            <a:r>
              <a:rPr lang="sk-SK" dirty="0" err="1"/>
              <a:t>mHz</a:t>
            </a:r>
            <a:r>
              <a:rPr lang="sk-SK" dirty="0"/>
              <a:t> automaticky odpoja od žiadaného výkonu vo výkonovej regulácii SRV alebo od inej žiadanej hodnoty a automaticky prejdú do proporcionálnej otáčkovej regulácie s časovým oneskorením maximálne 2 s a odpoja sa od SRN. Požadovaná statika pre otáčkovú reguláciu je s = 4 - 6 %. Bloky zvyšujú alebo znižujú výkon dovoleným trendom. Horná a dolná hranica výkonu bloku je ohraničená technologickým minimom (</a:t>
            </a:r>
            <a:r>
              <a:rPr lang="sk-SK" dirty="0" err="1"/>
              <a:t>P</a:t>
            </a:r>
            <a:r>
              <a:rPr lang="sk-SK" baseline="-25000" dirty="0" err="1"/>
              <a:t>min</a:t>
            </a:r>
            <a:r>
              <a:rPr lang="sk-SK" dirty="0"/>
              <a:t>) a maximom (</a:t>
            </a:r>
            <a:r>
              <a:rPr lang="sk-SK" dirty="0" err="1"/>
              <a:t>P</a:t>
            </a:r>
            <a:r>
              <a:rPr lang="sk-SK" baseline="-25000" dirty="0" err="1"/>
              <a:t>max</a:t>
            </a:r>
            <a:r>
              <a:rPr lang="sk-SK" dirty="0"/>
              <a:t>) bloku.</a:t>
            </a:r>
          </a:p>
          <a:p>
            <a:pPr algn="just"/>
            <a:r>
              <a:rPr lang="sk-SK" dirty="0"/>
              <a:t>Bloky zostávajú v otáčkovej regulácii až do pokynu dispečera SED na prechod do výkonovej regulácie.</a:t>
            </a:r>
          </a:p>
          <a:p>
            <a:pPr algn="just"/>
            <a:r>
              <a:rPr lang="sk-SK" dirty="0"/>
              <a:t>Pri frekvencii 47,5 resp. 53 Hz sa bloky od sústavy automaticky odpoja s oneskorením 1 s a prejdú na vlastnú spotrebu.</a:t>
            </a:r>
          </a:p>
        </p:txBody>
      </p:sp>
    </p:spTree>
    <p:extLst>
      <p:ext uri="{BB962C8B-B14F-4D97-AF65-F5344CB8AC3E}">
        <p14:creationId xmlns:p14="http://schemas.microsoft.com/office/powerpoint/2010/main" val="3693745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sk-SK" dirty="0"/>
              <a:t>Prevádzka nesystémových elektrární na fosílne palivá FE pri abnormálnej frekvencii</a:t>
            </a:r>
          </a:p>
        </p:txBody>
      </p:sp>
      <p:sp>
        <p:nvSpPr>
          <p:cNvPr id="3" name="Zástupný symbol obsahu 2"/>
          <p:cNvSpPr>
            <a:spLocks noGrp="1"/>
          </p:cNvSpPr>
          <p:nvPr>
            <p:ph idx="1"/>
          </p:nvPr>
        </p:nvSpPr>
        <p:spPr/>
        <p:txBody>
          <a:bodyPr/>
          <a:lstStyle/>
          <a:p>
            <a:pPr algn="just"/>
            <a:r>
              <a:rPr lang="sk-SK" dirty="0"/>
              <a:t>Automatické vypnutie týchto elektrární je v pásme 47,5 - 51,5 Hz zakázané. Elektrárne musia byť prevádzkované tak, aby sa počas zvýšenej, resp. zníženej frekvencie udržali v prevádzke čo najdlhšie bez výkonových zmien. Ak sú zapojené do poskytovania </a:t>
            </a:r>
            <a:r>
              <a:rPr lang="sk-SK" dirty="0" err="1"/>
              <a:t>PpS</a:t>
            </a:r>
            <a:r>
              <a:rPr lang="sk-SK" dirty="0"/>
              <a:t>, zvyšujú resp. znižujú výkon podľa požiadaviek dispečera SED.</a:t>
            </a:r>
          </a:p>
        </p:txBody>
      </p:sp>
    </p:spTree>
    <p:extLst>
      <p:ext uri="{BB962C8B-B14F-4D97-AF65-F5344CB8AC3E}">
        <p14:creationId xmlns:p14="http://schemas.microsoft.com/office/powerpoint/2010/main" val="289071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sk-SK" dirty="0"/>
              <a:t>Prevádzka prečerpávacích vodných elektrární PVE pri abnormálnej frekvencii</a:t>
            </a:r>
          </a:p>
        </p:txBody>
      </p:sp>
      <p:sp>
        <p:nvSpPr>
          <p:cNvPr id="3" name="Zástupný symbol obsahu 2"/>
          <p:cNvSpPr>
            <a:spLocks noGrp="1"/>
          </p:cNvSpPr>
          <p:nvPr>
            <p:ph idx="1"/>
          </p:nvPr>
        </p:nvSpPr>
        <p:spPr/>
        <p:txBody>
          <a:bodyPr/>
          <a:lstStyle/>
          <a:p>
            <a:pPr algn="just"/>
            <a:r>
              <a:rPr lang="sk-SK" dirty="0"/>
              <a:t>Pri frekvencii 50,2 Hz sa prečerpávacie vodné elektrárne (ďalej len „PVE“) pripojené do ES SR plniace funkciu výroby automaticky odpoja z turbínovej prevádzky s oneskorením 1 s. Prechod na čerpadlovú prevádzku podľa pokynov dispečera SED. Dispečer SED volí počet turbogenerátorov (ďalej len „TG“) podieľajúcich sa na čerpaní zadaním základného výkonu. Ak sú TG v čase vzniku udalosti v čerpadlovej prevádzke, v tejto prevádzke sa plynule pokračuje. Pri frekvencii 49,8 Hz sa PVE pripojené do ES SR plniace funkciu odberu automaticky odpoja z čerpadlovej prevádzky s oneskorením 1 s. Prechod na turbínovú prevádzku podľa pokynov dispečera SED. V turbínovej prevádzke sú TG v proporcionálnej otáčkovej regulácii. </a:t>
            </a:r>
          </a:p>
          <a:p>
            <a:pPr algn="just"/>
            <a:r>
              <a:rPr lang="sk-SK" dirty="0"/>
              <a:t>Pri frekvencii 47,5 resp. 53 Hz sa PVE od sústavy automaticky odpoja s a prejdú na vlastnú spotrebu.</a:t>
            </a:r>
          </a:p>
          <a:p>
            <a:pPr algn="just"/>
            <a:endParaRPr lang="sk-SK" dirty="0"/>
          </a:p>
        </p:txBody>
      </p:sp>
    </p:spTree>
    <p:extLst>
      <p:ext uri="{BB962C8B-B14F-4D97-AF65-F5344CB8AC3E}">
        <p14:creationId xmlns:p14="http://schemas.microsoft.com/office/powerpoint/2010/main" val="41212316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Riadenie ES SR pri zvýšenej frekvencii</a:t>
            </a:r>
          </a:p>
        </p:txBody>
      </p:sp>
      <p:sp>
        <p:nvSpPr>
          <p:cNvPr id="3" name="Zástupný symbol obsahu 2"/>
          <p:cNvSpPr>
            <a:spLocks noGrp="1"/>
          </p:cNvSpPr>
          <p:nvPr>
            <p:ph idx="1"/>
          </p:nvPr>
        </p:nvSpPr>
        <p:spPr/>
        <p:txBody>
          <a:bodyPr>
            <a:normAutofit lnSpcReduction="10000"/>
          </a:bodyPr>
          <a:lstStyle/>
          <a:p>
            <a:pPr algn="just"/>
            <a:r>
              <a:rPr lang="sk-SK" dirty="0"/>
              <a:t>Frekvenčný rozsah 50,2 – 50,5 Hz </a:t>
            </a:r>
          </a:p>
          <a:p>
            <a:pPr lvl="1" algn="just"/>
            <a:r>
              <a:rPr lang="sk-SK" dirty="0"/>
              <a:t>Ak nárast frekvencia nad hodnotu 50,2 Hz spôsobí výpadky výroby a frekvencia ostane stále nad touto hodnotou, dispečer SED tieto výpadky výkonu nenahradzuje. Dispečer riadenia </a:t>
            </a:r>
            <a:r>
              <a:rPr lang="sk-SK" dirty="0" err="1"/>
              <a:t>PpS</a:t>
            </a:r>
            <a:r>
              <a:rPr lang="sk-SK" dirty="0"/>
              <a:t> manuálne aktivuje rezervy SRV na blokoch, ktoré ostali pripojené k sekundárnemu regulátoru. </a:t>
            </a:r>
          </a:p>
          <a:p>
            <a:pPr lvl="1" algn="just"/>
            <a:r>
              <a:rPr lang="sk-SK" dirty="0"/>
              <a:t>Ak sa nárast frekvencie zastaví a frekvencia sa ustáli v tomto frekvenčnom pásme, dispečer SED ďalej postupuje podľa Plánu obnovy. </a:t>
            </a:r>
          </a:p>
          <a:p>
            <a:pPr algn="just"/>
            <a:r>
              <a:rPr lang="sk-SK" dirty="0"/>
              <a:t>Frekvencie nad 50,5 Hz </a:t>
            </a:r>
          </a:p>
          <a:p>
            <a:pPr lvl="1" algn="just"/>
            <a:r>
              <a:rPr lang="sk-SK" dirty="0"/>
              <a:t>V prípade, ak frekvencia presiahla hodnotu 50,5 Hz, dispečer aktivuje postupne rezervy podľa nasledovného zoznamu, pričom prioritou je rýchlosť nábehu: TRV- . V mobilizácii rezerv pokračuje, až kým sa frekvencia nedostane pod 50,4 Hz. Ak sa prostredníctvom mobilizácie rezerv nepodarilo frekvenciu vrátiť pod 50,4 Hz, má dispečer SED právo požiadať o havarijnú výpomoc podľa platných zmlúv o havarijnej výpomoci so susednými PPS. </a:t>
            </a:r>
          </a:p>
        </p:txBody>
      </p:sp>
    </p:spTree>
    <p:extLst>
      <p:ext uri="{BB962C8B-B14F-4D97-AF65-F5344CB8AC3E}">
        <p14:creationId xmlns:p14="http://schemas.microsoft.com/office/powerpoint/2010/main" val="3950844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Riadenie ES SR pri zníženej frekvencii</a:t>
            </a:r>
          </a:p>
        </p:txBody>
      </p:sp>
      <p:sp>
        <p:nvSpPr>
          <p:cNvPr id="3" name="Zástupný symbol obsahu 2"/>
          <p:cNvSpPr>
            <a:spLocks noGrp="1"/>
          </p:cNvSpPr>
          <p:nvPr>
            <p:ph idx="1"/>
          </p:nvPr>
        </p:nvSpPr>
        <p:spPr/>
        <p:txBody>
          <a:bodyPr>
            <a:normAutofit lnSpcReduction="10000"/>
          </a:bodyPr>
          <a:lstStyle/>
          <a:p>
            <a:pPr algn="just"/>
            <a:r>
              <a:rPr lang="sk-SK" dirty="0"/>
              <a:t>Frekvenčný rozsah 49,8-49,5 Hz</a:t>
            </a:r>
          </a:p>
          <a:p>
            <a:pPr lvl="1" algn="just"/>
            <a:r>
              <a:rPr lang="sk-SK" dirty="0"/>
              <a:t>Pokiaľ sa frekvencia sústavy nevrátila do normálneho pásma po automatickej aktivácii opatrení Plánu obrany, dispečer riadenia </a:t>
            </a:r>
            <a:r>
              <a:rPr lang="sk-SK" dirty="0" err="1"/>
              <a:t>PpS</a:t>
            </a:r>
            <a:r>
              <a:rPr lang="sk-SK" dirty="0"/>
              <a:t> manuálne aktivuje rezervy SRV na blokoch, ktoré ostali pripojené k sekundárnemu regulátoru. Pri poklese frekvencie na hodnotu 49,8 Hz je očakávaný výpadok OZE. Z tohto dôvodu musí dispečer riadenia </a:t>
            </a:r>
            <a:r>
              <a:rPr lang="sk-SK" dirty="0" err="1"/>
              <a:t>PpS</a:t>
            </a:r>
            <a:r>
              <a:rPr lang="sk-SK" dirty="0"/>
              <a:t> pomocou TRV3MIN+ nahradiť výpadok výroby z OZE. </a:t>
            </a:r>
          </a:p>
          <a:p>
            <a:pPr algn="just"/>
            <a:r>
              <a:rPr lang="sk-SK" dirty="0"/>
              <a:t>Frekvencia pod 49,5 Hz </a:t>
            </a:r>
          </a:p>
          <a:p>
            <a:pPr lvl="1" algn="just"/>
            <a:r>
              <a:rPr lang="sk-SK" dirty="0"/>
              <a:t>Ak sa pokles frekvencie nepodarilo zastaviť a frekvencia klesla pod hodnotu 49,5 Hz, dispečer riadenia </a:t>
            </a:r>
            <a:r>
              <a:rPr lang="sk-SK" dirty="0" err="1"/>
              <a:t>PpS</a:t>
            </a:r>
            <a:r>
              <a:rPr lang="sk-SK" dirty="0"/>
              <a:t> aktivuje postupne rezervy TRV</a:t>
            </a:r>
            <a:r>
              <a:rPr lang="en-US" dirty="0"/>
              <a:t>+</a:t>
            </a:r>
            <a:r>
              <a:rPr lang="sk-SK" dirty="0"/>
              <a:t>. V mobilizácii rezerv pokračuje, až kým sa frekvencia nedostane nad 49,6 Hz. Ak sa prostredníctvom mobilizácie rezerv nepodarilo frekvenciu vrátiť nad 49,6 Hz, má dispečer SED právo požiadať o havarijnú výpomoc podľa platných zmlúv o havarijnej výpomoci so susednými PPS. Ak havarijná výpomoc nebola poskytnutá alebo nepostačuje na návrat frekvencie nad uvedenú hodnotu, môže dispečer SED pristúpiť k aktivácii POS</a:t>
            </a:r>
            <a:r>
              <a:rPr lang="en-US" dirty="0"/>
              <a:t>(</a:t>
            </a:r>
            <a:r>
              <a:rPr lang="sk-SK" dirty="0"/>
              <a:t>Plán obmedzovania spotreby</a:t>
            </a:r>
            <a:r>
              <a:rPr lang="en-US" dirty="0"/>
              <a:t>)</a:t>
            </a:r>
            <a:r>
              <a:rPr lang="sk-SK" dirty="0"/>
              <a:t> a HVP</a:t>
            </a:r>
            <a:r>
              <a:rPr lang="en-US" dirty="0"/>
              <a:t>(</a:t>
            </a:r>
            <a:r>
              <a:rPr lang="sk-SK" dirty="0"/>
              <a:t>Havarijný vypínací plán</a:t>
            </a:r>
            <a:r>
              <a:rPr lang="en-US" dirty="0"/>
              <a:t>)</a:t>
            </a:r>
            <a:r>
              <a:rPr lang="sk-SK" dirty="0"/>
              <a:t>. </a:t>
            </a:r>
          </a:p>
        </p:txBody>
      </p:sp>
    </p:spTree>
    <p:extLst>
      <p:ext uri="{BB962C8B-B14F-4D97-AF65-F5344CB8AC3E}">
        <p14:creationId xmlns:p14="http://schemas.microsoft.com/office/powerpoint/2010/main" val="4983579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Riadenie ES SR pri zníženej frekvencii</a:t>
            </a:r>
          </a:p>
        </p:txBody>
      </p:sp>
      <p:sp>
        <p:nvSpPr>
          <p:cNvPr id="3" name="Zástupný symbol obsahu 2"/>
          <p:cNvSpPr>
            <a:spLocks noGrp="1"/>
          </p:cNvSpPr>
          <p:nvPr>
            <p:ph idx="1"/>
          </p:nvPr>
        </p:nvSpPr>
        <p:spPr/>
        <p:txBody>
          <a:bodyPr>
            <a:normAutofit/>
          </a:bodyPr>
          <a:lstStyle/>
          <a:p>
            <a:pPr algn="just"/>
            <a:r>
              <a:rPr lang="sk-SK" dirty="0"/>
              <a:t>Plán obmedzovania spotreby</a:t>
            </a:r>
            <a:endParaRPr lang="en-US" dirty="0"/>
          </a:p>
          <a:p>
            <a:pPr lvl="1" algn="just"/>
            <a:r>
              <a:rPr lang="sk-SK" dirty="0"/>
              <a:t>Plán obmedzovania spotreby v ES SR je obmedzujúcim opatrením v </a:t>
            </a:r>
            <a:r>
              <a:rPr lang="sk-SK" dirty="0" err="1"/>
              <a:t>elektroenergetike</a:t>
            </a:r>
            <a:r>
              <a:rPr lang="sk-SK" dirty="0"/>
              <a:t>, ktoré sa uplatňuje pri nedostatku elektriny v </a:t>
            </a:r>
            <a:r>
              <a:rPr lang="en-US" dirty="0"/>
              <a:t>ES SR</a:t>
            </a:r>
            <a:r>
              <a:rPr lang="sk-SK" dirty="0"/>
              <a:t>, ak sú splnené podmienky aktivácie. POS určuje obmedzenie spotreby elektriny odberateľom na základe obmedzujúcich odberových stupňov elektrického výkonu</a:t>
            </a:r>
            <a:r>
              <a:rPr lang="en-US" dirty="0"/>
              <a:t>.</a:t>
            </a:r>
          </a:p>
          <a:p>
            <a:pPr algn="just"/>
            <a:r>
              <a:rPr lang="sk-SK" dirty="0"/>
              <a:t>Havarijný vypínací plán</a:t>
            </a:r>
          </a:p>
          <a:p>
            <a:pPr lvl="1" algn="just"/>
            <a:r>
              <a:rPr lang="sk-SK" dirty="0"/>
              <a:t>Havarijný vypínací plán je obmedzujúcim opatrením v </a:t>
            </a:r>
            <a:r>
              <a:rPr lang="sk-SK" dirty="0" err="1"/>
              <a:t>elektroenergetike</a:t>
            </a:r>
            <a:r>
              <a:rPr lang="sk-SK" dirty="0"/>
              <a:t>, ktoré je uplatňované</a:t>
            </a:r>
            <a:r>
              <a:rPr lang="en-US" dirty="0"/>
              <a:t> v ES SR</a:t>
            </a:r>
            <a:r>
              <a:rPr lang="sk-SK" dirty="0"/>
              <a:t> prerušením dodávky elektriny odberateľom. Prerušenie dodávky elektriny odberateľom skutoční dispečing PPS alebo dispečingy PDS vypnutím určených vývodov v rozvodniach VVN a VN podľa príslušného havarijného vypínacieho stupňa s možným cyklickým vystriedaním vypnutia týchto vývodov. </a:t>
            </a:r>
            <a:endParaRPr lang="en-US" dirty="0"/>
          </a:p>
        </p:txBody>
      </p:sp>
    </p:spTree>
    <p:extLst>
      <p:ext uri="{BB962C8B-B14F-4D97-AF65-F5344CB8AC3E}">
        <p14:creationId xmlns:p14="http://schemas.microsoft.com/office/powerpoint/2010/main" val="2849513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Riadenie ES SR pri zníženej frekvencii</a:t>
            </a:r>
          </a:p>
        </p:txBody>
      </p:sp>
      <p:sp>
        <p:nvSpPr>
          <p:cNvPr id="3" name="Zástupný symbol obsahu 2"/>
          <p:cNvSpPr>
            <a:spLocks noGrp="1"/>
          </p:cNvSpPr>
          <p:nvPr>
            <p:ph idx="1"/>
          </p:nvPr>
        </p:nvSpPr>
        <p:spPr>
          <a:xfrm>
            <a:off x="677334" y="1314995"/>
            <a:ext cx="8596668" cy="4726368"/>
          </a:xfrm>
        </p:spPr>
        <p:txBody>
          <a:bodyPr>
            <a:normAutofit fontScale="92500" lnSpcReduction="20000"/>
          </a:bodyPr>
          <a:lstStyle/>
          <a:p>
            <a:pPr algn="just"/>
            <a:r>
              <a:rPr lang="sk-SK" dirty="0"/>
              <a:t>Systém automatického frekvenčného odľahčovania</a:t>
            </a:r>
            <a:endParaRPr lang="en-US" dirty="0"/>
          </a:p>
          <a:p>
            <a:pPr lvl="1" algn="just"/>
            <a:r>
              <a:rPr lang="sk-SK" dirty="0"/>
              <a:t>Systémová frekvencia ako globálny parameter je hlavným kritériom, ktoré signalizuje núdzový stav v systéme. V rámci pravidiel prepojenej sústavy sú definované požiadavky na Frekvenčný vypínací plán (ďalej len „FVP“) pre jednotlivých PPS ako technické opatrenia pre frekvenčné odľahčovanie záťaže pri vzniku veľkého deficitu výkonu spojeného s poklesom frekvencie pod hranicu 49,0 Hz. </a:t>
            </a:r>
            <a:endParaRPr lang="en-US" dirty="0"/>
          </a:p>
          <a:p>
            <a:pPr algn="just"/>
            <a:r>
              <a:rPr lang="sk-SK" dirty="0"/>
              <a:t>V zmysle nariadenia Komisie (EU) 2017/2196 a </a:t>
            </a:r>
            <a:r>
              <a:rPr lang="sk-SK" dirty="0" err="1"/>
              <a:t>Policy</a:t>
            </a:r>
            <a:r>
              <a:rPr lang="sk-SK" dirty="0"/>
              <a:t> on </a:t>
            </a:r>
            <a:r>
              <a:rPr lang="sk-SK" dirty="0" err="1"/>
              <a:t>Emergency</a:t>
            </a:r>
            <a:r>
              <a:rPr lang="sk-SK" dirty="0"/>
              <a:t> and </a:t>
            </a:r>
            <a:r>
              <a:rPr lang="sk-SK" dirty="0" err="1"/>
              <a:t>Restoration</a:t>
            </a:r>
            <a:r>
              <a:rPr lang="sk-SK" dirty="0"/>
              <a:t> má byť frekvenčný vypínací plán realizovaný nasledovne: </a:t>
            </a:r>
            <a:endParaRPr lang="en-US" dirty="0"/>
          </a:p>
          <a:p>
            <a:pPr lvl="1" algn="just"/>
            <a:r>
              <a:rPr lang="sk-SK" dirty="0"/>
              <a:t>prvý stupeň FVP musí byť aktivovaný najskôr pri frekvencii 49,2 Hz a najneskôr pri frekvencii 49 Hz, </a:t>
            </a:r>
            <a:endParaRPr lang="en-US" dirty="0"/>
          </a:p>
          <a:p>
            <a:pPr lvl="1" algn="just"/>
            <a:r>
              <a:rPr lang="sk-SK" dirty="0"/>
              <a:t>v prvom stupni musí byť odľahčené minimálne 5% celkovej záťaže ES, </a:t>
            </a:r>
            <a:endParaRPr lang="en-US" dirty="0"/>
          </a:p>
          <a:p>
            <a:pPr lvl="1" algn="just"/>
            <a:r>
              <a:rPr lang="sk-SK" dirty="0"/>
              <a:t>v každom stupni FVP by malo byť odľahčené minimálne 5 % celkovej záťaže ES a maximálne do 10 %, </a:t>
            </a:r>
            <a:endParaRPr lang="en-US" dirty="0"/>
          </a:p>
          <a:p>
            <a:pPr lvl="1" algn="just"/>
            <a:r>
              <a:rPr lang="sk-SK" dirty="0"/>
              <a:t>jednotlivé stupne FVP musia byť rozdelené do počtu krokov od 6 do 10 s vypínacím časom každého stupňa ( tzn. aktivácia ochrany, relé, logiky, vypínača a pod.) do 300 ms vrátane vypínacieho času vypínača, </a:t>
            </a:r>
            <a:endParaRPr lang="en-US" dirty="0"/>
          </a:p>
          <a:p>
            <a:pPr lvl="1" algn="just"/>
            <a:r>
              <a:rPr lang="sk-SK" dirty="0"/>
              <a:t>celkové odľahčenie by malo byť na úrovni aspoň 45 ± 7 % z celkovej záťaže v rozsahu frekvencií 49,0 – 48,0 Hz</a:t>
            </a:r>
          </a:p>
        </p:txBody>
      </p:sp>
    </p:spTree>
    <p:extLst>
      <p:ext uri="{BB962C8B-B14F-4D97-AF65-F5344CB8AC3E}">
        <p14:creationId xmlns:p14="http://schemas.microsoft.com/office/powerpoint/2010/main" val="1789446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Riadenie zdrojov ES SR pri abnormálnej frekvencii</a:t>
            </a:r>
          </a:p>
        </p:txBody>
      </p:sp>
      <mc:AlternateContent xmlns:mc="http://schemas.openxmlformats.org/markup-compatibility/2006" xmlns:a14="http://schemas.microsoft.com/office/drawing/2010/main">
        <mc:Choice Requires="a14">
          <p:sp>
            <p:nvSpPr>
              <p:cNvPr id="3" name="Zástupný symbol obsahu 2"/>
              <p:cNvSpPr>
                <a:spLocks noGrp="1"/>
              </p:cNvSpPr>
              <p:nvPr>
                <p:ph idx="1"/>
              </p:nvPr>
            </p:nvSpPr>
            <p:spPr/>
            <p:txBody>
              <a:bodyPr/>
              <a:lstStyle/>
              <a:p>
                <a:pPr algn="just"/>
                <a:r>
                  <a:rPr lang="sk-SK" dirty="0"/>
                  <a:t>Zdroje zapojené v ES sa podľa možností prepínajú do režimu ostrovnej prevádzky pokiaľ frekvencia vybočí z intervalu 49,8 až 50,2 Hz.</a:t>
                </a:r>
              </a:p>
              <a:p>
                <a:pPr algn="just"/>
                <a:r>
                  <a:rPr lang="sk-SK" dirty="0"/>
                  <a:t>Režim ostrovnej prevádzky je vlastne reguláciou otáčok so statickou väzbou od činného výkonu. Táto väzba zabezpečí definovaný výkon generátora pri definovaných otáčkach.</a:t>
                </a:r>
              </a:p>
              <a:p>
                <a:pPr algn="just"/>
                <a:r>
                  <a:rPr lang="sk-SK" dirty="0"/>
                  <a:t>Želané otáčky </a:t>
                </a:r>
                <a:r>
                  <a:rPr lang="sk-SK" dirty="0" err="1"/>
                  <a:t>n</a:t>
                </a:r>
                <a:r>
                  <a:rPr lang="sk-SK" baseline="-25000" dirty="0" err="1"/>
                  <a:t>ref</a:t>
                </a:r>
                <a:r>
                  <a:rPr lang="sk-SK" dirty="0"/>
                  <a:t> generátora sa v režime ostrovnej prevádzky počítajú ako:</a:t>
                </a:r>
              </a:p>
              <a:p>
                <a:pPr marL="0" indent="0" algn="just">
                  <a:buNone/>
                </a:pPr>
                <a14:m>
                  <m:oMathPara xmlns:m="http://schemas.openxmlformats.org/officeDocument/2006/math">
                    <m:oMathParaPr>
                      <m:jc m:val="centerGroup"/>
                    </m:oMathParaPr>
                    <m:oMath xmlns:m="http://schemas.openxmlformats.org/officeDocument/2006/math">
                      <m:sSub>
                        <m:sSubPr>
                          <m:ctrlPr>
                            <a:rPr lang="sk-SK" i="1">
                              <a:latin typeface="Cambria Math" panose="02040503050406030204" pitchFamily="18" charset="0"/>
                            </a:rPr>
                          </m:ctrlPr>
                        </m:sSubPr>
                        <m:e>
                          <m:r>
                            <a:rPr lang="sk-SK" i="1">
                              <a:latin typeface="Cambria Math" panose="02040503050406030204" pitchFamily="18" charset="0"/>
                            </a:rPr>
                            <m:t>𝑛</m:t>
                          </m:r>
                        </m:e>
                        <m:sub>
                          <m:r>
                            <a:rPr lang="sk-SK" i="1">
                              <a:latin typeface="Cambria Math" panose="02040503050406030204" pitchFamily="18" charset="0"/>
                            </a:rPr>
                            <m:t>𝑟𝑒𝑓</m:t>
                          </m:r>
                        </m:sub>
                      </m:sSub>
                      <m:r>
                        <a:rPr lang="sk-SK" i="1">
                          <a:latin typeface="Cambria Math" panose="02040503050406030204" pitchFamily="18" charset="0"/>
                        </a:rPr>
                        <m:t>=</m:t>
                      </m:r>
                      <m:sSub>
                        <m:sSubPr>
                          <m:ctrlPr>
                            <a:rPr lang="sk-SK" i="1">
                              <a:latin typeface="Cambria Math" panose="02040503050406030204" pitchFamily="18" charset="0"/>
                            </a:rPr>
                          </m:ctrlPr>
                        </m:sSubPr>
                        <m:e>
                          <m:r>
                            <a:rPr lang="sk-SK" i="1">
                              <a:latin typeface="Cambria Math" panose="02040503050406030204" pitchFamily="18" charset="0"/>
                            </a:rPr>
                            <m:t>𝑛</m:t>
                          </m:r>
                        </m:e>
                        <m:sub>
                          <m:r>
                            <a:rPr lang="sk-SK" i="1">
                              <a:latin typeface="Cambria Math" panose="02040503050406030204" pitchFamily="18" charset="0"/>
                            </a:rPr>
                            <m:t>50</m:t>
                          </m:r>
                          <m:r>
                            <a:rPr lang="sk-SK" i="1">
                              <a:latin typeface="Cambria Math" panose="02040503050406030204" pitchFamily="18" charset="0"/>
                            </a:rPr>
                            <m:t>𝐻𝑧</m:t>
                          </m:r>
                        </m:sub>
                      </m:sSub>
                      <m:r>
                        <a:rPr lang="sk-SK" i="1">
                          <a:latin typeface="Cambria Math" panose="02040503050406030204" pitchFamily="18" charset="0"/>
                        </a:rPr>
                        <m:t>+</m:t>
                      </m:r>
                      <m:sSub>
                        <m:sSubPr>
                          <m:ctrlPr>
                            <a:rPr lang="sk-SK" i="1">
                              <a:latin typeface="Cambria Math" panose="02040503050406030204" pitchFamily="18" charset="0"/>
                            </a:rPr>
                          </m:ctrlPr>
                        </m:sSubPr>
                        <m:e>
                          <m:r>
                            <a:rPr lang="sk-SK" i="1">
                              <a:latin typeface="Cambria Math" panose="02040503050406030204" pitchFamily="18" charset="0"/>
                            </a:rPr>
                            <m:t>𝑘</m:t>
                          </m:r>
                        </m:e>
                        <m:sub>
                          <m:r>
                            <a:rPr lang="sk-SK" i="1">
                              <a:latin typeface="Cambria Math" panose="02040503050406030204" pitchFamily="18" charset="0"/>
                            </a:rPr>
                            <m:t>𝑠𝑡𝑎𝑡</m:t>
                          </m:r>
                        </m:sub>
                      </m:sSub>
                      <m:d>
                        <m:dPr>
                          <m:ctrlPr>
                            <a:rPr lang="sk-SK" i="1">
                              <a:latin typeface="Cambria Math" panose="02040503050406030204" pitchFamily="18" charset="0"/>
                            </a:rPr>
                          </m:ctrlPr>
                        </m:dPr>
                        <m:e>
                          <m:sSub>
                            <m:sSubPr>
                              <m:ctrlPr>
                                <a:rPr lang="sk-SK" i="1">
                                  <a:latin typeface="Cambria Math" panose="02040503050406030204" pitchFamily="18" charset="0"/>
                                </a:rPr>
                              </m:ctrlPr>
                            </m:sSubPr>
                            <m:e>
                              <m:r>
                                <a:rPr lang="sk-SK" i="1">
                                  <a:latin typeface="Cambria Math" panose="02040503050406030204" pitchFamily="18" charset="0"/>
                                </a:rPr>
                                <m:t>𝑃</m:t>
                              </m:r>
                            </m:e>
                            <m:sub>
                              <m:r>
                                <a:rPr lang="sk-SK" i="1">
                                  <a:latin typeface="Cambria Math" panose="02040503050406030204" pitchFamily="18" charset="0"/>
                                </a:rPr>
                                <m:t>𝑟𝑒𝑓</m:t>
                              </m:r>
                            </m:sub>
                          </m:sSub>
                          <m:r>
                            <a:rPr lang="sk-SK" i="1">
                              <a:latin typeface="Cambria Math" panose="02040503050406030204" pitchFamily="18" charset="0"/>
                            </a:rPr>
                            <m:t>−</m:t>
                          </m:r>
                          <m:sSub>
                            <m:sSubPr>
                              <m:ctrlPr>
                                <a:rPr lang="sk-SK" i="1">
                                  <a:latin typeface="Cambria Math" panose="02040503050406030204" pitchFamily="18" charset="0"/>
                                </a:rPr>
                              </m:ctrlPr>
                            </m:sSubPr>
                            <m:e>
                              <m:r>
                                <a:rPr lang="sk-SK" i="1">
                                  <a:latin typeface="Cambria Math" panose="02040503050406030204" pitchFamily="18" charset="0"/>
                                </a:rPr>
                                <m:t>𝑃</m:t>
                              </m:r>
                            </m:e>
                            <m:sub>
                              <m:r>
                                <a:rPr lang="sk-SK" i="1">
                                  <a:latin typeface="Cambria Math" panose="02040503050406030204" pitchFamily="18" charset="0"/>
                                </a:rPr>
                                <m:t>𝑒</m:t>
                              </m:r>
                            </m:sub>
                          </m:sSub>
                        </m:e>
                      </m:d>
                    </m:oMath>
                  </m:oMathPara>
                </a14:m>
                <a:endParaRPr lang="sk-SK" dirty="0"/>
              </a:p>
              <a:p>
                <a:pPr algn="just"/>
                <a:r>
                  <a:rPr lang="sk-SK" dirty="0"/>
                  <a:t>Statický charakter regulátora je zabezpečený pomocou premenlivej želanej hodnoty otáčok vzhľadom na požadovaný výkon </a:t>
                </a:r>
                <a:r>
                  <a:rPr lang="sk-SK" dirty="0" err="1"/>
                  <a:t>P</a:t>
                </a:r>
                <a:r>
                  <a:rPr lang="sk-SK" baseline="-25000" dirty="0" err="1"/>
                  <a:t>ref</a:t>
                </a:r>
                <a:r>
                  <a:rPr lang="sk-SK" dirty="0"/>
                  <a:t> a aktuálny výkon </a:t>
                </a:r>
                <a:r>
                  <a:rPr lang="sk-SK" dirty="0" err="1"/>
                  <a:t>P</a:t>
                </a:r>
                <a:r>
                  <a:rPr lang="sk-SK" baseline="-25000" dirty="0" err="1"/>
                  <a:t>e</a:t>
                </a:r>
                <a:r>
                  <a:rPr lang="sk-SK" dirty="0"/>
                  <a:t> generátora a statiky </a:t>
                </a:r>
                <a14:m>
                  <m:oMath xmlns:m="http://schemas.openxmlformats.org/officeDocument/2006/math">
                    <m:sSub>
                      <m:sSubPr>
                        <m:ctrlPr>
                          <a:rPr lang="sk-SK" i="1">
                            <a:latin typeface="Cambria Math" panose="02040503050406030204" pitchFamily="18" charset="0"/>
                          </a:rPr>
                        </m:ctrlPr>
                      </m:sSubPr>
                      <m:e>
                        <m:r>
                          <a:rPr lang="sk-SK" i="1">
                            <a:latin typeface="Cambria Math" panose="02040503050406030204" pitchFamily="18" charset="0"/>
                          </a:rPr>
                          <m:t>𝑘</m:t>
                        </m:r>
                      </m:e>
                      <m:sub>
                        <m:r>
                          <a:rPr lang="sk-SK" i="1">
                            <a:latin typeface="Cambria Math" panose="02040503050406030204" pitchFamily="18" charset="0"/>
                          </a:rPr>
                          <m:t>𝑠𝑡𝑎𝑡</m:t>
                        </m:r>
                      </m:sub>
                    </m:sSub>
                  </m:oMath>
                </a14:m>
                <a:r>
                  <a:rPr lang="sk-SK" dirty="0"/>
                  <a:t>. </a:t>
                </a:r>
              </a:p>
              <a:p>
                <a:pPr algn="just"/>
                <a:r>
                  <a:rPr lang="sk-SK" dirty="0"/>
                  <a:t>n</a:t>
                </a:r>
                <a:r>
                  <a:rPr lang="sk-SK" baseline="-25000" dirty="0"/>
                  <a:t>50Hz</a:t>
                </a:r>
                <a:r>
                  <a:rPr lang="sk-SK" dirty="0"/>
                  <a:t> označuje otáčky turbíny pri frekvencii rovnej 50 Hz.</a:t>
                </a:r>
              </a:p>
            </p:txBody>
          </p:sp>
        </mc:Choice>
        <mc:Fallback xmlns="">
          <p:sp>
            <p:nvSpPr>
              <p:cNvPr id="3" name="Zástupný symbol obsahu 2"/>
              <p:cNvSpPr>
                <a:spLocks noGrp="1" noRot="1" noChangeAspect="1" noMove="1" noResize="1" noEditPoints="1" noAdjustHandles="1" noChangeArrowheads="1" noChangeShapeType="1" noTextEdit="1"/>
              </p:cNvSpPr>
              <p:nvPr>
                <p:ph idx="1"/>
              </p:nvPr>
            </p:nvSpPr>
            <p:spPr>
              <a:blipFill>
                <a:blip r:embed="rId2"/>
                <a:stretch>
                  <a:fillRect l="-142" t="-942" r="-638"/>
                </a:stretch>
              </a:blipFill>
            </p:spPr>
            <p:txBody>
              <a:bodyPr/>
              <a:lstStyle/>
              <a:p>
                <a:r>
                  <a:rPr lang="sk-SK">
                    <a:noFill/>
                  </a:rPr>
                  <a:t> </a:t>
                </a:r>
              </a:p>
            </p:txBody>
          </p:sp>
        </mc:Fallback>
      </mc:AlternateContent>
    </p:spTree>
    <p:extLst>
      <p:ext uri="{BB962C8B-B14F-4D97-AF65-F5344CB8AC3E}">
        <p14:creationId xmlns:p14="http://schemas.microsoft.com/office/powerpoint/2010/main" val="16128090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Riadenie zdrojov ES SR pri abnormálnej frekvencii</a:t>
            </a:r>
          </a:p>
        </p:txBody>
      </p:sp>
      <p:sp>
        <p:nvSpPr>
          <p:cNvPr id="3" name="Zástupný symbol obsahu 2"/>
          <p:cNvSpPr>
            <a:spLocks noGrp="1"/>
          </p:cNvSpPr>
          <p:nvPr>
            <p:ph idx="1"/>
          </p:nvPr>
        </p:nvSpPr>
        <p:spPr/>
        <p:txBody>
          <a:bodyPr>
            <a:normAutofit/>
          </a:bodyPr>
          <a:lstStyle/>
          <a:p>
            <a:pPr algn="just"/>
            <a:r>
              <a:rPr lang="sk-SK" dirty="0"/>
              <a:t>Prepnutie zdrojov z režimu regulácie výkonu do ostrovnej prevádzky musí prebehnúť </a:t>
            </a:r>
            <a:r>
              <a:rPr lang="sk-SK" dirty="0" err="1"/>
              <a:t>beznárazovo</a:t>
            </a:r>
            <a:r>
              <a:rPr lang="sk-SK" dirty="0"/>
              <a:t>. Regulátor musí vedieť vysledovať pred prepnutím režimu posledný výstup a zariadiť aby nový režim regulácie začal s touto hodnotou výstupu. Cieľom je aby nedošlo ku skokovej zmene polohy akčného člena turbíny </a:t>
            </a:r>
            <a:r>
              <a:rPr lang="en-US" dirty="0"/>
              <a:t>(</a:t>
            </a:r>
            <a:r>
              <a:rPr lang="sk-SK" dirty="0"/>
              <a:t>regulačných ventilov, rozvádzacieho kolesa</a:t>
            </a:r>
            <a:r>
              <a:rPr lang="en-US" dirty="0"/>
              <a:t>)</a:t>
            </a:r>
            <a:r>
              <a:rPr lang="sk-SK" dirty="0"/>
              <a:t>  a tým pádom k nepredpokladanej zmene mechanického výkonu turbíny. Na želanú hodnotu výkonu v režime ostrovnej prevádzky je prevedená rovnaká želaná hodnota výkonu ako bola pred poruchou v režime regulácie výkonu.</a:t>
            </a:r>
          </a:p>
          <a:p>
            <a:pPr algn="just"/>
            <a:r>
              <a:rPr lang="sk-SK" dirty="0"/>
              <a:t>Prepnutie zdrojov by nemalo natrvalo vylúčiť možnosť sekundárnej regulácie výkonu cez zadávaný činný výkon v statickej väzbe. Okamžite po poruche, ktorá spôsobí havarijný stav, je však odporúčané aby sekundárny regulátor výkonu prešiel do stavu </a:t>
            </a:r>
            <a:r>
              <a:rPr lang="sk-SK" i="1" dirty="0" err="1"/>
              <a:t>frozen</a:t>
            </a:r>
            <a:r>
              <a:rPr lang="sk-SK" dirty="0"/>
              <a:t>, to znamená, že jeho výstupy sa ďalej nemenia. </a:t>
            </a:r>
          </a:p>
        </p:txBody>
      </p:sp>
    </p:spTree>
    <p:extLst>
      <p:ext uri="{BB962C8B-B14F-4D97-AF65-F5344CB8AC3E}">
        <p14:creationId xmlns:p14="http://schemas.microsoft.com/office/powerpoint/2010/main" val="588410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PLÁN OBRANY - ostatné</a:t>
            </a:r>
          </a:p>
        </p:txBody>
      </p:sp>
      <p:sp>
        <p:nvSpPr>
          <p:cNvPr id="3" name="Zástupný symbol obsahu 2"/>
          <p:cNvSpPr>
            <a:spLocks noGrp="1"/>
          </p:cNvSpPr>
          <p:nvPr>
            <p:ph idx="1"/>
          </p:nvPr>
        </p:nvSpPr>
        <p:spPr/>
        <p:txBody>
          <a:bodyPr/>
          <a:lstStyle/>
          <a:p>
            <a:pPr algn="just"/>
            <a:r>
              <a:rPr lang="sk-SK" dirty="0"/>
              <a:t>V pláne obrany sú ďalej opísané ostatné opatrenia pre stabilizáciu ES, ale týmto opatreniam sa nebudeme ďalej venovať. Ide hlavne o opatrenia:</a:t>
            </a:r>
          </a:p>
          <a:p>
            <a:pPr lvl="1" algn="just"/>
            <a:r>
              <a:rPr lang="sk-SK" dirty="0"/>
              <a:t>Zmena topológie sústavy</a:t>
            </a:r>
          </a:p>
          <a:p>
            <a:pPr lvl="1" algn="just"/>
            <a:r>
              <a:rPr lang="sk-SK" dirty="0"/>
              <a:t>Zmena výkonu používateľov siete</a:t>
            </a:r>
          </a:p>
          <a:p>
            <a:pPr lvl="1" algn="just"/>
            <a:r>
              <a:rPr lang="sk-SK" dirty="0"/>
              <a:t>Vypnutie vedení</a:t>
            </a:r>
          </a:p>
          <a:p>
            <a:pPr lvl="1" algn="just"/>
            <a:r>
              <a:rPr lang="sk-SK" dirty="0"/>
              <a:t>Vypnutie preťažovaného prvku</a:t>
            </a:r>
          </a:p>
          <a:p>
            <a:pPr lvl="1" algn="just"/>
            <a:r>
              <a:rPr lang="sk-SK" dirty="0"/>
              <a:t>Odpojenie používateľa sústavy</a:t>
            </a:r>
          </a:p>
          <a:p>
            <a:pPr lvl="1" algn="just"/>
            <a:r>
              <a:rPr lang="sk-SK" dirty="0"/>
              <a:t>Odľahčenie siete</a:t>
            </a:r>
          </a:p>
          <a:p>
            <a:pPr lvl="1" algn="just"/>
            <a:r>
              <a:rPr lang="sk-SK" dirty="0"/>
              <a:t>Havarijná výpomoc</a:t>
            </a:r>
          </a:p>
          <a:p>
            <a:pPr lvl="1" algn="just"/>
            <a:r>
              <a:rPr lang="sk-SK" dirty="0"/>
              <a:t>Krátenie nominovaných a nenominovaných kapacitných práv</a:t>
            </a:r>
          </a:p>
        </p:txBody>
      </p:sp>
    </p:spTree>
    <p:extLst>
      <p:ext uri="{BB962C8B-B14F-4D97-AF65-F5344CB8AC3E}">
        <p14:creationId xmlns:p14="http://schemas.microsoft.com/office/powerpoint/2010/main" val="1893680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PLÁN OBRANY – vznik a eskalácia porúch v sústave</a:t>
            </a:r>
          </a:p>
        </p:txBody>
      </p:sp>
      <p:sp>
        <p:nvSpPr>
          <p:cNvPr id="3" name="Zástupný symbol obsahu 2"/>
          <p:cNvSpPr>
            <a:spLocks noGrp="1"/>
          </p:cNvSpPr>
          <p:nvPr>
            <p:ph idx="1"/>
          </p:nvPr>
        </p:nvSpPr>
        <p:spPr/>
        <p:txBody>
          <a:bodyPr>
            <a:normAutofit lnSpcReduction="10000"/>
          </a:bodyPr>
          <a:lstStyle/>
          <a:p>
            <a:pPr algn="just"/>
            <a:r>
              <a:rPr lang="sk-SK" dirty="0"/>
              <a:t>Poruchy v prepojenej ES nastávajú primárne z dôvodov neplnenia kritéria n-1. Toto kritérium hovorí, že výpadok jedného prvku nesmie spôsobiť nestabilitu prepojeného celku alebo jeho časti. Výpadok zvyčajne nastáva pri preťažení jedného z prenosových prvkov</a:t>
            </a:r>
            <a:r>
              <a:rPr lang="en-US" dirty="0"/>
              <a:t>; </a:t>
            </a:r>
            <a:r>
              <a:rPr lang="sk-SK" dirty="0"/>
              <a:t>transformátora, vedenia. Obyčajne má výpadok tohto prvku za následok </a:t>
            </a:r>
            <a:r>
              <a:rPr lang="sk-SK" dirty="0" err="1"/>
              <a:t>kaskádny</a:t>
            </a:r>
            <a:r>
              <a:rPr lang="sk-SK" dirty="0"/>
              <a:t> efekt a výpadok ostatných prvkov. </a:t>
            </a:r>
          </a:p>
          <a:p>
            <a:pPr algn="just"/>
            <a:r>
              <a:rPr lang="sk-SK" dirty="0"/>
              <a:t>Vzniknutá porucha má v ES za následok výpadok väčšiny decentralizovaných zdrojov elektrickej energie, ktoré pre svoju činnosť využívajú </a:t>
            </a:r>
            <a:r>
              <a:rPr lang="sk-SK" dirty="0" err="1"/>
              <a:t>striedače</a:t>
            </a:r>
            <a:r>
              <a:rPr lang="sk-SK" dirty="0"/>
              <a:t>. Staršie, prevažne inštalované typy </a:t>
            </a:r>
            <a:r>
              <a:rPr lang="sk-SK" dirty="0" err="1"/>
              <a:t>striedačov</a:t>
            </a:r>
            <a:r>
              <a:rPr lang="sk-SK" dirty="0"/>
              <a:t> obsahujú </a:t>
            </a:r>
            <a:r>
              <a:rPr lang="sk-SK" dirty="0" err="1"/>
              <a:t>podfrekvenčné</a:t>
            </a:r>
            <a:r>
              <a:rPr lang="sk-SK" dirty="0"/>
              <a:t> ochrany nastavené na odchýlky frekvencie +/- 200mHz, prípadne +/- 500mHz.</a:t>
            </a:r>
          </a:p>
          <a:p>
            <a:pPr algn="just"/>
            <a:r>
              <a:rPr lang="sk-SK" dirty="0"/>
              <a:t>Pri nedostatku výroby tak výpadok týchto zdrojov zosilní prebiehajúcu poruchu. Problematickým z hľadiska bezpečnosti je aj </a:t>
            </a:r>
            <a:r>
              <a:rPr lang="sk-SK" dirty="0" err="1"/>
              <a:t>bezobslužná</a:t>
            </a:r>
            <a:r>
              <a:rPr lang="sk-SK" dirty="0"/>
              <a:t> prevádzka väčšiny decentralizovaných zdrojov, ktoré sa automaticky znovu pripájajú do siete pokiaľ sú v ES vhodné podmienky.</a:t>
            </a:r>
          </a:p>
        </p:txBody>
      </p:sp>
    </p:spTree>
    <p:extLst>
      <p:ext uri="{BB962C8B-B14F-4D97-AF65-F5344CB8AC3E}">
        <p14:creationId xmlns:p14="http://schemas.microsoft.com/office/powerpoint/2010/main" val="31501680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PLÁN OBRANY – vznik a eskalácia porúch v sústave</a:t>
            </a:r>
          </a:p>
        </p:txBody>
      </p:sp>
      <p:sp>
        <p:nvSpPr>
          <p:cNvPr id="3" name="Zástupný symbol obsahu 2"/>
          <p:cNvSpPr>
            <a:spLocks noGrp="1"/>
          </p:cNvSpPr>
          <p:nvPr>
            <p:ph idx="1"/>
          </p:nvPr>
        </p:nvSpPr>
        <p:spPr/>
        <p:txBody>
          <a:bodyPr/>
          <a:lstStyle/>
          <a:p>
            <a:pPr algn="just"/>
            <a:r>
              <a:rPr lang="sk-SK" dirty="0"/>
              <a:t>Eskaláciu poruchy vplyvom výpadku decentralizovaných zdrojov následne utlmí až systém frekvenčného odľahčovania záťaže. </a:t>
            </a:r>
          </a:p>
          <a:p>
            <a:pPr algn="just"/>
            <a:r>
              <a:rPr lang="sk-SK" dirty="0"/>
              <a:t>Pokiaľ sa v ES zasiahnutej výpadkami nenachádza dostatok točivej rezervy dochádza k odpojeniu výroby a následnému </a:t>
            </a:r>
            <a:r>
              <a:rPr lang="sk-SK" i="1" dirty="0" err="1"/>
              <a:t>blackout</a:t>
            </a:r>
            <a:r>
              <a:rPr lang="sk-SK" i="1" dirty="0"/>
              <a:t>-u</a:t>
            </a:r>
            <a:r>
              <a:rPr lang="sk-SK" dirty="0"/>
              <a:t> ES.</a:t>
            </a:r>
          </a:p>
          <a:p>
            <a:pPr algn="just"/>
            <a:r>
              <a:rPr lang="sk-SK" dirty="0"/>
              <a:t>BLACK-OUT je stav, pri ktorom dochádza v celej ES alebo v jej časti k rozpadu paralelnej spolupráce, prerušeniu napájania užívateľov a </a:t>
            </a:r>
            <a:r>
              <a:rPr lang="sk-SK" dirty="0" err="1"/>
              <a:t>beznapäťovému</a:t>
            </a:r>
            <a:r>
              <a:rPr lang="sk-SK" dirty="0"/>
              <a:t> stavu.</a:t>
            </a:r>
          </a:p>
          <a:p>
            <a:pPr algn="just"/>
            <a:r>
              <a:rPr lang="sk-SK" dirty="0"/>
              <a:t>Po odznení poruchy v ES začína príslušná PPS s Plánom obnovy.</a:t>
            </a:r>
          </a:p>
        </p:txBody>
      </p:sp>
    </p:spTree>
    <p:extLst>
      <p:ext uri="{BB962C8B-B14F-4D97-AF65-F5344CB8AC3E}">
        <p14:creationId xmlns:p14="http://schemas.microsoft.com/office/powerpoint/2010/main" val="10627785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Nadpis 4"/>
          <p:cNvSpPr>
            <a:spLocks noGrp="1"/>
          </p:cNvSpPr>
          <p:nvPr>
            <p:ph type="title"/>
          </p:nvPr>
        </p:nvSpPr>
        <p:spPr/>
        <p:txBody>
          <a:bodyPr/>
          <a:lstStyle/>
          <a:p>
            <a:r>
              <a:rPr lang="sk-SK" dirty="0"/>
              <a:t>PLÁN OBNOVY</a:t>
            </a:r>
          </a:p>
        </p:txBody>
      </p:sp>
      <p:sp>
        <p:nvSpPr>
          <p:cNvPr id="6" name="Zástupný symbol obsahu 5"/>
          <p:cNvSpPr>
            <a:spLocks noGrp="1"/>
          </p:cNvSpPr>
          <p:nvPr>
            <p:ph idx="1"/>
          </p:nvPr>
        </p:nvSpPr>
        <p:spPr/>
        <p:txBody>
          <a:bodyPr>
            <a:normAutofit lnSpcReduction="10000"/>
          </a:bodyPr>
          <a:lstStyle/>
          <a:p>
            <a:pPr algn="just"/>
            <a:r>
              <a:rPr lang="sk-SK" dirty="0"/>
              <a:t>Súhrn technicko-organizačných opatrení pre zabezpečenie uvedenia sústavy do normálneho stavu po jej úplnom alebo čiastočnom rozpade.</a:t>
            </a:r>
          </a:p>
          <a:p>
            <a:pPr algn="just"/>
            <a:r>
              <a:rPr lang="sk-SK" dirty="0"/>
              <a:t>V prípade rozpadu synchrónnej sústavy, pri obnove frekvencie po frekvenčnej odchýlke väčšej ako ±200 </a:t>
            </a:r>
            <a:r>
              <a:rPr lang="sk-SK" dirty="0" err="1"/>
              <a:t>mHz</a:t>
            </a:r>
            <a:r>
              <a:rPr lang="sk-SK" dirty="0"/>
              <a:t> a pri obnove prevádzky ES SR po vzniku mimoriadnej udalosti alebo poruchy typu „</a:t>
            </a:r>
            <a:r>
              <a:rPr lang="sk-SK" dirty="0" err="1"/>
              <a:t>blackout</a:t>
            </a:r>
            <a:r>
              <a:rPr lang="sk-SK" dirty="0"/>
              <a:t>“, je potrebné obnoviť normálnu prevádzku v čo najkratšom čase a pri čo najmenších stratách na ľudských životoch a ľudskom zdraví, škodách na majetku, poškodeniach životného prostredia a v neposlednom rade i ekonomických stratách užívateľov ES SR ako aj užívateľov ES susedných štátov.</a:t>
            </a:r>
          </a:p>
          <a:p>
            <a:pPr algn="just"/>
            <a:r>
              <a:rPr lang="sk-SK" dirty="0"/>
              <a:t>Obnova normálnej prevádzky si vyžaduje úzku spoluprácu všetkých PPS synchrónnej oblasti, ktorá sa riadi jednotnými pravidlami. Z tohto dôvodu bol vytvorený systém opatrení pre postupnú obnovu prevádzky synchrónne prepojených sústav.</a:t>
            </a:r>
          </a:p>
        </p:txBody>
      </p:sp>
    </p:spTree>
    <p:extLst>
      <p:ext uri="{BB962C8B-B14F-4D97-AF65-F5344CB8AC3E}">
        <p14:creationId xmlns:p14="http://schemas.microsoft.com/office/powerpoint/2010/main" val="24741640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PLÁN OBNOVY</a:t>
            </a:r>
          </a:p>
        </p:txBody>
      </p:sp>
      <p:sp>
        <p:nvSpPr>
          <p:cNvPr id="3" name="Zástupný symbol obsahu 2"/>
          <p:cNvSpPr>
            <a:spLocks noGrp="1"/>
          </p:cNvSpPr>
          <p:nvPr>
            <p:ph idx="1"/>
          </p:nvPr>
        </p:nvSpPr>
        <p:spPr/>
        <p:txBody>
          <a:bodyPr/>
          <a:lstStyle/>
          <a:p>
            <a:pPr algn="just"/>
            <a:r>
              <a:rPr lang="sk-SK" dirty="0"/>
              <a:t>Plán obnovy je primerane záväzný pre všetky subjekty, ktoré na území SR spolu vytvárajú sektor </a:t>
            </a:r>
            <a:r>
              <a:rPr lang="sk-SK" dirty="0" err="1"/>
              <a:t>elektroenergetiky</a:t>
            </a:r>
            <a:r>
              <a:rPr lang="sk-SK" dirty="0"/>
              <a:t>, resp. participujú na trhu s elektrinou v SR. Sú to najmä PPS, PDS, prevádzkovatelia zariadení na výrobu elektriny, koncoví odberatelia elektriny a obchodníci s elektrinou. Všetky tieto subjekty sú povinné konať v zmysle ďalej definovaných opatrení Plánu obnovy a sú povinné neustále konať v rozsahu svojich kompetencií a činností tak, aby boli schopné podieľať sa na postupnej obnove normálnej prevádzky ES SR. </a:t>
            </a:r>
          </a:p>
          <a:p>
            <a:pPr algn="just"/>
            <a:endParaRPr lang="sk-SK" dirty="0"/>
          </a:p>
        </p:txBody>
      </p:sp>
    </p:spTree>
    <p:extLst>
      <p:ext uri="{BB962C8B-B14F-4D97-AF65-F5344CB8AC3E}">
        <p14:creationId xmlns:p14="http://schemas.microsoft.com/office/powerpoint/2010/main" val="7060557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PLÁN OBNOVY</a:t>
            </a:r>
          </a:p>
        </p:txBody>
      </p:sp>
      <p:sp>
        <p:nvSpPr>
          <p:cNvPr id="3" name="Zástupný symbol obsahu 2"/>
          <p:cNvSpPr>
            <a:spLocks noGrp="1"/>
          </p:cNvSpPr>
          <p:nvPr>
            <p:ph idx="1"/>
          </p:nvPr>
        </p:nvSpPr>
        <p:spPr/>
        <p:txBody>
          <a:bodyPr/>
          <a:lstStyle/>
          <a:p>
            <a:pPr algn="just"/>
            <a:r>
              <a:rPr lang="sk-SK" dirty="0"/>
              <a:t>OSTROVNÁ PREVÁDZKA</a:t>
            </a:r>
          </a:p>
          <a:p>
            <a:pPr lvl="1" algn="just"/>
            <a:r>
              <a:rPr lang="pl-PL" dirty="0"/>
              <a:t>prevádzka časti ES po jej oddelení od ostatnej sústavy</a:t>
            </a:r>
            <a:endParaRPr lang="sk-SK" dirty="0"/>
          </a:p>
          <a:p>
            <a:pPr algn="just"/>
            <a:r>
              <a:rPr lang="sk-SK" dirty="0"/>
              <a:t>OSTROV</a:t>
            </a:r>
          </a:p>
          <a:p>
            <a:pPr lvl="1" algn="just"/>
            <a:r>
              <a:rPr lang="sk-SK" dirty="0"/>
              <a:t>časť ES alebo niekoľkých ES, ktorá je elektricky oddelená od hlavnej prepojenej sústavy (oddelenie je výsledkom napr. odpojenia/poruchy prvkov PS) </a:t>
            </a:r>
          </a:p>
          <a:p>
            <a:pPr algn="just"/>
            <a:r>
              <a:rPr lang="sk-SK" dirty="0"/>
              <a:t>ŠTART Z TMY (BS)</a:t>
            </a:r>
          </a:p>
          <a:p>
            <a:pPr lvl="1" algn="just"/>
            <a:r>
              <a:rPr lang="sk-SK" dirty="0"/>
              <a:t>schopnosť obnovenia výroby a dodávky elektriny z </a:t>
            </a:r>
            <a:r>
              <a:rPr lang="sk-SK" dirty="0" err="1"/>
              <a:t>beznapäťového</a:t>
            </a:r>
            <a:r>
              <a:rPr lang="sk-SK" dirty="0"/>
              <a:t> stavu po úplnom rozpade sústavy. Obnovovanie výroby sa začne generátormi schopnými nabehnúť bez napätia zo sústavy, ktoré rozbiehajú ďalšie generátory. Vytvorené ostrovné prevádzky sa postupne spájajú medzi sebou alebo s neporušenou sústavou</a:t>
            </a:r>
          </a:p>
        </p:txBody>
      </p:sp>
    </p:spTree>
    <p:extLst>
      <p:ext uri="{BB962C8B-B14F-4D97-AF65-F5344CB8AC3E}">
        <p14:creationId xmlns:p14="http://schemas.microsoft.com/office/powerpoint/2010/main" val="20075214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PLÁN OBNOVY</a:t>
            </a:r>
          </a:p>
        </p:txBody>
      </p:sp>
      <p:sp>
        <p:nvSpPr>
          <p:cNvPr id="3" name="Zástupný symbol obsahu 2"/>
          <p:cNvSpPr>
            <a:spLocks noGrp="1"/>
          </p:cNvSpPr>
          <p:nvPr>
            <p:ph idx="1"/>
          </p:nvPr>
        </p:nvSpPr>
        <p:spPr>
          <a:xfrm>
            <a:off x="677334" y="1384663"/>
            <a:ext cx="8596668" cy="4656699"/>
          </a:xfrm>
        </p:spPr>
        <p:txBody>
          <a:bodyPr/>
          <a:lstStyle/>
          <a:p>
            <a:pPr algn="just"/>
            <a:r>
              <a:rPr lang="sk-SK" dirty="0"/>
              <a:t>Ak nastane rozpad synchrónne prepojených sústav na ostrovy, PPS v jednotlivých ostrovoch vymenujú správcov frekvencie, ktorí sú zodpovední za riadenie frekvencie v ostrovoch. Na základe vopred stanovených kritérií je za správcu frekvencie menovaný a uprednostnený PPS s najvyšším odhadovaným K-faktorom v reálnom čase, pokiaľ sa PPS nedohodnú na vymenovaní iného PPS.</a:t>
            </a:r>
          </a:p>
          <a:p>
            <a:pPr algn="just"/>
            <a:r>
              <a:rPr lang="sk-SK" dirty="0"/>
              <a:t> Ak je možné pri obnove pristúpiť k </a:t>
            </a:r>
            <a:r>
              <a:rPr lang="sk-SK" dirty="0" err="1"/>
              <a:t>resynchronizácii</a:t>
            </a:r>
            <a:r>
              <a:rPr lang="sk-SK" dirty="0"/>
              <a:t> dvoch ostrovov bez ohrozenia prevádzkovej bezpečnosti PS, správcovia frekvencie týchto ostrovov menujú správcu </a:t>
            </a:r>
            <a:r>
              <a:rPr lang="sk-SK" dirty="0" err="1"/>
              <a:t>resynchronizácie</a:t>
            </a:r>
            <a:r>
              <a:rPr lang="sk-SK" dirty="0"/>
              <a:t> v konzultácii s potencionálnym správcom </a:t>
            </a:r>
            <a:r>
              <a:rPr lang="sk-SK" dirty="0" err="1"/>
              <a:t>resynchronizácie</a:t>
            </a:r>
            <a:r>
              <a:rPr lang="sk-SK" dirty="0"/>
              <a:t>. Za správcu </a:t>
            </a:r>
            <a:r>
              <a:rPr lang="sk-SK" dirty="0" err="1"/>
              <a:t>resynchronizácie</a:t>
            </a:r>
            <a:r>
              <a:rPr lang="sk-SK" dirty="0"/>
              <a:t> sa volí PPS, ktorý má v prevádzke potencionálne </a:t>
            </a:r>
            <a:r>
              <a:rPr lang="sk-SK" dirty="0" err="1"/>
              <a:t>resynchronizačné</a:t>
            </a:r>
            <a:r>
              <a:rPr lang="sk-SK" dirty="0"/>
              <a:t> body a prístup k potrebným meraniam frekvencie a napätia a dokáže regulovať napätie potenciálnych </a:t>
            </a:r>
            <a:r>
              <a:rPr lang="sk-SK" dirty="0" err="1"/>
              <a:t>resynchronizačných</a:t>
            </a:r>
            <a:r>
              <a:rPr lang="sk-SK" dirty="0"/>
              <a:t> bodov. </a:t>
            </a:r>
          </a:p>
        </p:txBody>
      </p:sp>
    </p:spTree>
    <p:extLst>
      <p:ext uri="{BB962C8B-B14F-4D97-AF65-F5344CB8AC3E}">
        <p14:creationId xmlns:p14="http://schemas.microsoft.com/office/powerpoint/2010/main" val="22482905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PLÁN OBNOVY</a:t>
            </a:r>
          </a:p>
        </p:txBody>
      </p:sp>
      <p:sp>
        <p:nvSpPr>
          <p:cNvPr id="3" name="Zástupný symbol obsahu 2"/>
          <p:cNvSpPr>
            <a:spLocks noGrp="1"/>
          </p:cNvSpPr>
          <p:nvPr>
            <p:ph idx="1"/>
          </p:nvPr>
        </p:nvSpPr>
        <p:spPr/>
        <p:txBody>
          <a:bodyPr/>
          <a:lstStyle/>
          <a:p>
            <a:r>
              <a:rPr lang="sk-SK" dirty="0"/>
              <a:t>Pri frekvenčnej odchýlke väčšej ako ±200 </a:t>
            </a:r>
            <a:r>
              <a:rPr lang="sk-SK" dirty="0" err="1"/>
              <a:t>mHz</a:t>
            </a:r>
            <a:r>
              <a:rPr lang="sk-SK" dirty="0"/>
              <a:t>, kedy nedochádza k rozdeleniu synchrónnej oblasti na ostrovy, je taktiež potrebné pre obnovenie normálneho stavu menovať správcu frekvencie. Správca frekvencie riadi frekvenciu celej synchrónnej sústavy s cieľom obnoviť frekvenciu na menovitú hodnotu. </a:t>
            </a:r>
          </a:p>
        </p:txBody>
      </p:sp>
    </p:spTree>
    <p:extLst>
      <p:ext uri="{BB962C8B-B14F-4D97-AF65-F5344CB8AC3E}">
        <p14:creationId xmlns:p14="http://schemas.microsoft.com/office/powerpoint/2010/main" val="725043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PLÁN OBNOVY</a:t>
            </a:r>
          </a:p>
        </p:txBody>
      </p:sp>
      <p:sp>
        <p:nvSpPr>
          <p:cNvPr id="3" name="Zástupný symbol obsahu 2"/>
          <p:cNvSpPr>
            <a:spLocks noGrp="1"/>
          </p:cNvSpPr>
          <p:nvPr>
            <p:ph idx="1"/>
          </p:nvPr>
        </p:nvSpPr>
        <p:spPr/>
        <p:txBody>
          <a:bodyPr>
            <a:normAutofit/>
          </a:bodyPr>
          <a:lstStyle/>
          <a:p>
            <a:pPr algn="just"/>
            <a:r>
              <a:rPr lang="sk-SK" dirty="0"/>
              <a:t>Najzávažnejšou poruchou, ktorú musí Plán obnovy riešiť je tzv. „</a:t>
            </a:r>
            <a:r>
              <a:rPr lang="sk-SK" dirty="0" err="1"/>
              <a:t>blackout</a:t>
            </a:r>
            <a:r>
              <a:rPr lang="sk-SK" dirty="0"/>
              <a:t>“, kedy je ES SR v stave bez napätia</a:t>
            </a:r>
          </a:p>
          <a:p>
            <a:pPr algn="just"/>
            <a:r>
              <a:rPr lang="sk-SK" dirty="0" err="1"/>
              <a:t>Blackout</a:t>
            </a:r>
            <a:r>
              <a:rPr lang="sk-SK" dirty="0"/>
              <a:t> je stav, kedy ES SR alebo jej významná časť je bez napätia. V takomto prípade PPS vyhlasuje stav núdze v </a:t>
            </a:r>
            <a:r>
              <a:rPr lang="sk-SK" dirty="0" err="1"/>
              <a:t>elektroenergetike</a:t>
            </a:r>
            <a:r>
              <a:rPr lang="sk-SK" dirty="0"/>
              <a:t>, ktorý trvá až do odvolania. Obnova prevádzky ES sa uskutočňuje podaním napätia zo zariadení na výrobu elektriny zabezpečujúcich </a:t>
            </a:r>
            <a:r>
              <a:rPr lang="sk-SK" dirty="0" err="1"/>
              <a:t>PpS</a:t>
            </a:r>
            <a:r>
              <a:rPr lang="sk-SK" dirty="0"/>
              <a:t> „Štart z tmy“ alebo zo susedných ES na tzv. systémovú elektráreň pre zabezpečenie jej vlastnej spotreby a jej nábeh.</a:t>
            </a:r>
          </a:p>
          <a:p>
            <a:pPr algn="just"/>
            <a:r>
              <a:rPr lang="sk-SK" dirty="0"/>
              <a:t>Poskytovatelia </a:t>
            </a:r>
            <a:r>
              <a:rPr lang="sk-SK" dirty="0" err="1"/>
              <a:t>PpS</a:t>
            </a:r>
            <a:r>
              <a:rPr lang="sk-SK" dirty="0"/>
              <a:t> „Štart z tmy“ sú zariadenia na výrobu elektriny v ES SR schopné v prípade stavu </a:t>
            </a:r>
            <a:r>
              <a:rPr lang="sk-SK" dirty="0" err="1"/>
              <a:t>black-out</a:t>
            </a:r>
            <a:r>
              <a:rPr lang="sk-SK" dirty="0"/>
              <a:t> v ES SR obnoviť prevádzku svojej výroby elektriny bez dodania elektriny z vonkajšieho zdroja a sú schopné poskytnúť napätie pre systémovú elektráreň</a:t>
            </a:r>
          </a:p>
        </p:txBody>
      </p:sp>
    </p:spTree>
    <p:extLst>
      <p:ext uri="{BB962C8B-B14F-4D97-AF65-F5344CB8AC3E}">
        <p14:creationId xmlns:p14="http://schemas.microsoft.com/office/powerpoint/2010/main" val="10941127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PLÁN OBNOVY</a:t>
            </a:r>
          </a:p>
        </p:txBody>
      </p:sp>
      <p:sp>
        <p:nvSpPr>
          <p:cNvPr id="3" name="Zástupný symbol obsahu 2"/>
          <p:cNvSpPr>
            <a:spLocks noGrp="1"/>
          </p:cNvSpPr>
          <p:nvPr>
            <p:ph idx="1"/>
          </p:nvPr>
        </p:nvSpPr>
        <p:spPr/>
        <p:txBody>
          <a:bodyPr/>
          <a:lstStyle/>
          <a:p>
            <a:pPr algn="just"/>
            <a:r>
              <a:rPr lang="sk-SK" dirty="0"/>
              <a:t>Systémové elektrárne sú výrobcovia elektriny pripojení do ES SR, schopní vytvárať veľké ostrovy a sú tak svojim spôsobom kľúčový v procese obnovy ES SR v prípade poruchy typu </a:t>
            </a:r>
            <a:r>
              <a:rPr lang="sk-SK" dirty="0" err="1"/>
              <a:t>blackout</a:t>
            </a:r>
            <a:r>
              <a:rPr lang="sk-SK" dirty="0"/>
              <a:t>. Systémové elektrárne v ES SR sú nasledovné: </a:t>
            </a:r>
          </a:p>
          <a:p>
            <a:pPr lvl="1" algn="just"/>
            <a:r>
              <a:rPr lang="sk-SK" dirty="0"/>
              <a:t>JE (EMO, EBO-V2), </a:t>
            </a:r>
          </a:p>
          <a:p>
            <a:pPr lvl="1" algn="just"/>
            <a:r>
              <a:rPr lang="sk-SK" dirty="0"/>
              <a:t>PPC (BA, Malženice), </a:t>
            </a:r>
          </a:p>
          <a:p>
            <a:pPr lvl="1" algn="just"/>
            <a:r>
              <a:rPr lang="sk-SK" dirty="0"/>
              <a:t>VE (Gabčíkovo, Č. Váh),</a:t>
            </a:r>
          </a:p>
          <a:p>
            <a:pPr lvl="1" algn="just"/>
            <a:r>
              <a:rPr lang="sk-SK" dirty="0"/>
              <a:t>TEKO.</a:t>
            </a:r>
          </a:p>
        </p:txBody>
      </p:sp>
    </p:spTree>
    <p:extLst>
      <p:ext uri="{BB962C8B-B14F-4D97-AF65-F5344CB8AC3E}">
        <p14:creationId xmlns:p14="http://schemas.microsoft.com/office/powerpoint/2010/main" val="39096140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PLÁN OBNOVY</a:t>
            </a:r>
          </a:p>
        </p:txBody>
      </p:sp>
      <p:sp>
        <p:nvSpPr>
          <p:cNvPr id="3" name="Zástupný symbol obsahu 2"/>
          <p:cNvSpPr>
            <a:spLocks noGrp="1"/>
          </p:cNvSpPr>
          <p:nvPr>
            <p:ph idx="1"/>
          </p:nvPr>
        </p:nvSpPr>
        <p:spPr/>
        <p:txBody>
          <a:bodyPr/>
          <a:lstStyle/>
          <a:p>
            <a:pPr algn="just"/>
            <a:r>
              <a:rPr lang="sk-SK" dirty="0"/>
              <a:t>Poskytovateľom </a:t>
            </a:r>
            <a:r>
              <a:rPr lang="sk-SK" dirty="0" err="1"/>
              <a:t>PpS</a:t>
            </a:r>
            <a:r>
              <a:rPr lang="sk-SK" dirty="0"/>
              <a:t> „Štart z tmy“ môže byť aj systémová elektráreň, ktorá je schopná zabezpečiť vlastnú spotrebu a svoj nábeh bez vonkajšieho zdroja maximálne do času, ktorý je daný bezpečnou prevádzkou vlastných zariadení. Zahrnutie systémových elektrární ako poskytovateľov </a:t>
            </a:r>
            <a:r>
              <a:rPr lang="sk-SK" dirty="0" err="1"/>
              <a:t>PpS</a:t>
            </a:r>
            <a:r>
              <a:rPr lang="sk-SK" dirty="0"/>
              <a:t> „Štart z tmy“ je závislé na posúdení PPS. </a:t>
            </a:r>
          </a:p>
          <a:p>
            <a:pPr algn="just"/>
            <a:r>
              <a:rPr lang="sk-SK" dirty="0"/>
              <a:t>Prevádzkovateľ prenosovej sústavy SR môže využiť na obnovu prevádzky ES SR dve odlišné stratégie alebo ich kombináciu. Prvou z týchto stratégii je zostupná stratégie, kedy je napätie na systémové elektrárne podané zo zahraničia. Druhou možnosťou obnovy ES SR je vzostupná stratégia, kde sa predpokladá podanie napätia na systémové elektrárne zo zdrojov poskytujúcich </a:t>
            </a:r>
            <a:r>
              <a:rPr lang="sk-SK" dirty="0" err="1"/>
              <a:t>PpS</a:t>
            </a:r>
            <a:r>
              <a:rPr lang="sk-SK" dirty="0"/>
              <a:t> „Štart z tmy“. Voľba stratégie obnovy ES SR závisí od aktuálneho stavu susedných ES.</a:t>
            </a:r>
          </a:p>
        </p:txBody>
      </p:sp>
    </p:spTree>
    <p:extLst>
      <p:ext uri="{BB962C8B-B14F-4D97-AF65-F5344CB8AC3E}">
        <p14:creationId xmlns:p14="http://schemas.microsoft.com/office/powerpoint/2010/main" val="41628960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Obnova prevádzky ES SR zo zahraničných zdrojov</a:t>
            </a:r>
          </a:p>
        </p:txBody>
      </p:sp>
      <p:sp>
        <p:nvSpPr>
          <p:cNvPr id="3" name="Zástupný symbol obsahu 2"/>
          <p:cNvSpPr>
            <a:spLocks noGrp="1"/>
          </p:cNvSpPr>
          <p:nvPr>
            <p:ph idx="1"/>
          </p:nvPr>
        </p:nvSpPr>
        <p:spPr/>
        <p:txBody>
          <a:bodyPr>
            <a:normAutofit fontScale="92500" lnSpcReduction="20000"/>
          </a:bodyPr>
          <a:lstStyle/>
          <a:p>
            <a:pPr algn="just">
              <a:buFont typeface="+mj-lt"/>
              <a:buAutoNum type="arabicPeriod"/>
            </a:pPr>
            <a:r>
              <a:rPr lang="sk-SK" dirty="0"/>
              <a:t>Najskôr je potrebné vytvorenie ostrova pre prevádzku VEGA pri odpojení sa od ES SR. Obsluha VEGA pri odpojení od ES SR a strate vlastnej spotreby prioritne obnovuje vlastnú spotrebu elektrárne a vlastnú spotrebu vodohospodárov a zabezpečuje výkon pre potrebné manipulácie vodohospodárskych objektov.</a:t>
            </a:r>
          </a:p>
          <a:p>
            <a:pPr algn="just">
              <a:buFont typeface="+mj-lt"/>
              <a:buAutoNum type="arabicPeriod"/>
            </a:pPr>
            <a:r>
              <a:rPr lang="sk-SK" dirty="0"/>
              <a:t>Pri obnove ES SR zo zahraničia je potrebné čo najskôr zabezpečiť prepojenie na systémové 400 kV rozvodne (Križovany, Bošáca, V. Ďur, Gabčíkovo) z okolitých nepostihnutých synchrónne pracujúcich sústav. Následne je potrebné zabezpečiť zásobovanie vlastnej spotreby EMO/EBO-V2/VEGA</a:t>
            </a:r>
          </a:p>
          <a:p>
            <a:pPr algn="just">
              <a:buFont typeface="+mj-lt"/>
              <a:buAutoNum type="arabicPeriod"/>
            </a:pPr>
            <a:r>
              <a:rPr lang="sk-SK" dirty="0"/>
              <a:t>Po </a:t>
            </a:r>
            <a:r>
              <a:rPr lang="sk-SK" dirty="0" err="1"/>
              <a:t>prifázovaní</a:t>
            </a:r>
            <a:r>
              <a:rPr lang="sk-SK" dirty="0"/>
              <a:t> JE a VEGA je potrebné zabezpečiť zásobovanie vlastných spotrieb zvyšných systémových elektrárni (PPC BA, TEKO, PPC Malženice), ich nábeh a </a:t>
            </a:r>
            <a:r>
              <a:rPr lang="sk-SK" dirty="0" err="1"/>
              <a:t>prifázovanie</a:t>
            </a:r>
            <a:r>
              <a:rPr lang="sk-SK" dirty="0"/>
              <a:t> k ES</a:t>
            </a:r>
          </a:p>
          <a:p>
            <a:pPr algn="just">
              <a:buFont typeface="+mj-lt"/>
              <a:buAutoNum type="arabicPeriod"/>
            </a:pPr>
            <a:r>
              <a:rPr lang="sk-SK" dirty="0"/>
              <a:t>V ďalšom procese obnovy ES SR sa zabezpečí zásobovanie priemyselným odberateľom so špecifickou technológiou (Slovnaft BA, U.S. Steel Košice, Duslo Šaľa, atď.), veľkých mestských aglomerácií a ostatných odberateľov. Následne je potrebné zabezpečiť rozšírenie existujúcej ES o ďalšie zdroje, odbery, prípadne spojiť vytvorené ostrovy</a:t>
            </a:r>
          </a:p>
        </p:txBody>
      </p:sp>
    </p:spTree>
    <p:extLst>
      <p:ext uri="{BB962C8B-B14F-4D97-AF65-F5344CB8AC3E}">
        <p14:creationId xmlns:p14="http://schemas.microsoft.com/office/powerpoint/2010/main" val="25328641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Obnova prevádzky ES SR z domácich zdrojov</a:t>
            </a:r>
          </a:p>
        </p:txBody>
      </p:sp>
      <p:sp>
        <p:nvSpPr>
          <p:cNvPr id="3" name="Zástupný symbol obsahu 2"/>
          <p:cNvSpPr>
            <a:spLocks noGrp="1"/>
          </p:cNvSpPr>
          <p:nvPr>
            <p:ph idx="1"/>
          </p:nvPr>
        </p:nvSpPr>
        <p:spPr/>
        <p:txBody>
          <a:bodyPr/>
          <a:lstStyle/>
          <a:p>
            <a:r>
              <a:rPr lang="sk-SK" dirty="0"/>
              <a:t>V prípade, že z akýchkoľvek dôvodov nie je možná obnova ES SR zo zahraničia a táto situácia by pretrvávala neprimerane dlhý čas, pristúpi sa k obnove ES SR len z domácich zdrojov na výrobu elektriny. Filozofia obnovy ES SR z domácich zdrojov je založená na poskytnutí napätia zo strany výrobcu elektriny poskytujúceho </a:t>
            </a:r>
            <a:r>
              <a:rPr lang="sk-SK" dirty="0" err="1"/>
              <a:t>PpS</a:t>
            </a:r>
            <a:r>
              <a:rPr lang="sk-SK" dirty="0"/>
              <a:t> „Štart z tmy“ pre systémovú elektráreň na zabezpečenie jej vlastnej spotreby a jej nábeh. </a:t>
            </a:r>
          </a:p>
          <a:p>
            <a:endParaRPr lang="sk-SK" dirty="0"/>
          </a:p>
        </p:txBody>
      </p:sp>
    </p:spTree>
    <p:extLst>
      <p:ext uri="{BB962C8B-B14F-4D97-AF65-F5344CB8AC3E}">
        <p14:creationId xmlns:p14="http://schemas.microsoft.com/office/powerpoint/2010/main" val="3561681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Obnova prevádzky ES SR z domácich zdrojov</a:t>
            </a:r>
          </a:p>
        </p:txBody>
      </p:sp>
      <p:sp>
        <p:nvSpPr>
          <p:cNvPr id="3" name="Zástupný symbol obsahu 2"/>
          <p:cNvSpPr>
            <a:spLocks noGrp="1"/>
          </p:cNvSpPr>
          <p:nvPr>
            <p:ph idx="1"/>
          </p:nvPr>
        </p:nvSpPr>
        <p:spPr/>
        <p:txBody>
          <a:bodyPr/>
          <a:lstStyle/>
          <a:p>
            <a:pPr algn="just">
              <a:buFont typeface="+mj-lt"/>
              <a:buAutoNum type="arabicPeriod"/>
            </a:pPr>
            <a:r>
              <a:rPr lang="sk-SK" dirty="0"/>
              <a:t>Obdobne ako v prípade obnovenia ES SR zo synchrónne pracujúcej oblasti je potrebné zabezpečiť čo najskôr vytvorenie ostrova pre prevádzku VEGA pri odpojení sa od ES SR</a:t>
            </a:r>
          </a:p>
          <a:p>
            <a:pPr algn="just">
              <a:buFont typeface="+mj-lt"/>
              <a:buAutoNum type="arabicPeriod"/>
            </a:pPr>
            <a:r>
              <a:rPr lang="sk-SK" dirty="0"/>
              <a:t>Vzhľadom na to, že prevádzku celej ES SR nie je možné obnoviť bez prevádzky jadrových blokov EBO-V2 a EMO, je stratégia obnovy ES SR založená na vytváraní ostrovov za pomoci jadrových blokov EBO-V2 a EMO (za predpokladu, že JE zregulovali a zabezpečujú si VS). Ak jadrové bloky nezregulovali na vlastnú spotrebu, je potrebné čo najskôr zabezpečiť obnovu vlastných spotrieb JE. Z toho dôvodu je potrebné zabezpečiť podanie napätia do rozvodní vlastných spotrieb EBO - V2/EMO z miestnych zariadení na výrobu elektriny poskytujúcich podpornú službu Štart z tmy a vhodných pre dodanie napätia pre vlastné spotreby JE.</a:t>
            </a:r>
          </a:p>
        </p:txBody>
      </p:sp>
    </p:spTree>
    <p:extLst>
      <p:ext uri="{BB962C8B-B14F-4D97-AF65-F5344CB8AC3E}">
        <p14:creationId xmlns:p14="http://schemas.microsoft.com/office/powerpoint/2010/main" val="29796329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Obnova prevádzky ES SR z domácich zdrojov</a:t>
            </a:r>
          </a:p>
        </p:txBody>
      </p:sp>
      <p:sp>
        <p:nvSpPr>
          <p:cNvPr id="3" name="Zástupný symbol obsahu 2"/>
          <p:cNvSpPr>
            <a:spLocks noGrp="1"/>
          </p:cNvSpPr>
          <p:nvPr>
            <p:ph idx="1"/>
          </p:nvPr>
        </p:nvSpPr>
        <p:spPr/>
        <p:txBody>
          <a:bodyPr>
            <a:normAutofit fontScale="92500" lnSpcReduction="20000"/>
          </a:bodyPr>
          <a:lstStyle/>
          <a:p>
            <a:pPr algn="just">
              <a:buFont typeface="+mj-lt"/>
              <a:buAutoNum type="arabicPeriod" startAt="3"/>
            </a:pPr>
            <a:r>
              <a:rPr lang="sk-SK" dirty="0"/>
              <a:t>Následne je potrebné zabezpečiť zásobovanie vlastných spotrieb zvyšných systémových elektrárni a vytvoriť lokálny ostrov pre prevádzku VEGA.</a:t>
            </a:r>
          </a:p>
          <a:p>
            <a:pPr algn="just">
              <a:buFont typeface="+mj-lt"/>
              <a:buAutoNum type="arabicPeriod" startAt="3"/>
            </a:pPr>
            <a:r>
              <a:rPr lang="sk-SK" dirty="0"/>
              <a:t>Ak nie je k dispozícii dostatočný počet generátorov VEGA, je možné stabilitu kmeňového ostrova zabezpečiť kombináciou TG VEGA s generátormi PPC Malženice/PPC BA.</a:t>
            </a:r>
          </a:p>
          <a:p>
            <a:pPr algn="just">
              <a:buFont typeface="+mj-lt"/>
              <a:buAutoNum type="arabicPeriod" startAt="3"/>
            </a:pPr>
            <a:r>
              <a:rPr lang="sk-SK" dirty="0"/>
              <a:t>Následné rozširovanie ostrova je najlepšie v kombinácii s paroplynovým cyklom PPC Malženice prípadne PPC BA, kedy je možné paralelne riešiť aj otázku obnovy napájania hlavného mesta Bratislavy.</a:t>
            </a:r>
          </a:p>
          <a:p>
            <a:pPr algn="just">
              <a:buFont typeface="+mj-lt"/>
              <a:buAutoNum type="arabicPeriod" startAt="3"/>
            </a:pPr>
            <a:r>
              <a:rPr lang="sk-SK" dirty="0"/>
              <a:t>Nakoľko je možné </a:t>
            </a:r>
            <a:r>
              <a:rPr lang="sk-SK" dirty="0" err="1"/>
              <a:t>prifázovať</a:t>
            </a:r>
            <a:r>
              <a:rPr lang="sk-SK" dirty="0"/>
              <a:t> bloky JE len k stabilnému ostrovu, je potrebné rozšíriť vytvorený ostrov o ďalšie zdroje a odber tzn. </a:t>
            </a:r>
            <a:r>
              <a:rPr lang="sk-SK" dirty="0" err="1"/>
              <a:t>Prifázovať</a:t>
            </a:r>
            <a:r>
              <a:rPr lang="sk-SK" dirty="0"/>
              <a:t> VE Nosice a VE N. Mesto a iné VE v závislosti od ich dostupnosti.</a:t>
            </a:r>
          </a:p>
          <a:p>
            <a:pPr algn="just">
              <a:buFont typeface="+mj-lt"/>
              <a:buAutoNum type="arabicPeriod" startAt="3"/>
            </a:pPr>
            <a:r>
              <a:rPr lang="sk-SK" dirty="0"/>
              <a:t>V ďalšom postupe sa predpokladá prevádzka stabilného ostrova, ku ktorému bude možné pripojiť bloky EBO-V2/EMO. Po zabezpečení napájania prioritných odberov (JE, Bratislava) je v ďalšom kroku potrebné vytvorenie Ostrova STRED a Ostrova VÝCHOD.</a:t>
            </a:r>
          </a:p>
        </p:txBody>
      </p:sp>
    </p:spTree>
    <p:extLst>
      <p:ext uri="{BB962C8B-B14F-4D97-AF65-F5344CB8AC3E}">
        <p14:creationId xmlns:p14="http://schemas.microsoft.com/office/powerpoint/2010/main" val="22207961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Obnova prevádzky ES SR z domácich zdrojov</a:t>
            </a:r>
          </a:p>
        </p:txBody>
      </p:sp>
      <p:sp>
        <p:nvSpPr>
          <p:cNvPr id="3" name="Zástupný symbol obsahu 2"/>
          <p:cNvSpPr>
            <a:spLocks noGrp="1"/>
          </p:cNvSpPr>
          <p:nvPr>
            <p:ph idx="1"/>
          </p:nvPr>
        </p:nvSpPr>
        <p:spPr/>
        <p:txBody>
          <a:bodyPr/>
          <a:lstStyle/>
          <a:p>
            <a:pPr>
              <a:buFont typeface="+mj-lt"/>
              <a:buAutoNum type="arabicPeriod" startAt="8"/>
            </a:pPr>
            <a:r>
              <a:rPr lang="sk-SK" dirty="0"/>
              <a:t>Ostrov STRED vytvoríme pospájaním predovšetkým vodných elektrární na strednom Slovensku. Prioritne spájame veľké elektrárne (PVE LMAR a PVE CVAH) s DG Sučany a do tohto ostrova pripájame postupne VE Vážskej kaskády. Ostrov VÝCHOD vytvoríme pospájaním systémovej elektrárne TEKO s poskytovateľmi </a:t>
            </a:r>
            <a:r>
              <a:rPr lang="sk-SK" dirty="0" err="1"/>
              <a:t>PpS</a:t>
            </a:r>
            <a:r>
              <a:rPr lang="sk-SK" dirty="0"/>
              <a:t> Štart z tmy PVE Ružín a DG Moldava. </a:t>
            </a:r>
          </a:p>
        </p:txBody>
      </p:sp>
    </p:spTree>
    <p:extLst>
      <p:ext uri="{BB962C8B-B14F-4D97-AF65-F5344CB8AC3E}">
        <p14:creationId xmlns:p14="http://schemas.microsoft.com/office/powerpoint/2010/main" val="8359860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Obnova prevádzky ES SR z domácich zdrojov</a:t>
            </a:r>
          </a:p>
        </p:txBody>
      </p:sp>
      <p:sp>
        <p:nvSpPr>
          <p:cNvPr id="3" name="Zástupný symbol obsahu 2"/>
          <p:cNvSpPr>
            <a:spLocks noGrp="1"/>
          </p:cNvSpPr>
          <p:nvPr>
            <p:ph idx="1"/>
          </p:nvPr>
        </p:nvSpPr>
        <p:spPr/>
        <p:txBody>
          <a:bodyPr/>
          <a:lstStyle/>
          <a:p>
            <a:r>
              <a:rPr lang="sk-SK" dirty="0"/>
              <a:t>V procese obnovy ES SR je potrebné zabezpečiť obnovu dodávky elektriny v nasledovnom poradí:</a:t>
            </a:r>
          </a:p>
          <a:p>
            <a:pPr lvl="1"/>
            <a:r>
              <a:rPr lang="sk-SK" dirty="0"/>
              <a:t>hlavné mesto Bratislava, </a:t>
            </a:r>
          </a:p>
          <a:p>
            <a:pPr lvl="1"/>
            <a:r>
              <a:rPr lang="sk-SK" dirty="0"/>
              <a:t>priemyselní odberatelia so špecifickými požiadavkami na napájanie výrobných technológií, </a:t>
            </a:r>
          </a:p>
          <a:p>
            <a:pPr lvl="1"/>
            <a:r>
              <a:rPr lang="sk-SK" dirty="0"/>
              <a:t>veľké mestské aglomerácie, ostatní odberatelia.</a:t>
            </a:r>
          </a:p>
          <a:p>
            <a:r>
              <a:rPr lang="sk-SK" dirty="0"/>
              <a:t>Vytvorené ostrovy STRED a VÝCHOD je možné pripojiť ku kmeňovému ostrovu alebo prevádzkovať samostatne až do doby, kedy ich bude možné pripojiť. Po stabilizovaní vytvoreného ostrova sa zabezpečí jeho pripojenie k susedným ES ihneď po tom, ako budú tieto ES k dispozícii a budú splnené podmienky pre spínanie oddelených sústav s vlastnými navzájom blízkymi frekvenciami.</a:t>
            </a:r>
          </a:p>
        </p:txBody>
      </p:sp>
    </p:spTree>
    <p:extLst>
      <p:ext uri="{BB962C8B-B14F-4D97-AF65-F5344CB8AC3E}">
        <p14:creationId xmlns:p14="http://schemas.microsoft.com/office/powerpoint/2010/main" val="41508539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err="1"/>
              <a:t>Blackout</a:t>
            </a:r>
            <a:r>
              <a:rPr lang="sk-SK" dirty="0"/>
              <a:t> – Taliansko 2003</a:t>
            </a:r>
          </a:p>
        </p:txBody>
      </p:sp>
      <p:sp>
        <p:nvSpPr>
          <p:cNvPr id="4" name="Zástupný symbol obsahu 3"/>
          <p:cNvSpPr>
            <a:spLocks noGrp="1"/>
          </p:cNvSpPr>
          <p:nvPr>
            <p:ph sz="half" idx="1"/>
          </p:nvPr>
        </p:nvSpPr>
        <p:spPr>
          <a:xfrm>
            <a:off x="677334" y="1280160"/>
            <a:ext cx="6653299" cy="5408023"/>
          </a:xfrm>
        </p:spPr>
        <p:txBody>
          <a:bodyPr>
            <a:normAutofit fontScale="85000" lnSpcReduction="10000"/>
          </a:bodyPr>
          <a:lstStyle/>
          <a:p>
            <a:pPr algn="just"/>
            <a:r>
              <a:rPr lang="sk-SK" dirty="0"/>
              <a:t>Sled udalostí vedúcim k </a:t>
            </a:r>
            <a:r>
              <a:rPr lang="sk-SK" dirty="0" err="1"/>
              <a:t>blackoutu</a:t>
            </a:r>
            <a:r>
              <a:rPr lang="sk-SK" dirty="0"/>
              <a:t> v Taliansku sa začal odpojením 380 kV vedenia </a:t>
            </a:r>
            <a:r>
              <a:rPr lang="sk-SK" dirty="0" err="1"/>
              <a:t>Mettlen-Lavorgo</a:t>
            </a:r>
            <a:r>
              <a:rPr lang="sk-SK" dirty="0"/>
              <a:t> o 03:01:42, kde došlo k zemnému spojeniu tohto zaťaženého vedenia so stromami a jeho následnému odpojeniu. </a:t>
            </a:r>
          </a:p>
          <a:p>
            <a:pPr algn="just"/>
            <a:r>
              <a:rPr lang="sk-SK" dirty="0"/>
              <a:t>Ďalšie vedenie vo Švajčiarsku </a:t>
            </a:r>
            <a:r>
              <a:rPr lang="sk-SK" dirty="0" err="1"/>
              <a:t>Sils-Soazza</a:t>
            </a:r>
            <a:r>
              <a:rPr lang="sk-SK" dirty="0"/>
              <a:t> bolo následkom predchádzajúceho výpadku preťažené. Toto preťaženie bolo však akceptovateľné na krátky čas.</a:t>
            </a:r>
          </a:p>
          <a:p>
            <a:pPr algn="just"/>
            <a:r>
              <a:rPr lang="sk-SK" dirty="0"/>
              <a:t>O 3:11 prebehla žiadosť z dispečingu vo Švajčiarsku do Talianska pre zníženie importu.</a:t>
            </a:r>
          </a:p>
          <a:p>
            <a:pPr algn="just"/>
            <a:r>
              <a:rPr lang="sk-SK" dirty="0"/>
              <a:t>O 3:25:21 došlo k  výpadku vedenia </a:t>
            </a:r>
            <a:r>
              <a:rPr lang="sk-SK" dirty="0" err="1"/>
              <a:t>Sils-Soazza</a:t>
            </a:r>
            <a:r>
              <a:rPr lang="sk-SK" dirty="0"/>
              <a:t> rovnako ako pri vedení </a:t>
            </a:r>
            <a:r>
              <a:rPr lang="sk-SK" dirty="0" err="1"/>
              <a:t>Mettlen-Lavorgo</a:t>
            </a:r>
            <a:r>
              <a:rPr lang="sk-SK" dirty="0"/>
              <a:t>. Strata týchto dvoch dôležitých vedení spôsobila preťaženie ďalších cezhraničných vedení Talianska.</a:t>
            </a:r>
          </a:p>
          <a:p>
            <a:pPr algn="just"/>
            <a:r>
              <a:rPr lang="sk-SK" dirty="0"/>
              <a:t>Ostatné cezhraničné vedenia boli kvôli preťaženiu vypnuté do 12 sekúnd od vypnutia Švajčiarskej linky </a:t>
            </a:r>
            <a:r>
              <a:rPr lang="sk-SK" dirty="0" err="1"/>
              <a:t>Sils-Soazza</a:t>
            </a:r>
            <a:r>
              <a:rPr lang="sk-SK" dirty="0"/>
              <a:t>. Výsledkom bolo veľmi nízke napätie v sústave na severe Talianska a viacero elektrární sa odpojilo od siete. </a:t>
            </a:r>
          </a:p>
          <a:p>
            <a:pPr algn="just"/>
            <a:r>
              <a:rPr lang="sk-SK" dirty="0"/>
              <a:t>Následné frekvenčné odľahčovanie už nemohlo pomôcť stabilizácii systému pre nedostatok výroby v ostrovnej prevádzke. </a:t>
            </a:r>
          </a:p>
          <a:p>
            <a:pPr algn="just"/>
            <a:r>
              <a:rPr lang="sk-SK" dirty="0"/>
              <a:t>2 minúty a 30 sekúnd po oddelení Talianska od Európskej sústavy nastáva </a:t>
            </a:r>
            <a:r>
              <a:rPr lang="sk-SK" dirty="0" err="1"/>
              <a:t>blackout</a:t>
            </a:r>
            <a:r>
              <a:rPr lang="sk-SK" dirty="0"/>
              <a:t>. Menšie výpadky boli následne zaznamenané v pohraničných oblastiach Švajčiarska a Rakúska. </a:t>
            </a:r>
          </a:p>
          <a:p>
            <a:pPr algn="just"/>
            <a:endParaRPr lang="sk-SK" dirty="0"/>
          </a:p>
        </p:txBody>
      </p:sp>
      <p:pic>
        <p:nvPicPr>
          <p:cNvPr id="6" name="Zástupný symbol obsahu 5"/>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330633" y="1280160"/>
            <a:ext cx="4184650" cy="2826091"/>
          </a:xfrm>
        </p:spPr>
      </p:pic>
    </p:spTree>
    <p:extLst>
      <p:ext uri="{BB962C8B-B14F-4D97-AF65-F5344CB8AC3E}">
        <p14:creationId xmlns:p14="http://schemas.microsoft.com/office/powerpoint/2010/main" val="4809816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err="1"/>
              <a:t>Blackout</a:t>
            </a:r>
            <a:r>
              <a:rPr lang="sk-SK" dirty="0"/>
              <a:t> – </a:t>
            </a:r>
            <a:r>
              <a:rPr lang="sk-SK" dirty="0" err="1"/>
              <a:t>Ontario</a:t>
            </a:r>
            <a:r>
              <a:rPr lang="sk-SK" dirty="0"/>
              <a:t>, New York 2003</a:t>
            </a:r>
          </a:p>
        </p:txBody>
      </p:sp>
      <p:sp>
        <p:nvSpPr>
          <p:cNvPr id="3" name="Zástupný symbol obsahu 2"/>
          <p:cNvSpPr>
            <a:spLocks noGrp="1"/>
          </p:cNvSpPr>
          <p:nvPr>
            <p:ph sz="half" idx="1"/>
          </p:nvPr>
        </p:nvSpPr>
        <p:spPr>
          <a:xfrm>
            <a:off x="677334" y="1446979"/>
            <a:ext cx="6504343" cy="4997364"/>
          </a:xfrm>
        </p:spPr>
        <p:txBody>
          <a:bodyPr>
            <a:normAutofit fontScale="85000" lnSpcReduction="20000"/>
          </a:bodyPr>
          <a:lstStyle/>
          <a:p>
            <a:pPr algn="just"/>
            <a:r>
              <a:rPr lang="sk-SK" dirty="0"/>
              <a:t>O 16:10:50 sa pôsobením ochrany rozpojilo 9 230 kV prepojovacích liniek, čo malo za následok odpojenie sústavy </a:t>
            </a:r>
            <a:r>
              <a:rPr lang="sk-SK" dirty="0" err="1"/>
              <a:t>Ontária</a:t>
            </a:r>
            <a:r>
              <a:rPr lang="sk-SK" dirty="0"/>
              <a:t> od západnej časti New Yorku. </a:t>
            </a:r>
          </a:p>
          <a:p>
            <a:pPr algn="just"/>
            <a:r>
              <a:rPr lang="sk-SK" dirty="0"/>
              <a:t>Veľké zdroje JE zostali pripojené do sústavy New Yorku. V sústave </a:t>
            </a:r>
            <a:r>
              <a:rPr lang="sk-SK" dirty="0" err="1"/>
              <a:t>Ontária</a:t>
            </a:r>
            <a:r>
              <a:rPr lang="sk-SK" dirty="0"/>
              <a:t> klesla frekvencia pod úroveň 59.3 Hz. Došlo k aktivácii prvého stupňa frekvenčného odľahčovania a tým odopnutia 12% záťaže zo sústavy. Pokles frekvencie v tejto sústave bol zastavený. Medzitým v sústave New Yorku došlo k nárastu frekvencie na hodnotu 63.4 Hz. Pôsobením </a:t>
            </a:r>
            <a:r>
              <a:rPr lang="sk-SK" dirty="0" err="1"/>
              <a:t>nadfrekvenčných</a:t>
            </a:r>
            <a:r>
              <a:rPr lang="sk-SK" dirty="0"/>
              <a:t> ochrán bolo zo sústavy odpojených 5 JE. </a:t>
            </a:r>
          </a:p>
          <a:p>
            <a:pPr algn="just"/>
            <a:r>
              <a:rPr lang="sk-SK" dirty="0"/>
              <a:t>Avšak k dôsledku výkonového deficitu bol zaznamenaný pokles frekvencie aj v tejto sústave. O 16:10:56 sa frekvencia oboch sústav zblížila a nastalo znovu prepojenie sústav pomocou 3 230 kV liniek. </a:t>
            </a:r>
            <a:r>
              <a:rPr lang="sk-SK" dirty="0" err="1"/>
              <a:t>Ontária</a:t>
            </a:r>
            <a:r>
              <a:rPr lang="sk-SK" dirty="0"/>
              <a:t> a New York boli znova prepojené. Pretrvávajúci nedostatok výkonu v oblasti </a:t>
            </a:r>
            <a:r>
              <a:rPr lang="sk-SK" dirty="0" err="1"/>
              <a:t>Ontária</a:t>
            </a:r>
            <a:r>
              <a:rPr lang="sk-SK" dirty="0"/>
              <a:t> však spôsobil pokles frekvencie pod úroveň 58.8 Hz a tým aktiváciu druhého stupňa frekvenčného odľahčovania.</a:t>
            </a:r>
          </a:p>
          <a:p>
            <a:pPr algn="just"/>
            <a:r>
              <a:rPr lang="sk-SK" dirty="0"/>
              <a:t>Frekvencia obidvoch oblastí sa stabilizovala v okolí nominálnej hodnoty. V čase 16:11:10 došlo k opätovnému rozdeleniu 230 kV liniek a definitívnemu oddeleniu sústavy </a:t>
            </a:r>
            <a:r>
              <a:rPr lang="sk-SK" dirty="0" err="1"/>
              <a:t>Ontária</a:t>
            </a:r>
            <a:r>
              <a:rPr lang="sk-SK" dirty="0"/>
              <a:t> od sústavy New York. Zatiaľ čo vo výkonovo prebytkovej sústave New York sa frekvencia stabilizovala, v sústave </a:t>
            </a:r>
            <a:r>
              <a:rPr lang="sk-SK" dirty="0" err="1"/>
              <a:t>Ontário</a:t>
            </a:r>
            <a:r>
              <a:rPr lang="sk-SK" dirty="0"/>
              <a:t> klesla pod úroveň 57 Hz a k odpojeniu aj od oblasti Michigan. Nasledoval nevyhnutný frekvenčný kolaps sústavy </a:t>
            </a:r>
            <a:r>
              <a:rPr lang="sk-SK" dirty="0" err="1"/>
              <a:t>Ontário</a:t>
            </a:r>
            <a:r>
              <a:rPr lang="sk-SK" dirty="0"/>
              <a:t>.</a:t>
            </a:r>
          </a:p>
        </p:txBody>
      </p:sp>
      <p:pic>
        <p:nvPicPr>
          <p:cNvPr id="5" name="Zástupný symbol obsahu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181677" y="1446979"/>
            <a:ext cx="4184650" cy="3688859"/>
          </a:xfrm>
        </p:spPr>
      </p:pic>
    </p:spTree>
    <p:extLst>
      <p:ext uri="{BB962C8B-B14F-4D97-AF65-F5344CB8AC3E}">
        <p14:creationId xmlns:p14="http://schemas.microsoft.com/office/powerpoint/2010/main" val="28196837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AD813-41FE-DD22-84DD-EE820557C349}"/>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D350395D-3858-337C-D0A0-62C65495C8BB}"/>
              </a:ext>
            </a:extLst>
          </p:cNvPr>
          <p:cNvSpPr>
            <a:spLocks noGrp="1"/>
          </p:cNvSpPr>
          <p:nvPr>
            <p:ph type="title"/>
          </p:nvPr>
        </p:nvSpPr>
        <p:spPr>
          <a:xfrm>
            <a:off x="677334" y="609600"/>
            <a:ext cx="8596668" cy="837379"/>
          </a:xfrm>
        </p:spPr>
        <p:txBody>
          <a:bodyPr/>
          <a:lstStyle/>
          <a:p>
            <a:r>
              <a:rPr lang="sk-SK" dirty="0" err="1"/>
              <a:t>Blackout</a:t>
            </a:r>
            <a:r>
              <a:rPr lang="sk-SK" dirty="0"/>
              <a:t> – </a:t>
            </a:r>
            <a:r>
              <a:rPr lang="sk-SK" dirty="0" err="1"/>
              <a:t>Iberijský</a:t>
            </a:r>
            <a:r>
              <a:rPr lang="sk-SK" dirty="0"/>
              <a:t> </a:t>
            </a:r>
            <a:r>
              <a:rPr lang="sk-SK" dirty="0" err="1"/>
              <a:t>poloostrov</a:t>
            </a:r>
            <a:r>
              <a:rPr lang="sk-SK" dirty="0"/>
              <a:t> 28.4.2025</a:t>
            </a:r>
          </a:p>
        </p:txBody>
      </p:sp>
      <p:sp>
        <p:nvSpPr>
          <p:cNvPr id="3" name="Zástupný symbol obsahu 2">
            <a:extLst>
              <a:ext uri="{FF2B5EF4-FFF2-40B4-BE49-F238E27FC236}">
                <a16:creationId xmlns:a16="http://schemas.microsoft.com/office/drawing/2014/main" id="{D09EC23A-CBDF-2F2E-D9D1-3B1B06FA8D4F}"/>
              </a:ext>
            </a:extLst>
          </p:cNvPr>
          <p:cNvSpPr>
            <a:spLocks noGrp="1"/>
          </p:cNvSpPr>
          <p:nvPr>
            <p:ph sz="half" idx="1"/>
          </p:nvPr>
        </p:nvSpPr>
        <p:spPr>
          <a:xfrm>
            <a:off x="677334" y="1446979"/>
            <a:ext cx="6504343" cy="4997364"/>
          </a:xfrm>
        </p:spPr>
        <p:txBody>
          <a:bodyPr>
            <a:normAutofit/>
          </a:bodyPr>
          <a:lstStyle/>
          <a:p>
            <a:r>
              <a:rPr lang="sk-SK" b="1" dirty="0"/>
              <a:t>Príčina vzniku</a:t>
            </a:r>
          </a:p>
          <a:p>
            <a:r>
              <a:rPr lang="sk-SK" b="1" dirty="0"/>
              <a:t>Nekontrolovaný nárast napätia:</a:t>
            </a:r>
            <a:r>
              <a:rPr lang="sk-SK" dirty="0"/>
              <a:t> V danom čase (okolo obeda) bola v sieti nízka spotreba, ale extrémne vysoká výroba z obnoviteľných zdrojov (OZE).</a:t>
            </a:r>
          </a:p>
          <a:p>
            <a:r>
              <a:rPr lang="sk-SK" b="1" dirty="0"/>
              <a:t>Nedostatok „zotrvačnosti“ siete:</a:t>
            </a:r>
            <a:r>
              <a:rPr lang="sk-SK" dirty="0"/>
              <a:t> Keďže veľkú časť energie dodávali </a:t>
            </a:r>
            <a:r>
              <a:rPr lang="sk-SK" dirty="0" err="1"/>
              <a:t>fotovoltaické</a:t>
            </a:r>
            <a:r>
              <a:rPr lang="sk-SK" dirty="0"/>
              <a:t> a veterné elektrárne, sieť mala nízku zotrvačnosť a tým pádom aj stabilitu voči výkyvom.</a:t>
            </a:r>
          </a:p>
          <a:p>
            <a:r>
              <a:rPr lang="sk-SK" b="1" dirty="0"/>
              <a:t>Reťazová reakcia:</a:t>
            </a:r>
            <a:r>
              <a:rPr lang="sk-SK" dirty="0"/>
              <a:t> Náhle oscilácie napätia viedli k automatickému odpojeniu približne </a:t>
            </a:r>
            <a:r>
              <a:rPr lang="sk-SK" b="1" dirty="0"/>
              <a:t>15 GW výkonu</a:t>
            </a:r>
            <a:r>
              <a:rPr lang="sk-SK" dirty="0"/>
              <a:t> (asi 60 % vtedajšej spotreby) v priebehu 5 sekúnd. Ochrany v rozvodniach začali odpájať prvky sústavy, aby zabránili fyzickému poškodeniu infraštruktúry.</a:t>
            </a:r>
          </a:p>
          <a:p>
            <a:pPr algn="just"/>
            <a:endParaRPr lang="sk-SK" dirty="0"/>
          </a:p>
        </p:txBody>
      </p:sp>
      <p:pic>
        <p:nvPicPr>
          <p:cNvPr id="10" name="Content Placeholder 9">
            <a:extLst>
              <a:ext uri="{FF2B5EF4-FFF2-40B4-BE49-F238E27FC236}">
                <a16:creationId xmlns:a16="http://schemas.microsoft.com/office/drawing/2014/main" id="{BE8E78F5-D406-0DCC-5BE9-36E979650104}"/>
              </a:ext>
            </a:extLst>
          </p:cNvPr>
          <p:cNvPicPr>
            <a:picLocks noGrp="1" noChangeAspect="1"/>
          </p:cNvPicPr>
          <p:nvPr>
            <p:ph sz="half" idx="2"/>
          </p:nvPr>
        </p:nvPicPr>
        <p:blipFill>
          <a:blip r:embed="rId2"/>
          <a:stretch>
            <a:fillRect/>
          </a:stretch>
        </p:blipFill>
        <p:spPr>
          <a:xfrm>
            <a:off x="7202061" y="1756230"/>
            <a:ext cx="4990558" cy="2807188"/>
          </a:xfrm>
          <a:prstGeom prst="rect">
            <a:avLst/>
          </a:prstGeom>
        </p:spPr>
      </p:pic>
    </p:spTree>
    <p:extLst>
      <p:ext uri="{BB962C8B-B14F-4D97-AF65-F5344CB8AC3E}">
        <p14:creationId xmlns:p14="http://schemas.microsoft.com/office/powerpoint/2010/main" val="6971731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CDF0F-0CFD-0E41-59D6-40528CE8F6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82179-85D4-8276-3580-1508AE9DE8EC}"/>
              </a:ext>
            </a:extLst>
          </p:cNvPr>
          <p:cNvSpPr>
            <a:spLocks noGrp="1"/>
          </p:cNvSpPr>
          <p:nvPr>
            <p:ph type="title"/>
          </p:nvPr>
        </p:nvSpPr>
        <p:spPr>
          <a:xfrm>
            <a:off x="677334" y="609600"/>
            <a:ext cx="8596668" cy="758890"/>
          </a:xfrm>
        </p:spPr>
        <p:txBody>
          <a:bodyPr/>
          <a:lstStyle/>
          <a:p>
            <a:r>
              <a:rPr lang="sk-SK" dirty="0" err="1"/>
              <a:t>Blackout</a:t>
            </a:r>
            <a:r>
              <a:rPr lang="sk-SK" dirty="0"/>
              <a:t> – </a:t>
            </a:r>
            <a:r>
              <a:rPr lang="sk-SK" dirty="0" err="1"/>
              <a:t>Iberijský</a:t>
            </a:r>
            <a:r>
              <a:rPr lang="sk-SK" dirty="0"/>
              <a:t> </a:t>
            </a:r>
            <a:r>
              <a:rPr lang="sk-SK" dirty="0" err="1"/>
              <a:t>poloostrov</a:t>
            </a:r>
            <a:r>
              <a:rPr lang="sk-SK" dirty="0"/>
              <a:t> 28.4.2025</a:t>
            </a:r>
          </a:p>
        </p:txBody>
      </p:sp>
      <p:sp>
        <p:nvSpPr>
          <p:cNvPr id="3" name="Content Placeholder 2">
            <a:extLst>
              <a:ext uri="{FF2B5EF4-FFF2-40B4-BE49-F238E27FC236}">
                <a16:creationId xmlns:a16="http://schemas.microsoft.com/office/drawing/2014/main" id="{1D1B2221-77D7-093B-1F6C-DE7F83F99698}"/>
              </a:ext>
            </a:extLst>
          </p:cNvPr>
          <p:cNvSpPr>
            <a:spLocks noGrp="1"/>
          </p:cNvSpPr>
          <p:nvPr>
            <p:ph idx="1"/>
          </p:nvPr>
        </p:nvSpPr>
        <p:spPr>
          <a:xfrm>
            <a:off x="677334" y="1368491"/>
            <a:ext cx="10520437" cy="5242766"/>
          </a:xfrm>
        </p:spPr>
        <p:txBody>
          <a:bodyPr>
            <a:normAutofit fontScale="92500" lnSpcReduction="10000"/>
          </a:bodyPr>
          <a:lstStyle/>
          <a:p>
            <a:r>
              <a:rPr lang="sk-SK" dirty="0"/>
              <a:t>Udalosti z </a:t>
            </a:r>
            <a:r>
              <a:rPr lang="sk-SK" b="1" dirty="0"/>
              <a:t>28. apríla 2025</a:t>
            </a:r>
            <a:r>
              <a:rPr lang="sk-SK" dirty="0"/>
              <a:t> sú dodnes predmetom analýz, pretože išlo o učebnicový príklad tzv. </a:t>
            </a:r>
            <a:r>
              <a:rPr lang="sk-SK" b="1" dirty="0"/>
              <a:t>systémového rozpadu siete</a:t>
            </a:r>
            <a:r>
              <a:rPr lang="sk-SK" dirty="0"/>
              <a:t> v ére prechodu na obnoviteľné zdroje.</a:t>
            </a:r>
          </a:p>
          <a:p>
            <a:r>
              <a:rPr lang="sk-SK" b="1" dirty="0"/>
              <a:t>Priebeh (</a:t>
            </a:r>
            <a:r>
              <a:rPr lang="sk-SK" b="1" dirty="0" err="1"/>
              <a:t>Timeline</a:t>
            </a:r>
            <a:r>
              <a:rPr lang="sk-SK" b="1" dirty="0"/>
              <a:t>)</a:t>
            </a:r>
          </a:p>
          <a:p>
            <a:pPr lvl="1">
              <a:lnSpc>
                <a:spcPct val="170000"/>
              </a:lnSpc>
              <a:spcBef>
                <a:spcPts val="0"/>
              </a:spcBef>
            </a:pPr>
            <a:r>
              <a:rPr lang="sk-SK" b="1" dirty="0"/>
              <a:t>12:03 – 12:07 CEST</a:t>
            </a:r>
            <a:r>
              <a:rPr lang="sk-SK" dirty="0"/>
              <a:t> – Zistená a potlačená prvá vlna oscilácií v sieti.</a:t>
            </a:r>
          </a:p>
          <a:p>
            <a:pPr lvl="1">
              <a:lnSpc>
                <a:spcPct val="170000"/>
              </a:lnSpc>
              <a:spcBef>
                <a:spcPts val="0"/>
              </a:spcBef>
            </a:pPr>
            <a:r>
              <a:rPr lang="sk-SK" b="1" dirty="0"/>
              <a:t>12:19 – 12:21 CEST</a:t>
            </a:r>
            <a:r>
              <a:rPr lang="sk-SK" dirty="0"/>
              <a:t> – Zistená a potlačená druhá vlna oscilácií v sieti. Od tohto momentu sa sieť javila ako stabilná, bez ďalších zaznamenaných oscilácií.</a:t>
            </a:r>
          </a:p>
          <a:p>
            <a:pPr lvl="1">
              <a:lnSpc>
                <a:spcPct val="170000"/>
              </a:lnSpc>
              <a:spcBef>
                <a:spcPts val="0"/>
              </a:spcBef>
            </a:pPr>
            <a:r>
              <a:rPr lang="sk-SK" b="1" dirty="0"/>
              <a:t>12:32:57 – 12:33:17 CEST</a:t>
            </a:r>
            <a:r>
              <a:rPr lang="sk-SK" dirty="0"/>
              <a:t> – Séria výpadkov výrobných zdrojov v južnom Španielsku: prvý pri Granade, druhý pri </a:t>
            </a:r>
            <a:r>
              <a:rPr lang="sk-SK" dirty="0" err="1"/>
              <a:t>Badajoze</a:t>
            </a:r>
            <a:r>
              <a:rPr lang="sk-SK" dirty="0"/>
              <a:t> a tretí pri Seville. To spôsobilo stratu </a:t>
            </a:r>
            <a:r>
              <a:rPr lang="sk-SK" b="1" dirty="0"/>
              <a:t>2 200 MW</a:t>
            </a:r>
            <a:r>
              <a:rPr lang="sk-SK" dirty="0"/>
              <a:t> výrobnej kapacity. Frekvencia siete klesla a napätie v rozvodniach prudko vzrástlo.</a:t>
            </a:r>
          </a:p>
          <a:p>
            <a:pPr lvl="1">
              <a:lnSpc>
                <a:spcPct val="170000"/>
              </a:lnSpc>
              <a:spcBef>
                <a:spcPts val="0"/>
              </a:spcBef>
            </a:pPr>
            <a:r>
              <a:rPr lang="sk-SK" b="1" dirty="0"/>
              <a:t>12:33:18 – 12:33:21 CEST</a:t>
            </a:r>
            <a:r>
              <a:rPr lang="sk-SK" dirty="0"/>
              <a:t> – Frekvencia siete na Pyrenejskom polostrove klesá pod </a:t>
            </a:r>
            <a:r>
              <a:rPr lang="sk-SK" b="1" dirty="0"/>
              <a:t>48,0 Hz</a:t>
            </a:r>
            <a:r>
              <a:rPr lang="sk-SK" dirty="0"/>
              <a:t>. Aktivuje sa frekvenčné odľahčovanie .</a:t>
            </a:r>
          </a:p>
          <a:p>
            <a:pPr lvl="1">
              <a:lnSpc>
                <a:spcPct val="170000"/>
              </a:lnSpc>
              <a:spcBef>
                <a:spcPts val="0"/>
              </a:spcBef>
            </a:pPr>
            <a:r>
              <a:rPr lang="sk-SK" b="1" dirty="0"/>
              <a:t>12:33:21 CEST</a:t>
            </a:r>
            <a:r>
              <a:rPr lang="sk-SK" dirty="0"/>
              <a:t> – Vypadli striedavé (AC) vedenia medzi Francúzskom a Španielskom.</a:t>
            </a:r>
          </a:p>
          <a:p>
            <a:pPr lvl="1">
              <a:lnSpc>
                <a:spcPct val="170000"/>
              </a:lnSpc>
              <a:spcBef>
                <a:spcPts val="0"/>
              </a:spcBef>
            </a:pPr>
            <a:r>
              <a:rPr lang="sk-SK" b="1" dirty="0"/>
              <a:t>12:33:24 CEST</a:t>
            </a:r>
            <a:r>
              <a:rPr lang="sk-SK" dirty="0"/>
              <a:t> – Úplný kolaps siete, vypadlo aj jednosmerné vedenie (HVDC) medzi Francúzskom a Španielskom.</a:t>
            </a:r>
          </a:p>
          <a:p>
            <a:endParaRPr lang="sk-SK" dirty="0"/>
          </a:p>
        </p:txBody>
      </p:sp>
    </p:spTree>
    <p:extLst>
      <p:ext uri="{BB962C8B-B14F-4D97-AF65-F5344CB8AC3E}">
        <p14:creationId xmlns:p14="http://schemas.microsoft.com/office/powerpoint/2010/main" val="14867892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6056956-C3D4-03DB-179F-22B2A0B44172}"/>
              </a:ext>
            </a:extLst>
          </p:cNvPr>
          <p:cNvPicPr>
            <a:picLocks noGrp="1" noChangeAspect="1"/>
          </p:cNvPicPr>
          <p:nvPr>
            <p:ph idx="1"/>
          </p:nvPr>
        </p:nvPicPr>
        <p:blipFill>
          <a:blip r:embed="rId3"/>
          <a:stretch>
            <a:fillRect/>
          </a:stretch>
        </p:blipFill>
        <p:spPr>
          <a:xfrm>
            <a:off x="0" y="0"/>
            <a:ext cx="11443118" cy="6858000"/>
          </a:xfrm>
          <a:prstGeom prst="rect">
            <a:avLst/>
          </a:prstGeom>
        </p:spPr>
      </p:pic>
    </p:spTree>
    <p:extLst>
      <p:ext uri="{BB962C8B-B14F-4D97-AF65-F5344CB8AC3E}">
        <p14:creationId xmlns:p14="http://schemas.microsoft.com/office/powerpoint/2010/main" val="26443153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4F7C6-C4AB-A39A-3089-75E2F7F86054}"/>
              </a:ext>
            </a:extLst>
          </p:cNvPr>
          <p:cNvSpPr>
            <a:spLocks noGrp="1"/>
          </p:cNvSpPr>
          <p:nvPr>
            <p:ph type="title"/>
          </p:nvPr>
        </p:nvSpPr>
        <p:spPr/>
        <p:txBody>
          <a:bodyPr/>
          <a:lstStyle/>
          <a:p>
            <a:r>
              <a:rPr lang="sk-SK" dirty="0" err="1"/>
              <a:t>Blackout</a:t>
            </a:r>
            <a:r>
              <a:rPr lang="sk-SK" dirty="0"/>
              <a:t> – </a:t>
            </a:r>
            <a:r>
              <a:rPr lang="sk-SK" dirty="0" err="1"/>
              <a:t>Iberijský</a:t>
            </a:r>
            <a:r>
              <a:rPr lang="sk-SK" dirty="0"/>
              <a:t> </a:t>
            </a:r>
            <a:r>
              <a:rPr lang="sk-SK" dirty="0" err="1"/>
              <a:t>poloostrov</a:t>
            </a:r>
            <a:r>
              <a:rPr lang="sk-SK" dirty="0"/>
              <a:t> 28.4.2025</a:t>
            </a:r>
          </a:p>
        </p:txBody>
      </p:sp>
      <p:sp>
        <p:nvSpPr>
          <p:cNvPr id="3" name="Content Placeholder 2">
            <a:extLst>
              <a:ext uri="{FF2B5EF4-FFF2-40B4-BE49-F238E27FC236}">
                <a16:creationId xmlns:a16="http://schemas.microsoft.com/office/drawing/2014/main" id="{C0664785-CFB1-0541-CD9E-63A6B12EFF59}"/>
              </a:ext>
            </a:extLst>
          </p:cNvPr>
          <p:cNvSpPr>
            <a:spLocks noGrp="1"/>
          </p:cNvSpPr>
          <p:nvPr>
            <p:ph idx="1"/>
          </p:nvPr>
        </p:nvSpPr>
        <p:spPr>
          <a:xfrm>
            <a:off x="677333" y="1349829"/>
            <a:ext cx="9932609" cy="5508171"/>
          </a:xfrm>
        </p:spPr>
        <p:txBody>
          <a:bodyPr>
            <a:normAutofit fontScale="92500"/>
          </a:bodyPr>
          <a:lstStyle/>
          <a:p>
            <a:pPr>
              <a:lnSpc>
                <a:spcPct val="170000"/>
              </a:lnSpc>
              <a:spcBef>
                <a:spcPts val="0"/>
              </a:spcBef>
            </a:pPr>
            <a:r>
              <a:rPr lang="sk-SK" b="1" dirty="0"/>
              <a:t>Obnova siete:</a:t>
            </a:r>
          </a:p>
          <a:p>
            <a:pPr lvl="1">
              <a:lnSpc>
                <a:spcPct val="170000"/>
              </a:lnSpc>
              <a:spcBef>
                <a:spcPts val="0"/>
              </a:spcBef>
            </a:pPr>
            <a:r>
              <a:rPr lang="sk-SK" b="1" dirty="0"/>
              <a:t>12:44 CEST</a:t>
            </a:r>
            <a:r>
              <a:rPr lang="sk-SK" dirty="0"/>
              <a:t> – Prvé 400 kV striedavé vedenie medzi Španielskom a Francúzskom je opäť pod napätím.</a:t>
            </a:r>
          </a:p>
          <a:p>
            <a:pPr lvl="1">
              <a:lnSpc>
                <a:spcPct val="170000"/>
              </a:lnSpc>
              <a:spcBef>
                <a:spcPts val="0"/>
              </a:spcBef>
            </a:pPr>
            <a:r>
              <a:rPr lang="sk-SK" b="1" dirty="0"/>
              <a:t>13:04 CEST</a:t>
            </a:r>
            <a:r>
              <a:rPr lang="sk-SK" dirty="0"/>
              <a:t> – Prepojenie medzi Španielskom a Marokom je opäť pod napätím.</a:t>
            </a:r>
          </a:p>
          <a:p>
            <a:pPr lvl="1">
              <a:lnSpc>
                <a:spcPct val="170000"/>
              </a:lnSpc>
              <a:spcBef>
                <a:spcPts val="0"/>
              </a:spcBef>
            </a:pPr>
            <a:r>
              <a:rPr lang="sk-SK" b="1" dirty="0"/>
              <a:t>13:30 CEST</a:t>
            </a:r>
            <a:r>
              <a:rPr lang="sk-SK" dirty="0"/>
              <a:t> – Španielske vodné elektrárne schopné štartu z tmy (</a:t>
            </a:r>
            <a:r>
              <a:rPr lang="sk-SK" i="1" dirty="0" err="1"/>
              <a:t>black</a:t>
            </a:r>
            <a:r>
              <a:rPr lang="sk-SK" i="1" dirty="0"/>
              <a:t> </a:t>
            </a:r>
            <a:r>
              <a:rPr lang="sk-SK" i="1" dirty="0" err="1"/>
              <a:t>start</a:t>
            </a:r>
            <a:r>
              <a:rPr lang="sk-SK" dirty="0"/>
              <a:t>) začínajú procesy obnovy siete.</a:t>
            </a:r>
          </a:p>
          <a:p>
            <a:pPr lvl="1">
              <a:lnSpc>
                <a:spcPct val="170000"/>
              </a:lnSpc>
              <a:spcBef>
                <a:spcPts val="0"/>
              </a:spcBef>
            </a:pPr>
            <a:r>
              <a:rPr lang="sk-SK" b="1" dirty="0"/>
              <a:t>13:35 CEST</a:t>
            </a:r>
            <a:r>
              <a:rPr lang="sk-SK" dirty="0"/>
              <a:t> – Vedenie medzi Španielskom a Francúzskom na východnom pobreží je opäť pod napätím.</a:t>
            </a:r>
          </a:p>
          <a:p>
            <a:pPr lvl="1">
              <a:lnSpc>
                <a:spcPct val="170000"/>
              </a:lnSpc>
              <a:spcBef>
                <a:spcPts val="0"/>
              </a:spcBef>
            </a:pPr>
            <a:r>
              <a:rPr lang="sk-SK" b="1" dirty="0"/>
              <a:t>16:11 CEST</a:t>
            </a:r>
            <a:r>
              <a:rPr lang="sk-SK" dirty="0"/>
              <a:t> – Prvej elektrárni v Portugalsku schopnej štartu z tmy sa podarilo nabehnúť.</a:t>
            </a:r>
          </a:p>
          <a:p>
            <a:pPr lvl="1">
              <a:lnSpc>
                <a:spcPct val="170000"/>
              </a:lnSpc>
              <a:spcBef>
                <a:spcPts val="0"/>
              </a:spcBef>
            </a:pPr>
            <a:r>
              <a:rPr lang="sk-SK" b="1" dirty="0"/>
              <a:t>17:26 CEST</a:t>
            </a:r>
            <a:r>
              <a:rPr lang="sk-SK" dirty="0"/>
              <a:t> – Druhej elektrárni v Portugalsku schopnej štartu z tmy sa podarilo nabehnúť.</a:t>
            </a:r>
          </a:p>
          <a:p>
            <a:pPr lvl="1">
              <a:lnSpc>
                <a:spcPct val="170000"/>
              </a:lnSpc>
              <a:spcBef>
                <a:spcPts val="0"/>
              </a:spcBef>
            </a:pPr>
            <a:r>
              <a:rPr lang="sk-SK" b="1" dirty="0"/>
              <a:t>18:36 CEST</a:t>
            </a:r>
            <a:r>
              <a:rPr lang="sk-SK" dirty="0"/>
              <a:t> – 220 kV vedenie medzi Španielskom a Portugalskom je opäť pod napätím.</a:t>
            </a:r>
          </a:p>
          <a:p>
            <a:pPr lvl="1">
              <a:lnSpc>
                <a:spcPct val="170000"/>
              </a:lnSpc>
              <a:spcBef>
                <a:spcPts val="0"/>
              </a:spcBef>
            </a:pPr>
            <a:r>
              <a:rPr lang="sk-SK" b="1" dirty="0"/>
              <a:t>21:35 CEST</a:t>
            </a:r>
            <a:r>
              <a:rPr lang="sk-SK" dirty="0"/>
              <a:t> – 400 kV vedenie medzi Španielskom a južným Portugalskom je opäť pod napätím.</a:t>
            </a:r>
          </a:p>
          <a:p>
            <a:pPr lvl="1">
              <a:lnSpc>
                <a:spcPct val="170000"/>
              </a:lnSpc>
              <a:spcBef>
                <a:spcPts val="0"/>
              </a:spcBef>
            </a:pPr>
            <a:r>
              <a:rPr lang="sk-SK" b="1" dirty="0"/>
              <a:t>00:22 CEST</a:t>
            </a:r>
            <a:r>
              <a:rPr lang="sk-SK" dirty="0"/>
              <a:t> – Sieť v Portugalsku je plne obnovená.</a:t>
            </a:r>
          </a:p>
          <a:p>
            <a:pPr lvl="1">
              <a:lnSpc>
                <a:spcPct val="170000"/>
              </a:lnSpc>
              <a:spcBef>
                <a:spcPts val="0"/>
              </a:spcBef>
            </a:pPr>
            <a:r>
              <a:rPr lang="sk-SK" b="1" dirty="0"/>
              <a:t>04:00 CEST</a:t>
            </a:r>
            <a:r>
              <a:rPr lang="sk-SK" dirty="0"/>
              <a:t> – Sieť v Španielsku je plne obnovená.</a:t>
            </a:r>
          </a:p>
          <a:p>
            <a:endParaRPr lang="sk-SK" dirty="0"/>
          </a:p>
        </p:txBody>
      </p:sp>
    </p:spTree>
    <p:extLst>
      <p:ext uri="{BB962C8B-B14F-4D97-AF65-F5344CB8AC3E}">
        <p14:creationId xmlns:p14="http://schemas.microsoft.com/office/powerpoint/2010/main" val="3812074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A0705-F725-8678-43E0-CAE36BEDB48F}"/>
              </a:ext>
            </a:extLst>
          </p:cNvPr>
          <p:cNvSpPr>
            <a:spLocks noGrp="1"/>
          </p:cNvSpPr>
          <p:nvPr>
            <p:ph type="title"/>
          </p:nvPr>
        </p:nvSpPr>
        <p:spPr>
          <a:xfrm>
            <a:off x="677334" y="609600"/>
            <a:ext cx="8596668" cy="758890"/>
          </a:xfrm>
        </p:spPr>
        <p:txBody>
          <a:bodyPr/>
          <a:lstStyle/>
          <a:p>
            <a:r>
              <a:rPr lang="sk-SK" dirty="0" err="1"/>
              <a:t>Blackout</a:t>
            </a:r>
            <a:r>
              <a:rPr lang="sk-SK" dirty="0"/>
              <a:t> – </a:t>
            </a:r>
            <a:r>
              <a:rPr lang="sk-SK" dirty="0" err="1"/>
              <a:t>Iberijský</a:t>
            </a:r>
            <a:r>
              <a:rPr lang="sk-SK" dirty="0"/>
              <a:t> </a:t>
            </a:r>
            <a:r>
              <a:rPr lang="sk-SK" dirty="0" err="1"/>
              <a:t>poloostrov</a:t>
            </a:r>
            <a:r>
              <a:rPr lang="sk-SK" dirty="0"/>
              <a:t> 28.4.2025</a:t>
            </a:r>
          </a:p>
        </p:txBody>
      </p:sp>
      <p:sp>
        <p:nvSpPr>
          <p:cNvPr id="3" name="Content Placeholder 2">
            <a:extLst>
              <a:ext uri="{FF2B5EF4-FFF2-40B4-BE49-F238E27FC236}">
                <a16:creationId xmlns:a16="http://schemas.microsoft.com/office/drawing/2014/main" id="{8F198351-432A-1643-DF40-F03C164066DB}"/>
              </a:ext>
            </a:extLst>
          </p:cNvPr>
          <p:cNvSpPr>
            <a:spLocks noGrp="1"/>
          </p:cNvSpPr>
          <p:nvPr>
            <p:ph idx="1"/>
          </p:nvPr>
        </p:nvSpPr>
        <p:spPr>
          <a:xfrm>
            <a:off x="677334" y="1368491"/>
            <a:ext cx="8596668" cy="4672872"/>
          </a:xfrm>
        </p:spPr>
        <p:txBody>
          <a:bodyPr/>
          <a:lstStyle/>
          <a:p>
            <a:r>
              <a:rPr lang="sk-SK" b="1" dirty="0"/>
              <a:t>Kolaps (12:33 CEST):</a:t>
            </a:r>
            <a:r>
              <a:rPr lang="sk-SK" dirty="0"/>
              <a:t> V priebehu niekoľkých sekúnd nastala úplná strata napätia v celom Španielsku a Portugalsku. Krátkodobo bola zasiahnutá aj časť juhozápadného Francúzska.</a:t>
            </a:r>
          </a:p>
          <a:p>
            <a:r>
              <a:rPr lang="sk-SK" b="1" dirty="0"/>
              <a:t>Paralýza krajiny:</a:t>
            </a:r>
            <a:r>
              <a:rPr lang="sk-SK" dirty="0"/>
              <a:t> * </a:t>
            </a:r>
            <a:r>
              <a:rPr lang="sk-SK" b="1" dirty="0"/>
              <a:t>Doprava:</a:t>
            </a:r>
            <a:r>
              <a:rPr lang="sk-SK" dirty="0"/>
              <a:t> V celom Španielsku uviazli vysokorýchlostné vlaky (AVE) aj metro v mestách ako Madrid a Barcelona.</a:t>
            </a:r>
          </a:p>
          <a:p>
            <a:pPr lvl="1"/>
            <a:r>
              <a:rPr lang="sk-SK" b="1" dirty="0"/>
              <a:t>Priemysel:</a:t>
            </a:r>
            <a:r>
              <a:rPr lang="sk-SK" dirty="0"/>
              <a:t> Rafinérie (napr. </a:t>
            </a:r>
            <a:r>
              <a:rPr lang="sk-SK" dirty="0" err="1"/>
              <a:t>Repsol</a:t>
            </a:r>
            <a:r>
              <a:rPr lang="sk-SK" dirty="0"/>
              <a:t> v </a:t>
            </a:r>
            <a:r>
              <a:rPr lang="sk-SK" dirty="0" err="1"/>
              <a:t>Cartagene</a:t>
            </a:r>
            <a:r>
              <a:rPr lang="sk-SK" dirty="0"/>
              <a:t>) a veľké továrne museli núdzovo odstaviť prevádzku.</a:t>
            </a:r>
          </a:p>
          <a:p>
            <a:pPr lvl="1"/>
            <a:r>
              <a:rPr lang="sk-SK" b="1" dirty="0"/>
              <a:t>Digitálne služby:</a:t>
            </a:r>
            <a:r>
              <a:rPr lang="sk-SK" dirty="0"/>
              <a:t> Výpadok mobilného signálu a internetu kvôli vybitiu záložných batérií v základňových staniciach.</a:t>
            </a:r>
          </a:p>
          <a:p>
            <a:r>
              <a:rPr lang="sk-SK" b="1" dirty="0"/>
              <a:t>Obnova:</a:t>
            </a:r>
            <a:r>
              <a:rPr lang="sk-SK" dirty="0"/>
              <a:t> * Využil sa tzv. </a:t>
            </a:r>
            <a:r>
              <a:rPr lang="sk-SK" b="1" dirty="0" err="1"/>
              <a:t>black</a:t>
            </a:r>
            <a:r>
              <a:rPr lang="sk-SK" b="1" dirty="0"/>
              <a:t> </a:t>
            </a:r>
            <a:r>
              <a:rPr lang="sk-SK" b="1" dirty="0" err="1"/>
              <a:t>start</a:t>
            </a:r>
            <a:r>
              <a:rPr lang="sk-SK" dirty="0"/>
              <a:t> (štart z tmy) pomocou vodných a najmä plynových elektrární, ktoré dokážu nabehnúť nezávisle od siete.</a:t>
            </a:r>
          </a:p>
          <a:p>
            <a:pPr lvl="1"/>
            <a:r>
              <a:rPr lang="sk-SK" dirty="0"/>
              <a:t>Prvé oblasti boli pripojené po 30 minútach, no plná obnova krajiny trvala približne </a:t>
            </a:r>
            <a:r>
              <a:rPr lang="sk-SK" b="1" dirty="0"/>
              <a:t>12 hodín</a:t>
            </a:r>
            <a:r>
              <a:rPr lang="sk-SK" dirty="0"/>
              <a:t>.</a:t>
            </a:r>
          </a:p>
          <a:p>
            <a:endParaRPr lang="sk-SK" dirty="0"/>
          </a:p>
        </p:txBody>
      </p:sp>
    </p:spTree>
    <p:extLst>
      <p:ext uri="{BB962C8B-B14F-4D97-AF65-F5344CB8AC3E}">
        <p14:creationId xmlns:p14="http://schemas.microsoft.com/office/powerpoint/2010/main" val="30673782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Otázky k testu – Havarijné riadenie ES</a:t>
            </a:r>
            <a:endParaRPr lang="en-US" dirty="0"/>
          </a:p>
        </p:txBody>
      </p:sp>
      <p:sp>
        <p:nvSpPr>
          <p:cNvPr id="3" name="Zástupný symbol obsahu 2"/>
          <p:cNvSpPr>
            <a:spLocks noGrp="1"/>
          </p:cNvSpPr>
          <p:nvPr>
            <p:ph idx="1"/>
          </p:nvPr>
        </p:nvSpPr>
        <p:spPr>
          <a:xfrm>
            <a:off x="677334" y="2135189"/>
            <a:ext cx="8596668" cy="3880773"/>
          </a:xfrm>
        </p:spPr>
        <p:txBody>
          <a:bodyPr/>
          <a:lstStyle/>
          <a:p>
            <a:pPr>
              <a:buFont typeface="+mj-lt"/>
              <a:buAutoNum type="arabicPeriod"/>
            </a:pPr>
            <a:r>
              <a:rPr lang="sk-SK" dirty="0"/>
              <a:t>Frekvenčná stabilita je:</a:t>
            </a:r>
          </a:p>
          <a:p>
            <a:pPr>
              <a:buFont typeface="+mj-lt"/>
              <a:buAutoNum type="arabicPeriod"/>
            </a:pPr>
            <a:r>
              <a:rPr lang="sk-SK" dirty="0"/>
              <a:t>Plán obrany ES je:</a:t>
            </a:r>
          </a:p>
          <a:p>
            <a:pPr>
              <a:buFont typeface="+mj-lt"/>
              <a:buAutoNum type="arabicPeriod"/>
            </a:pPr>
            <a:r>
              <a:rPr lang="sk-SK" dirty="0"/>
              <a:t>Plán obnovy ES je:</a:t>
            </a:r>
          </a:p>
          <a:p>
            <a:pPr>
              <a:buFont typeface="+mj-lt"/>
              <a:buAutoNum type="arabicPeriod"/>
            </a:pPr>
            <a:r>
              <a:rPr lang="sk-SK" dirty="0"/>
              <a:t>Pojmom </a:t>
            </a:r>
            <a:r>
              <a:rPr lang="sk-SK" dirty="0" err="1"/>
              <a:t>blackout</a:t>
            </a:r>
            <a:r>
              <a:rPr lang="sk-SK" dirty="0"/>
              <a:t> sa nazýva:</a:t>
            </a:r>
          </a:p>
          <a:p>
            <a:pPr>
              <a:buFont typeface="+mj-lt"/>
              <a:buAutoNum type="arabicPeriod"/>
            </a:pPr>
            <a:r>
              <a:rPr lang="sk-SK" dirty="0"/>
              <a:t>Čo je to Štart z tmy?</a:t>
            </a:r>
          </a:p>
          <a:p>
            <a:pPr>
              <a:buFont typeface="+mj-lt"/>
              <a:buAutoNum type="arabicPeriod"/>
            </a:pPr>
            <a:endParaRPr lang="sk-SK" dirty="0"/>
          </a:p>
          <a:p>
            <a:pPr>
              <a:buFont typeface="+mj-lt"/>
              <a:buAutoNum type="arabicPeriod"/>
            </a:pPr>
            <a:endParaRPr lang="sk-SK" dirty="0"/>
          </a:p>
        </p:txBody>
      </p:sp>
    </p:spTree>
    <p:extLst>
      <p:ext uri="{BB962C8B-B14F-4D97-AF65-F5344CB8AC3E}">
        <p14:creationId xmlns:p14="http://schemas.microsoft.com/office/powerpoint/2010/main" val="1773161919"/>
      </p:ext>
    </p:extLst>
  </p:cSld>
  <p:clrMapOvr>
    <a:masterClrMapping/>
  </p:clrMapOvr>
</p:sld>
</file>

<file path=ppt/theme/theme1.xml><?xml version="1.0" encoding="utf-8"?>
<a:theme xmlns:a="http://schemas.openxmlformats.org/drawingml/2006/main" name="Fazeta">
  <a:themeElements>
    <a:clrScheme name="Faz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z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z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Motív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946E8E2D702484CA408F021DEE2569A" ma:contentTypeVersion="10" ma:contentTypeDescription="Create a new document." ma:contentTypeScope="" ma:versionID="7a2812ca667d8c70d2a36b2e3d3b103a">
  <xsd:schema xmlns:xsd="http://www.w3.org/2001/XMLSchema" xmlns:xs="http://www.w3.org/2001/XMLSchema" xmlns:p="http://schemas.microsoft.com/office/2006/metadata/properties" xmlns:ns2="9b327846-e0b3-4ad6-9ca8-68ab1d718056" xmlns:ns3="701217ad-cad6-421a-ac01-78070839b6f6" targetNamespace="http://schemas.microsoft.com/office/2006/metadata/properties" ma:root="true" ma:fieldsID="1988e37045b8dc6db7d08572e240c743" ns2:_="" ns3:_="">
    <xsd:import namespace="9b327846-e0b3-4ad6-9ca8-68ab1d718056"/>
    <xsd:import namespace="701217ad-cad6-421a-ac01-78070839b6f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327846-e0b3-4ad6-9ca8-68ab1d7180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0de4301-b1da-46d0-bded-5f1fb5ebe3e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01217ad-cad6-421a-ac01-78070839b6f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cae3a00-ddd8-4b87-a85e-eacc516c3ca7}" ma:internalName="TaxCatchAll" ma:showField="CatchAllData" ma:web="701217ad-cad6-421a-ac01-78070839b6f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01217ad-cad6-421a-ac01-78070839b6f6" xsi:nil="true"/>
    <lcf76f155ced4ddcb4097134ff3c332f xmlns="9b327846-e0b3-4ad6-9ca8-68ab1d71805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83DB4F6-BD2D-417E-9AA9-DC565EA59A6D}"/>
</file>

<file path=customXml/itemProps2.xml><?xml version="1.0" encoding="utf-8"?>
<ds:datastoreItem xmlns:ds="http://schemas.openxmlformats.org/officeDocument/2006/customXml" ds:itemID="{CEA0EE95-88DF-4B05-822A-2AF7B98E889B}"/>
</file>

<file path=customXml/itemProps3.xml><?xml version="1.0" encoding="utf-8"?>
<ds:datastoreItem xmlns:ds="http://schemas.openxmlformats.org/officeDocument/2006/customXml" ds:itemID="{FC210F15-76B2-411D-AB59-B8E6EB2AC530}"/>
</file>

<file path=docProps/app.xml><?xml version="1.0" encoding="utf-8"?>
<Properties xmlns="http://schemas.openxmlformats.org/officeDocument/2006/extended-properties" xmlns:vt="http://schemas.openxmlformats.org/officeDocument/2006/docPropsVTypes">
  <Template>Facet</Template>
  <TotalTime>25683</TotalTime>
  <Words>5490</Words>
  <Application>Microsoft Office PowerPoint</Application>
  <PresentationFormat>Widescreen</PresentationFormat>
  <Paragraphs>237</Paragraphs>
  <Slides>51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Cambria Math</vt:lpstr>
      <vt:lpstr>Trebuchet MS</vt:lpstr>
      <vt:lpstr>Wingdings 3</vt:lpstr>
      <vt:lpstr>Fazeta</vt:lpstr>
      <vt:lpstr>Dynamika elektrizačných sústav 7. Týždeň: Havarijné riadenie elektrizačných sústav </vt:lpstr>
      <vt:lpstr>Frekvenčná stabilita</vt:lpstr>
      <vt:lpstr>Stavy elektrizačnej sústavy</vt:lpstr>
      <vt:lpstr>Normálny stav</vt:lpstr>
      <vt:lpstr>Stav ohrozenia</vt:lpstr>
      <vt:lpstr>Stav núdze</vt:lpstr>
      <vt:lpstr>Stav bez napätia - blackout</vt:lpstr>
      <vt:lpstr>Stav obnovy</vt:lpstr>
      <vt:lpstr>PLÁN OBRANY</vt:lpstr>
      <vt:lpstr>PLÁN OBRANY</vt:lpstr>
      <vt:lpstr>PLÁN OBRANY</vt:lpstr>
      <vt:lpstr>PLÁN OBRANY</vt:lpstr>
      <vt:lpstr>Opatrenia proti poklesom a nárastom frekvencie v ES SR </vt:lpstr>
      <vt:lpstr>Normálne frekvenčné pásmo</vt:lpstr>
      <vt:lpstr>Abnormálna frekvencia v ES SR</vt:lpstr>
      <vt:lpstr>Prevádzka zdrojov na výrobu elektriny pri abnormálnej frekvencii </vt:lpstr>
      <vt:lpstr>Prevádzka jadrových elektrární JE pri abnormálnej frekvencii</vt:lpstr>
      <vt:lpstr>Prevádzka elektrární na fosílne palivá FE pri abnormálnej frekvencii</vt:lpstr>
      <vt:lpstr>Prevádzka nesystémových elektrární na fosílne palivá FE pri abnormálnej frekvencii</vt:lpstr>
      <vt:lpstr>Prevádzka prečerpávacích vodných elektrární PVE pri abnormálnej frekvencii</vt:lpstr>
      <vt:lpstr>Riadenie ES SR pri zvýšenej frekvencii</vt:lpstr>
      <vt:lpstr>Riadenie ES SR pri zníženej frekvencii</vt:lpstr>
      <vt:lpstr>Riadenie ES SR pri zníženej frekvencii</vt:lpstr>
      <vt:lpstr>Riadenie ES SR pri zníženej frekvencii</vt:lpstr>
      <vt:lpstr>Riadenie zdrojov ES SR pri abnormálnej frekvencii</vt:lpstr>
      <vt:lpstr>Riadenie zdrojov ES SR pri abnormálnej frekvencii</vt:lpstr>
      <vt:lpstr>PLÁN OBRANY - ostatné</vt:lpstr>
      <vt:lpstr>PLÁN OBRANY – vznik a eskalácia porúch v sústave</vt:lpstr>
      <vt:lpstr>PLÁN OBRANY – vznik a eskalácia porúch v sústave</vt:lpstr>
      <vt:lpstr>PLÁN OBNOVY</vt:lpstr>
      <vt:lpstr>PLÁN OBNOVY</vt:lpstr>
      <vt:lpstr>PLÁN OBNOVY</vt:lpstr>
      <vt:lpstr>PLÁN OBNOVY</vt:lpstr>
      <vt:lpstr>PLÁN OBNOVY</vt:lpstr>
      <vt:lpstr>PLÁN OBNOVY</vt:lpstr>
      <vt:lpstr>PLÁN OBNOVY</vt:lpstr>
      <vt:lpstr>PLÁN OBNOVY</vt:lpstr>
      <vt:lpstr>Obnova prevádzky ES SR zo zahraničných zdrojov</vt:lpstr>
      <vt:lpstr>Obnova prevádzky ES SR z domácich zdrojov</vt:lpstr>
      <vt:lpstr>Obnova prevádzky ES SR z domácich zdrojov</vt:lpstr>
      <vt:lpstr>Obnova prevádzky ES SR z domácich zdrojov</vt:lpstr>
      <vt:lpstr>Obnova prevádzky ES SR z domácich zdrojov</vt:lpstr>
      <vt:lpstr>Obnova prevádzky ES SR z domácich zdrojov</vt:lpstr>
      <vt:lpstr>Blackout – Taliansko 2003</vt:lpstr>
      <vt:lpstr>Blackout – Ontario, New York 2003</vt:lpstr>
      <vt:lpstr>Blackout – Iberijský poloostrov 28.4.2025</vt:lpstr>
      <vt:lpstr>Blackout – Iberijský poloostrov 28.4.2025</vt:lpstr>
      <vt:lpstr>PowerPoint Presentation</vt:lpstr>
      <vt:lpstr>Blackout – Iberijský poloostrov 28.4.2025</vt:lpstr>
      <vt:lpstr>Blackout – Iberijský poloostrov 28.4.2025</vt:lpstr>
      <vt:lpstr>Otázky k testu – Havarijné riadenie 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Dynamika elektrizačných sústav 2. Týždeň: Synchrónny generátor, budenie </dc:title>
  <dc:creator>Martin Ernek</dc:creator>
  <cp:lastModifiedBy>Martin Ernek</cp:lastModifiedBy>
  <cp:revision>295</cp:revision>
  <dcterms:created xsi:type="dcterms:W3CDTF">2021-08-17T07:33:29Z</dcterms:created>
  <dcterms:modified xsi:type="dcterms:W3CDTF">2026-04-09T07:26:50Z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0x010100F946E8E2D702484CA408F021DEE2569A</vt:lpwstr>
  </property>
</Properties>
</file>