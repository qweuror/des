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3660" r:id="rId1"/>
  </p:sldMasterIdLst>
  <p:notesMasterIdLst>
    <p:notesMasterId r:id="rId27"/>
  </p:notesMasterIdLst>
  <p:sldIdLst>
    <p:sldId id="257" r:id="rId2"/>
    <p:sldId id="348" r:id="rId3"/>
    <p:sldId id="349" r:id="rId4"/>
    <p:sldId id="350" r:id="rId5"/>
    <p:sldId id="341" r:id="rId6"/>
    <p:sldId id="340" r:id="rId7"/>
    <p:sldId id="342" r:id="rId8"/>
    <p:sldId id="343" r:id="rId9"/>
    <p:sldId id="344" r:id="rId10"/>
    <p:sldId id="345" r:id="rId11"/>
    <p:sldId id="346" r:id="rId12"/>
    <p:sldId id="347" r:id="rId13"/>
    <p:sldId id="351" r:id="rId14"/>
    <p:sldId id="352" r:id="rId15"/>
    <p:sldId id="353" r:id="rId16"/>
    <p:sldId id="354" r:id="rId17"/>
    <p:sldId id="355" r:id="rId18"/>
    <p:sldId id="356" r:id="rId19"/>
    <p:sldId id="362" r:id="rId20"/>
    <p:sldId id="357" r:id="rId21"/>
    <p:sldId id="358" r:id="rId22"/>
    <p:sldId id="359" r:id="rId23"/>
    <p:sldId id="360" r:id="rId24"/>
    <p:sldId id="361" r:id="rId25"/>
    <p:sldId id="28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tin Ernek" initials="ME" lastIdx="4" clrIdx="0">
    <p:extLst>
      <p:ext uri="{19B8F6BF-5375-455C-9EA6-DF929625EA0E}">
        <p15:presenceInfo xmlns:p15="http://schemas.microsoft.com/office/powerpoint/2012/main" userId="Martin Ern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518" autoAdjust="0"/>
    <p:restoredTop sz="94714" autoAdjust="0"/>
  </p:normalViewPr>
  <p:slideViewPr>
    <p:cSldViewPr snapToGrid="0">
      <p:cViewPr varScale="1">
        <p:scale>
          <a:sx n="67" d="100"/>
          <a:sy n="67" d="100"/>
        </p:scale>
        <p:origin x="39" y="4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hlavičk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Zástupný symbol dátum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07E61-9030-4CA0-B221-889846E31DE6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Zástupný symbol obrazu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Zástupný symbol poznámo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29A903-7947-4FD4-B0C8-A12B2CAB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65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azu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oznámo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FE940-ED10-4003-8467-34CB6679BD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41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k-SK"/>
              <a:t>Upravte štýl predlohy podnadpisov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38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9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10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94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98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80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36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47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k-SK"/>
              <a:t>Ak chcete pridať obrázok, kliknite na ikonu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07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ov a p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878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nuka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5074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s náz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871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s názvom ponu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0727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alebo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52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238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47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F350D-D4C3-4D1C-AC05-9244C4B3CE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5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Dynamika elektrizačných sústav</a:t>
            </a:r>
            <a:br>
              <a:rPr lang="en-US" dirty="0"/>
            </a:br>
            <a:r>
              <a:rPr lang="en-US" sz="2800" dirty="0"/>
              <a:t>6</a:t>
            </a:r>
            <a:r>
              <a:rPr lang="sk-SK" sz="2800" dirty="0"/>
              <a:t>. Týždeň: Regulácia elektrizačných sústav</a:t>
            </a:r>
            <a:br>
              <a:rPr lang="sk-SK" dirty="0"/>
            </a:br>
            <a:endParaRPr lang="sk-SK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sk-SK" dirty="0"/>
              <a:t>Študijný program: Robotika a kybernetika</a:t>
            </a:r>
          </a:p>
          <a:p>
            <a:r>
              <a:rPr lang="sk-SK" dirty="0"/>
              <a:t>202</a:t>
            </a:r>
            <a:r>
              <a:rPr lang="en-US" dirty="0"/>
              <a:t>6</a:t>
            </a:r>
            <a:endParaRPr lang="sk-SK" dirty="0"/>
          </a:p>
          <a:p>
            <a:r>
              <a:rPr lang="en-US" dirty="0"/>
              <a:t>Doc. </a:t>
            </a:r>
            <a:r>
              <a:rPr lang="sk-SK" dirty="0"/>
              <a:t>Ing. Martin Ernek PhD.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33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ADCC-262B-124C-8756-0D13E98C7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Matematický opis SG pracujúceho v 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F5205A-5BC4-B94C-94BE-18E69EBF06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k-SK" dirty="0"/>
                  <a:t>Opis SG pracujúceho v ES:</a:t>
                </a:r>
              </a:p>
              <a:p>
                <a:endParaRPr lang="sk-SK" dirty="0"/>
              </a:p>
              <a:p>
                <a:r>
                  <a:rPr lang="sk-SK" dirty="0"/>
                  <a:t>Pohybová rovnica i-</a:t>
                </a:r>
                <a:r>
                  <a:rPr lang="sk-SK" dirty="0" err="1"/>
                  <a:t>teho</a:t>
                </a:r>
                <a:r>
                  <a:rPr lang="sk-SK" dirty="0"/>
                  <a:t> SG: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k-SK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𝑑</m:t>
                            </m:r>
                          </m:e>
                          <m:sup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𝛿</m:t>
                            </m:r>
                          </m:e>
                          <m:sub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  <m:sSup>
                          <m:sSupPr>
                            <m:ctrlP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p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sk-SK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  <m:sSub>
                          <m:sSubPr>
                            <m:ctrlP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𝛿</m:t>
                            </m:r>
                          </m:e>
                          <m:sub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𝑑𝑡</m:t>
                        </m:r>
                      </m:den>
                    </m:f>
                    <m:r>
                      <a:rPr lang="sk-SK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𝑚𝑖</m:t>
                        </m:r>
                      </m:sub>
                    </m:sSub>
                    <m:r>
                      <a:rPr lang="sk-SK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𝑒𝑖</m:t>
                        </m:r>
                      </m:sub>
                    </m:sSub>
                  </m:oMath>
                </a14:m>
                <a:endParaRPr lang="sk-SK" dirty="0">
                  <a:solidFill>
                    <a:schemeClr val="tx1"/>
                  </a:solidFill>
                </a:endParaRPr>
              </a:p>
              <a:p>
                <a:r>
                  <a:rPr lang="sk-SK" dirty="0">
                    <a:solidFill>
                      <a:schemeClr val="tx1"/>
                    </a:solidFill>
                  </a:rPr>
                  <a:t>Činný výkon i-</a:t>
                </a:r>
                <a:r>
                  <a:rPr lang="sk-SK" dirty="0" err="1">
                    <a:solidFill>
                      <a:schemeClr val="tx1"/>
                    </a:solidFill>
                  </a:rPr>
                  <a:t>teho</a:t>
                </a:r>
                <a:r>
                  <a:rPr lang="sk-SK" dirty="0">
                    <a:solidFill>
                      <a:schemeClr val="tx1"/>
                    </a:solidFill>
                  </a:rPr>
                  <a:t> SG: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𝑒𝑖</m:t>
                        </m:r>
                      </m:sub>
                    </m:sSub>
                    <m:r>
                      <a:rPr lang="sk-SK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  <m:sub/>
                      <m:sup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𝑖𝑖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eqArr>
                          <m:eqArr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brk m:alnAt="23"/>
                              </m:rP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𝑗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=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𝑗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e>
                        </m:eqAr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func>
                          <m:funcPr>
                            <m:ctrlP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sk-SK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sk-SK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k-SK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k-SK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sk-SK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sk-SK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sk-SK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sk-SK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sk-SK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=</m:t>
                            </m:r>
                          </m:e>
                        </m:func>
                      </m:e>
                    </m:nary>
                    <m:sSubSup>
                      <m:sSubSupPr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  <m:sub/>
                      <m:sup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𝑖𝑖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eqArr>
                          <m:eqArr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brk m:alnAt="23"/>
                              </m:rP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𝑗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=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e>
                          <m:e/>
                        </m:eqAr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sk-SK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sk-SK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sk-SK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sk-SK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sk-SK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sk-SK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sk-SK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sk-SK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sk-SK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sin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sk-SK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sk-SK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sk-SK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sk-SK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sk-SK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sk-SK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x-non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F5205A-5BC4-B94C-94BE-18E69EBF06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7" t="-326" b="-5212"/>
                </a:stretch>
              </a:blipFill>
            </p:spPr>
            <p:txBody>
              <a:bodyPr/>
              <a:lstStyle/>
              <a:p>
                <a:r>
                  <a:rPr lang="en-S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8870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0BE40E3-5550-4CDD-B4FD-387C33EBF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1A6B738-E50C-4653-B343-B9D6A5EA2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8768D6-B28C-40A3-B381-39306F58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B27C15B9-7795-4321-AB30-DF1DEF65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578EC957-1F3F-4C00-B023-C8725C21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3D642632-BBD5-46D6-A91D-9B2BF682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BF9D518D-AFF5-4DE2-AEE2-0EC15479A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14EF979B-B00D-460C-BD56-7EEAFB7E0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3E40F9A1-6B82-400F-9397-26D1D36F1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2EF7DDF1-FF86-4CA4-B08B-8939557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6D7C1F89-72B2-4FDC-B9E2-04F52D5C5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8FF19327-607A-064D-9536-0F01ED4ED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Prepojená 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808165-AFD7-F64C-AC81-D5A94A644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09563" y="2160589"/>
            <a:ext cx="4064439" cy="38807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Pracuje podobne ako fabrika, ktorá má jeden pohon pre všetky obrábacie stroje</a:t>
            </a:r>
          </a:p>
          <a:p>
            <a:r>
              <a:rPr lang="en-US"/>
              <a:t>Pokiaľ dodávame rovnaký moment na hnací hriadeľ a zaťažíme obrábací stroj, klesnú otáčky hriadeľa</a:t>
            </a:r>
          </a:p>
          <a:p>
            <a:r>
              <a:rPr lang="en-US"/>
              <a:t>Ak obrábací stroj uvoľníme, otáčky stúpnu</a:t>
            </a:r>
          </a:p>
        </p:txBody>
      </p:sp>
      <p:pic>
        <p:nvPicPr>
          <p:cNvPr id="7" name="Zástupný symbol obsahu 3">
            <a:extLst>
              <a:ext uri="{FF2B5EF4-FFF2-40B4-BE49-F238E27FC236}">
                <a16:creationId xmlns:a16="http://schemas.microsoft.com/office/drawing/2014/main" id="{6F231F4A-424D-3F41-8837-9BEB4A9259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16" r="29610" b="-1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0657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443A0-7E27-4B48-AB44-223F2FD13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Prepojená 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DCC56-C9BD-6942-8C89-1BF8ACC7A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/>
              <a:t>Podobne platí aj pre ES</a:t>
            </a:r>
          </a:p>
          <a:p>
            <a:r>
              <a:rPr lang="x-none" dirty="0"/>
              <a:t>Ak zvýšime spotrebu a nezvýšime výrobu, klesne frekvencia ES</a:t>
            </a:r>
          </a:p>
          <a:p>
            <a:r>
              <a:rPr lang="x-none" dirty="0"/>
              <a:t>Ak znížime spotrebu a neznížime výrobu, stúpne frekvencia ES</a:t>
            </a:r>
          </a:p>
          <a:p>
            <a:r>
              <a:rPr lang="x-none" dirty="0"/>
              <a:t>Bilanciu medzi spotrebou a výrobou v normálnej prevádzke ES zaisťujeme pomocou popdporných služieb </a:t>
            </a:r>
          </a:p>
          <a:p>
            <a:endParaRPr lang="x-none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567090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A924A-535B-4B44-8787-ED6D3CC1D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Regulácie 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4D3CF-EC07-0647-9CAC-ECFC9B764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/>
              <a:t>Regulácia veličín v ES je založená na tzv. </a:t>
            </a:r>
            <a:r>
              <a:rPr lang="sk-SK" dirty="0"/>
              <a:t>podporných</a:t>
            </a:r>
            <a:r>
              <a:rPr lang="x-none" dirty="0"/>
              <a:t> službách PpS, ktorú zabezpečuje prevádzkovateľ prenosovej sústavy PPS</a:t>
            </a:r>
          </a:p>
          <a:p>
            <a:r>
              <a:rPr lang="x-none" dirty="0"/>
              <a:t>V rámci ES SR je prevád</a:t>
            </a:r>
            <a:r>
              <a:rPr lang="sk-SK" dirty="0"/>
              <a:t>z</a:t>
            </a:r>
            <a:r>
              <a:rPr lang="x-none" dirty="0"/>
              <a:t>kovateľom prenosovej sústavy PPS spoločnosť SEPS a.s.</a:t>
            </a:r>
          </a:p>
          <a:p>
            <a:r>
              <a:rPr lang="sk-SK" dirty="0"/>
              <a:t>PPS nakupuje </a:t>
            </a:r>
            <a:r>
              <a:rPr lang="sk-SK" dirty="0" err="1"/>
              <a:t>PpS</a:t>
            </a:r>
            <a:r>
              <a:rPr lang="sk-SK" dirty="0"/>
              <a:t> od poskytovateľov </a:t>
            </a:r>
            <a:r>
              <a:rPr lang="sk-SK" dirty="0" err="1"/>
              <a:t>PpS</a:t>
            </a:r>
            <a:r>
              <a:rPr lang="sk-SK" dirty="0"/>
              <a:t>, ktorí́ spĺňajú́ technické́ a obchodné podmienky, na základe „Rámcovej zmluvy o poskytovaní́ podporných služieb a dodávke regulačnej elektriny“ na príslušný́ rok. </a:t>
            </a:r>
          </a:p>
          <a:p>
            <a:r>
              <a:rPr lang="sk-SK" dirty="0"/>
              <a:t>Výrobca elektriny je podľa Zákona o energetike povinný́ inštalovať̌ a priebežne certifikovať̌ zariadenia na poskytovanie </a:t>
            </a:r>
            <a:r>
              <a:rPr lang="sk-SK" dirty="0" err="1"/>
              <a:t>PpS</a:t>
            </a:r>
            <a:r>
              <a:rPr lang="sk-SK" dirty="0"/>
              <a:t>, ak celkový́ inštalovaný́ elektrický výkon zariadenia na výrobu elektriny je vyšší́ ako 50 MW. </a:t>
            </a:r>
          </a:p>
          <a:p>
            <a:r>
              <a:rPr lang="sk-SK" dirty="0" err="1"/>
              <a:t>PpS</a:t>
            </a:r>
            <a:r>
              <a:rPr lang="sk-SK" dirty="0"/>
              <a:t> je nutné pravidelne certifikovať pre preukázanie účinnosti.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700485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63781-DF8D-3F41-818A-39DB9317D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Štruktúra riadenia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8EB9C-6B2E-8043-AA77-1DD209CE10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224866" cy="3880772"/>
          </a:xfrm>
        </p:spPr>
        <p:txBody>
          <a:bodyPr/>
          <a:lstStyle/>
          <a:p>
            <a:r>
              <a:rPr lang="x-none" dirty="0"/>
              <a:t>Regulácia výkonu a frekvencie:</a:t>
            </a:r>
          </a:p>
          <a:p>
            <a:pPr lvl="1"/>
            <a:r>
              <a:rPr lang="x-none" dirty="0"/>
              <a:t>Regulátor výkonu</a:t>
            </a:r>
          </a:p>
          <a:p>
            <a:pPr lvl="1"/>
            <a:r>
              <a:rPr lang="x-none" dirty="0"/>
              <a:t>Primárna regulácia výkonu </a:t>
            </a:r>
            <a:r>
              <a:rPr lang="en-US" dirty="0"/>
              <a:t>FCR(</a:t>
            </a:r>
            <a:r>
              <a:rPr lang="x-none" dirty="0"/>
              <a:t>PRV</a:t>
            </a:r>
            <a:r>
              <a:rPr lang="en-US" dirty="0"/>
              <a:t>)</a:t>
            </a:r>
            <a:r>
              <a:rPr lang="x-none" dirty="0"/>
              <a:t>, korektor frekvencie</a:t>
            </a:r>
          </a:p>
          <a:p>
            <a:pPr lvl="1"/>
            <a:r>
              <a:rPr lang="x-none" dirty="0"/>
              <a:t>Sekundárna regulácia výkonu </a:t>
            </a:r>
            <a:r>
              <a:rPr lang="en-US" dirty="0" err="1"/>
              <a:t>aFRR</a:t>
            </a:r>
            <a:r>
              <a:rPr lang="en-US" dirty="0"/>
              <a:t>+ a </a:t>
            </a:r>
            <a:r>
              <a:rPr lang="en-US" dirty="0" err="1"/>
              <a:t>aFRR</a:t>
            </a:r>
            <a:r>
              <a:rPr lang="en-US" dirty="0"/>
              <a:t>- (</a:t>
            </a:r>
            <a:r>
              <a:rPr lang="en-GB" dirty="0"/>
              <a:t>SRV+, SRV-) </a:t>
            </a:r>
            <a:endParaRPr lang="x-none" dirty="0"/>
          </a:p>
          <a:p>
            <a:pPr lvl="1"/>
            <a:r>
              <a:rPr lang="x-none" dirty="0"/>
              <a:t>Terciárna regulácia výkonu </a:t>
            </a:r>
            <a:r>
              <a:rPr lang="en-GB" dirty="0"/>
              <a:t>mFRR3+, mFRR3-, </a:t>
            </a:r>
            <a:r>
              <a:rPr lang="en-GB" dirty="0" err="1"/>
              <a:t>mFRR</a:t>
            </a:r>
            <a:r>
              <a:rPr lang="en-GB" dirty="0"/>
              <a:t>+ a </a:t>
            </a:r>
            <a:r>
              <a:rPr lang="en-GB" dirty="0" err="1"/>
              <a:t>mFRR</a:t>
            </a:r>
            <a:r>
              <a:rPr lang="en-GB" dirty="0"/>
              <a:t>- (TRV15MIN+, TRV15MIN-, TRV10MIN+, TRV10MIN-</a:t>
            </a:r>
            <a:r>
              <a:rPr lang="en-US" dirty="0"/>
              <a:t>)</a:t>
            </a:r>
            <a:endParaRPr lang="x-non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FA8B74-5ACE-824F-A5B9-149D8D64BD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x-none" dirty="0"/>
              <a:t>Regulácia napätia:</a:t>
            </a:r>
          </a:p>
          <a:p>
            <a:pPr lvl="1"/>
            <a:r>
              <a:rPr lang="x-none" dirty="0"/>
              <a:t>Primárna regulácia napätia, budenie</a:t>
            </a:r>
          </a:p>
          <a:p>
            <a:pPr lvl="1"/>
            <a:r>
              <a:rPr lang="x-none" dirty="0"/>
              <a:t>Sekundárna regulácia napätia</a:t>
            </a:r>
          </a:p>
          <a:p>
            <a:pPr marL="0" indent="0">
              <a:buNone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244506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F9B2E-4AC5-A74D-9D91-68265F76E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Primárna regulácia napätia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F04F41-41C2-744E-87D9-510DCBA22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/>
              <a:t>Poskytovanie primárnej regulácie napätia sa týka všetkých generátorov s mentovitým výkonom ≥ 50 MVA</a:t>
            </a:r>
          </a:p>
          <a:p>
            <a:r>
              <a:rPr lang="x-none" dirty="0"/>
              <a:t>Pre preukázanie činnosti je potrebné vykonať a vyhodnotiť nasledovné merania:</a:t>
            </a:r>
          </a:p>
          <a:p>
            <a:pPr lvl="1"/>
            <a:r>
              <a:rPr lang="sk-SK" dirty="0"/>
              <a:t>Namerané frekvenčné́ charakteristiky činného výkonu pri nominálnom činnom výkone s vypnutým aj zapnutým stabilizátorom výkonu (</a:t>
            </a:r>
            <a:r>
              <a:rPr lang="sk-SK" dirty="0" err="1"/>
              <a:t>Power</a:t>
            </a:r>
            <a:r>
              <a:rPr lang="sk-SK" dirty="0"/>
              <a:t> </a:t>
            </a:r>
            <a:r>
              <a:rPr lang="sk-SK" dirty="0" err="1"/>
              <a:t>System</a:t>
            </a:r>
            <a:r>
              <a:rPr lang="sk-SK" dirty="0"/>
              <a:t> </a:t>
            </a:r>
            <a:r>
              <a:rPr lang="sk-SK" dirty="0" err="1"/>
              <a:t>Stabilizer</a:t>
            </a:r>
            <a:r>
              <a:rPr lang="sk-SK" dirty="0"/>
              <a:t>, ďalej len „PSS“) v minimálnom rozsahu frekvencií (0,5Hz až 3,5Hz). </a:t>
            </a:r>
          </a:p>
          <a:p>
            <a:pPr lvl="1"/>
            <a:r>
              <a:rPr lang="sk-SK" dirty="0"/>
              <a:t>Namerané prechodové́ charakteristiky činného výkonu pri nominálnom činnom výkone s vypnutým aj zapnutým PSS a pri kladnej aj zápornej zmene žiadanej hodnoty svorkového napätia SG. </a:t>
            </a:r>
          </a:p>
          <a:p>
            <a:pPr lvl="1"/>
            <a:r>
              <a:rPr lang="sk-SK" dirty="0"/>
              <a:t>Vyhodnotenie účinnosti PSS z charakteristík z oboch meraní́. </a:t>
            </a:r>
          </a:p>
        </p:txBody>
      </p:sp>
    </p:spTree>
    <p:extLst>
      <p:ext uri="{BB962C8B-B14F-4D97-AF65-F5344CB8AC3E}">
        <p14:creationId xmlns:p14="http://schemas.microsoft.com/office/powerpoint/2010/main" val="1190067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ACFE2-7E5F-B244-9FC7-5B64208FC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Primárna regulácia napätia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A5E05-2838-BE42-A3C8-033C43E82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/>
              <a:t>Podmienky vyhodnotenia:</a:t>
            </a:r>
          </a:p>
          <a:p>
            <a:pPr lvl="1"/>
            <a:r>
              <a:rPr lang="sk-SK" dirty="0"/>
              <a:t>Modul frekvenčnej charakteristiky je menší́ ako 1 v celom rozsahu frekvencií a súčasne oba indexy kmitavosti sú menšie ako 0,5, potom je účinnosť̌ PSS výborná́. </a:t>
            </a:r>
          </a:p>
          <a:p>
            <a:pPr lvl="1"/>
            <a:r>
              <a:rPr lang="sk-SK" dirty="0"/>
              <a:t>Modul frekvenčnej charakteristiky je väčší́ ako 1 ale menší ako 1,5</a:t>
            </a:r>
            <a:br>
              <a:rPr lang="sk-SK" dirty="0"/>
            </a:br>
            <a:r>
              <a:rPr lang="sk-SK" dirty="0"/>
              <a:t>v rozsahu frekvencií menšom ako 1Hz a obidva indexy kmitavosti sú́ menšie ako 0,5, potom je účinnosť̌ PSS postačujúca. </a:t>
            </a:r>
          </a:p>
          <a:p>
            <a:pPr lvl="1"/>
            <a:r>
              <a:rPr lang="sk-SK" dirty="0"/>
              <a:t>Modul frekvenčnej charakteristiky je väčší ako 1,5 a aspoň jeden index kmitavosti je väčší́ ako 0,5, potom je účinnosť̌ PSS nepostačujúca. 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072784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4F102-BD96-D044-AC1B-0F615E414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Sekundárna regulácia napätia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D2683-6B9B-F542-9738-40719DED6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Sekundárna regulácia napätia SRN v pilotnom uzle zabezpečuje žiadané́ napätie v pilotnom uzle pomocou diaľkovej regulácie budenia generátora, reguláciou blokového transformátora a transformátora vlastnej spotreby s odbočkami </a:t>
            </a:r>
            <a:r>
              <a:rPr lang="sk-SK" dirty="0" err="1"/>
              <a:t>prepínateľnými</a:t>
            </a:r>
            <a:r>
              <a:rPr lang="sk-SK" dirty="0"/>
              <a:t> pod záťažou (ak sú k dispozícii) alebo možnou kompenzačnou prevádzkou. </a:t>
            </a:r>
          </a:p>
          <a:p>
            <a:endParaRPr lang="sk-SK" dirty="0"/>
          </a:p>
          <a:p>
            <a:r>
              <a:rPr lang="sk-SK" dirty="0"/>
              <a:t>SRN v pilotnom uzle sa zabezpečuje cez tzv. skupinový regulátor jalového výkonu generátorov. </a:t>
            </a:r>
          </a:p>
          <a:p>
            <a:r>
              <a:rPr lang="x-none" dirty="0"/>
              <a:t>Želaná hodnota SRN je napätie v pilotnom uzle, akčnou veličinou je požiadavka na výrobu jalového výkonu alebo zmena referenčnej hodnoty napätia primárneho regulátora </a:t>
            </a:r>
          </a:p>
        </p:txBody>
      </p:sp>
    </p:spTree>
    <p:extLst>
      <p:ext uri="{BB962C8B-B14F-4D97-AF65-F5344CB8AC3E}">
        <p14:creationId xmlns:p14="http://schemas.microsoft.com/office/powerpoint/2010/main" val="4247455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996F6-4F92-8346-A638-683F9FEB2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Sekundárna regulácia napätia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234E7-6E8C-F443-840F-3A9A8A235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/>
              <a:t>Požiadavky na SG pracujúce v SRN: </a:t>
            </a:r>
          </a:p>
          <a:p>
            <a:pPr lvl="1"/>
            <a:r>
              <a:rPr lang="x-none" dirty="0"/>
              <a:t>Regulátor napätia SG musí byť schopný dia</a:t>
            </a:r>
            <a:r>
              <a:rPr lang="sk-SK" dirty="0"/>
              <a:t>ľ</a:t>
            </a:r>
            <a:r>
              <a:rPr lang="x-none" dirty="0"/>
              <a:t>kovej regulácie napätia</a:t>
            </a:r>
          </a:p>
          <a:p>
            <a:pPr lvl="1"/>
            <a:r>
              <a:rPr lang="sk-SK" dirty="0"/>
              <a:t>Regulácia jalového výkonu paralelne pracujúcich generátorov musí byť tak zabezpečená, aby nedochádzalo k nežiaducemu vzájomnému ovplyvňovaniu jalového výkonu medzi generátormi. </a:t>
            </a:r>
          </a:p>
          <a:p>
            <a:pPr lvl="2"/>
            <a:r>
              <a:rPr lang="sk-SK" dirty="0"/>
              <a:t>Statická väzba od Q v riadiacom systéme budenia, slúži k rovnomernému  prerozdeleniu Q na jednotlivé generátory pracujúce do rovnakého uzla a ku zvýšeniu želanej hodnoty napätia, tak aby sa požadovaná zmena prejavila na sekundárnej strane blokového transformátora</a:t>
            </a:r>
          </a:p>
          <a:p>
            <a:pPr lvl="2"/>
            <a:r>
              <a:rPr lang="sk-SK" dirty="0"/>
              <a:t>Počas prevádzky SG v SRN býva v budiacom systéme vypnutá integračná zložka regulátora napätia</a:t>
            </a:r>
          </a:p>
          <a:p>
            <a:pPr lvl="1"/>
            <a:endParaRPr lang="sk-SK" dirty="0"/>
          </a:p>
          <a:p>
            <a:pPr lvl="1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809117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9">
            <a:extLst>
              <a:ext uri="{FF2B5EF4-FFF2-40B4-BE49-F238E27FC236}">
                <a16:creationId xmlns:a16="http://schemas.microsoft.com/office/drawing/2014/main" id="{1F2B4773-3207-44CC-B7AC-892B70498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B8267CA-A7A5-4E11-9D92-4EAC3DD3E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83D61B5-C6B4-4A4B-85AD-FEE7A5491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A0B67FE4-688F-4497-8BFD-157613A69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3BF5BE1A-9BAC-4581-A82B-FD8FE3159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971E5644-6772-414A-8199-E30BFB02A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E8246D50-BB0C-408E-93FD-7B8D63A7F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AFBC5D22-68C1-44FB-8181-CB84ECAA8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FB6D0FCE-FBDB-4655-A1A7-640B1E86B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C8157DF-FD90-4AD6-B803-3AC0ACD8E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548B067-9D63-4D21-92EF-CBC9E6338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DF8507F-5AB0-1443-B10F-228C93BA9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0445" y="609600"/>
            <a:ext cx="3183556" cy="1320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Sekundárna regulácia napätia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8F8108-A9D5-3A40-9A71-0CA3D871D0C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094410" y="2160589"/>
                <a:ext cx="3176589" cy="3880773"/>
              </a:xfrm>
            </p:spPr>
            <p:txBody>
              <a:bodyPr vert="horz" lIns="91440" tIns="45720" rIns="91440" bIns="45720" rtlCol="0">
                <a:normAutofit lnSpcReduction="10000"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sk-SK" sz="1500" dirty="0"/>
                  <a:t>Požiadavky na SRN: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sk-SK" sz="1500" dirty="0"/>
                  <a:t>ustálenie napätia v pilotnom uzle (Obr. B2.18) po skokovej zmene žiadanej hodnoty aperiodickým priebehom,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sk-SK" sz="1500" dirty="0"/>
                  <a:t>čas ustálenia napätia v pilotnom uzle (Obr. B2.18) po skokovej zmene žiadanej hodnoty tu – to ≤ 5 min,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sk-SK" sz="1500" dirty="0"/>
                  <a:t>presnosť̌ ustálenia </a:t>
                </a:r>
              </a:p>
              <a:p>
                <a:pPr lvl="2">
                  <a:lnSpc>
                    <a:spcPct val="90000"/>
                  </a:lnSpc>
                </a:pPr>
                <a:r>
                  <a:rPr lang="sk-SK" sz="1500" i="1" dirty="0" err="1"/>
                  <a:t>U</a:t>
                </a:r>
                <a:r>
                  <a:rPr lang="sk-SK" sz="1500" baseline="-25000" dirty="0" err="1"/>
                  <a:t>nPz</a:t>
                </a:r>
                <a:r>
                  <a:rPr lang="sk-SK" sz="1500" dirty="0"/>
                  <a:t> = </a:t>
                </a:r>
                <a:r>
                  <a:rPr lang="sk-SK" sz="1500" i="1" dirty="0" err="1"/>
                  <a:t>U</a:t>
                </a:r>
                <a:r>
                  <a:rPr lang="sk-SK" sz="1500" i="1" baseline="-25000" dirty="0" err="1"/>
                  <a:t>nP</a:t>
                </a:r>
                <a:r>
                  <a:rPr lang="sk-SK" sz="1500" i="1" dirty="0"/>
                  <a:t> </a:t>
                </a:r>
                <a14:m>
                  <m:oMath xmlns:m="http://schemas.openxmlformats.org/officeDocument/2006/math">
                    <m:r>
                      <a:rPr lang="sk-SK" sz="1500" i="1" smtClean="0">
                        <a:latin typeface="Cambria Math" panose="02040503050406030204" pitchFamily="18" charset="0"/>
                      </a:rPr>
                      <m:t>± </m:t>
                    </m:r>
                  </m:oMath>
                </a14:m>
                <a:r>
                  <a:rPr lang="sk-SK" sz="1500" dirty="0"/>
                  <a:t>1,5 kV pre úroveň 400 kV, </a:t>
                </a:r>
              </a:p>
              <a:p>
                <a:pPr lvl="2">
                  <a:lnSpc>
                    <a:spcPct val="90000"/>
                  </a:lnSpc>
                </a:pPr>
                <a:r>
                  <a:rPr lang="sk-SK" sz="1500" i="1" dirty="0" err="1"/>
                  <a:t>U</a:t>
                </a:r>
                <a:r>
                  <a:rPr lang="sk-SK" sz="1500" baseline="-25000" dirty="0" err="1"/>
                  <a:t>nPz</a:t>
                </a:r>
                <a:r>
                  <a:rPr lang="sk-SK" sz="1500" dirty="0"/>
                  <a:t> = </a:t>
                </a:r>
                <a:r>
                  <a:rPr lang="sk-SK" sz="1500" i="1" dirty="0" err="1"/>
                  <a:t>U</a:t>
                </a:r>
                <a:r>
                  <a:rPr lang="sk-SK" sz="1500" i="1" baseline="-25000" dirty="0" err="1"/>
                  <a:t>nP</a:t>
                </a:r>
                <a:r>
                  <a:rPr lang="sk-SK" sz="1500" i="1" dirty="0"/>
                  <a:t> </a:t>
                </a:r>
                <a14:m>
                  <m:oMath xmlns:m="http://schemas.openxmlformats.org/officeDocument/2006/math">
                    <m:r>
                      <a:rPr lang="sk-SK" sz="1500" i="1" smtClean="0">
                        <a:latin typeface="Cambria Math" panose="02040503050406030204" pitchFamily="18" charset="0"/>
                      </a:rPr>
                      <m:t>± </m:t>
                    </m:r>
                  </m:oMath>
                </a14:m>
                <a:r>
                  <a:rPr lang="sk-SK" sz="1500" dirty="0"/>
                  <a:t>0,7 kV pre úroveň 220 kV, </a:t>
                </a:r>
              </a:p>
              <a:p>
                <a:pPr>
                  <a:lnSpc>
                    <a:spcPct val="90000"/>
                  </a:lnSpc>
                </a:pPr>
                <a:endParaRPr lang="sk-SK" sz="1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8F8108-A9D5-3A40-9A71-0CA3D871D0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94410" y="2160589"/>
                <a:ext cx="3176589" cy="3880773"/>
              </a:xfrm>
              <a:blipFill>
                <a:blip r:embed="rId2"/>
                <a:stretch>
                  <a:fillRect t="-1303" r="-1594"/>
                </a:stretch>
              </a:blipFill>
            </p:spPr>
            <p:txBody>
              <a:bodyPr/>
              <a:lstStyle/>
              <a:p>
                <a:r>
                  <a:rPr lang="en-S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7" descr="Diagram&#10;&#10;Description automatically generated">
            <a:extLst>
              <a:ext uri="{FF2B5EF4-FFF2-40B4-BE49-F238E27FC236}">
                <a16:creationId xmlns:a16="http://schemas.microsoft.com/office/drawing/2014/main" id="{2915BED1-8835-AE47-BFB1-98EC431FD92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99814" y="1999216"/>
            <a:ext cx="5062993" cy="284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365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213B-6AFE-E94A-AC31-F996D551B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FCR - </a:t>
            </a:r>
            <a:r>
              <a:rPr lang="x-none" dirty="0"/>
              <a:t>Primárna regulácia výkonu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CC55D-96A4-3347-A5A2-86D4B0482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Primárna regulácia činného výkonu a frekvencie udržiava rovnováhu medzi výrobou a spotrebou elektrickej energie v rámci synchrónnej oblasti pomocou regulácie otáčok alebo činného výkonu zariadenia poskytujúceho </a:t>
            </a:r>
            <a:r>
              <a:rPr lang="sk-SK" dirty="0" err="1"/>
              <a:t>PpS</a:t>
            </a:r>
            <a:r>
              <a:rPr lang="sk-SK" dirty="0"/>
              <a:t>. </a:t>
            </a:r>
          </a:p>
          <a:p>
            <a:endParaRPr lang="sk-SK" dirty="0"/>
          </a:p>
          <a:p>
            <a:r>
              <a:rPr lang="sk-SK" dirty="0"/>
              <a:t>Cieľom FCR je zaistenie prevádzkovej bezpečnosti energetického systému v synchrónnej oblasti a stabilizácia systémovej frekvencie na rovnovážnej hodnote po poruche v časovom rámci desiatok sekúnd, ale bez toho, že by obnovila žiadanú́ hodnotu plánovaných výmen činných výkonov (salda). </a:t>
            </a:r>
          </a:p>
          <a:p>
            <a:endParaRPr lang="sk-SK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007556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0A78-E96D-F442-9C4D-814FBC07C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FCR - </a:t>
            </a:r>
            <a:r>
              <a:rPr lang="x-none" dirty="0"/>
              <a:t>Primárna regulácia výkonu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D11FF7-C4DB-E946-B822-1FAE2AA248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k-SK" dirty="0"/>
                  <a:t>Zvýšenie (zníženie) mechanického výkonu </a:t>
                </a:r>
                <a:r>
                  <a:rPr lang="sk-SK" dirty="0" err="1"/>
                  <a:t>generátorických</a:t>
                </a:r>
                <a:r>
                  <a:rPr lang="sk-SK" dirty="0"/>
                  <a:t> jednotiek je inverzne proporcionálne závislé od statickej charakteristiky korektora frekvencie. Matematický opis deja po poklese frekvencie možno zapísať nasledovne: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sk-SK" dirty="0"/>
              </a:p>
              <a:p>
                <a14:m>
                  <m:oMath xmlns:m="http://schemas.openxmlformats.org/officeDocument/2006/math">
                    <m:r>
                      <a:rPr lang="sk-SK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sk-SK" dirty="0"/>
                  <a:t> – statika korektora frekvencie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sk-SK" dirty="0"/>
                  <a:t> – zmena frekvencie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sk-SK" dirty="0"/>
                  <a:t> - zmena výkonu generátora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sk-SK" dirty="0"/>
                  <a:t> - nominálny výkon generátora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sk-SK" dirty="0"/>
                  <a:t> - nominálna frekvencia siete, 50Hz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D11FF7-C4DB-E946-B822-1FAE2AA248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7" t="-326" b="-977"/>
                </a:stretch>
              </a:blipFill>
            </p:spPr>
            <p:txBody>
              <a:bodyPr/>
              <a:lstStyle/>
              <a:p>
                <a:r>
                  <a:rPr lang="en-S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9697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90D00-82B9-8147-AA62-2682BE671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FCR - </a:t>
            </a:r>
            <a:r>
              <a:rPr lang="x-none" dirty="0"/>
              <a:t>Primárna regulácia výkonu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B5259-2332-CA48-85EE-5E7E073820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x-none" dirty="0"/>
              <a:t>Korektor frekvencie zvyšuje, znižuje želanú hodnotu vzhľadom na frekvenciu siete</a:t>
            </a:r>
          </a:p>
          <a:p>
            <a:r>
              <a:rPr lang="x-none" dirty="0"/>
              <a:t>Proporcionálny charakter</a:t>
            </a:r>
          </a:p>
          <a:p>
            <a:r>
              <a:rPr lang="x-none" dirty="0"/>
              <a:t>Výstup korektora frekvencie býva obmedzený veľkosťou výkonu,</a:t>
            </a:r>
            <a:r>
              <a:rPr lang="sk-SK" dirty="0"/>
              <a:t> </a:t>
            </a:r>
            <a:r>
              <a:rPr lang="x-none" dirty="0"/>
              <a:t>o ktorý sa môže maximálne zvýšiť, znížiť výkon generátora, tzv. Primárnej regulačnej rezervy</a:t>
            </a:r>
          </a:p>
          <a:p>
            <a:endParaRPr lang="x-none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8819252-0670-D741-8428-F51BD8B86C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89525" y="2160589"/>
            <a:ext cx="5582086" cy="3880772"/>
          </a:xfrm>
        </p:spPr>
      </p:pic>
    </p:spTree>
    <p:extLst>
      <p:ext uri="{BB962C8B-B14F-4D97-AF65-F5344CB8AC3E}">
        <p14:creationId xmlns:p14="http://schemas.microsoft.com/office/powerpoint/2010/main" val="4105310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F2B4773-3207-44CC-B7AC-892B70498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B8267CA-A7A5-4E11-9D92-4EAC3DD3E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83D61B5-C6B4-4A4B-85AD-FEE7A5491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A0B67FE4-688F-4497-8BFD-157613A69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Rectangle 25">
              <a:extLst>
                <a:ext uri="{FF2B5EF4-FFF2-40B4-BE49-F238E27FC236}">
                  <a16:creationId xmlns:a16="http://schemas.microsoft.com/office/drawing/2014/main" id="{3BF5BE1A-9BAC-4581-A82B-FD8FE3159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971E5644-6772-414A-8199-E30BFB02A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Rectangle 27">
              <a:extLst>
                <a:ext uri="{FF2B5EF4-FFF2-40B4-BE49-F238E27FC236}">
                  <a16:creationId xmlns:a16="http://schemas.microsoft.com/office/drawing/2014/main" id="{E8246D50-BB0C-408E-93FD-7B8D63A7F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AFBC5D22-68C1-44FB-8181-CB84ECAA8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1" name="Rectangle 29">
              <a:extLst>
                <a:ext uri="{FF2B5EF4-FFF2-40B4-BE49-F238E27FC236}">
                  <a16:creationId xmlns:a16="http://schemas.microsoft.com/office/drawing/2014/main" id="{FB6D0FCE-FBDB-4655-A1A7-640B1E86B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BC8157DF-FD90-4AD6-B803-3AC0ACD8E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3548B067-9D63-4D21-92EF-CBC9E6338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A041462-1CF2-9842-A901-1BDF34997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FCR - </a:t>
            </a:r>
            <a:r>
              <a:rPr lang="en-US" dirty="0" err="1"/>
              <a:t>Primárna</a:t>
            </a:r>
            <a:r>
              <a:rPr lang="en-US" dirty="0"/>
              <a:t> </a:t>
            </a:r>
            <a:r>
              <a:rPr lang="en-US" dirty="0" err="1"/>
              <a:t>regulácia</a:t>
            </a:r>
            <a:r>
              <a:rPr lang="en-US" dirty="0"/>
              <a:t> </a:t>
            </a:r>
            <a:r>
              <a:rPr lang="en-US" dirty="0" err="1"/>
              <a:t>výkonu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1CBA7-DAD8-4E4B-8793-F21BDFC086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167" y="2160589"/>
            <a:ext cx="3720916" cy="3560733"/>
          </a:xfrm>
        </p:spPr>
        <p:txBody>
          <a:bodyPr vert="horz" lIns="91440" tIns="45720" rIns="91440" bIns="45720" rtlCol="0">
            <a:normAutofit/>
          </a:bodyPr>
          <a:lstStyle/>
          <a:p>
            <a:pPr marL="400050" indent="-400050">
              <a:lnSpc>
                <a:spcPct val="90000"/>
              </a:lnSpc>
            </a:pPr>
            <a:r>
              <a:rPr lang="sk-SK" sz="1300" dirty="0"/>
              <a:t>Po výpadku </a:t>
            </a:r>
            <a:r>
              <a:rPr lang="sk-SK" sz="1300" dirty="0" err="1"/>
              <a:t>generátorickej</a:t>
            </a:r>
            <a:r>
              <a:rPr lang="sk-SK" sz="1300" dirty="0"/>
              <a:t> jednotky sa okamžite zvýši elektrický výkon generátorov. Rozdiel medzi výkonom vyrobeným turbínami a výkonom spotrebovaným zaťažením spôsobí pokles frekvencie ES </a:t>
            </a:r>
          </a:p>
          <a:p>
            <a:pPr marL="400050" indent="-400050">
              <a:lnSpc>
                <a:spcPct val="90000"/>
              </a:lnSpc>
            </a:pPr>
            <a:r>
              <a:rPr lang="sk-SK" sz="1300" dirty="0"/>
              <a:t>Pokles frekvencie sa zastaví keď dosiahne mechanický výkon turbíny hodnotu elektrického výkonu. Výkon turbíny ďalej narastá vplyvom zotrvačnosti, korektor frekvencie začne znižovať výkon.</a:t>
            </a:r>
          </a:p>
          <a:p>
            <a:pPr marL="400050" indent="-400050">
              <a:lnSpc>
                <a:spcPct val="90000"/>
              </a:lnSpc>
            </a:pPr>
            <a:r>
              <a:rPr lang="sk-SK" sz="1300" dirty="0"/>
              <a:t>Frekvencia dosiahne svoje maximum potom ako je mechanický výkon rovný elektrickému výkonu</a:t>
            </a:r>
          </a:p>
          <a:p>
            <a:pPr marL="400050" indent="-400050">
              <a:lnSpc>
                <a:spcPct val="90000"/>
              </a:lnSpc>
            </a:pPr>
            <a:r>
              <a:rPr lang="sk-SK" sz="1300" dirty="0"/>
              <a:t>Frekvencia sa ustáli na hodnote s tzv. </a:t>
            </a:r>
            <a:r>
              <a:rPr lang="sk-SK" sz="1300" dirty="0" err="1"/>
              <a:t>kvázistacionárnou</a:t>
            </a:r>
            <a:r>
              <a:rPr lang="sk-SK" sz="1300" dirty="0"/>
              <a:t> odchýlkou</a:t>
            </a:r>
          </a:p>
          <a:p>
            <a:pPr marL="400050" indent="-400050">
              <a:lnSpc>
                <a:spcPct val="90000"/>
              </a:lnSpc>
            </a:pPr>
            <a:endParaRPr lang="en-US" sz="1300" dirty="0"/>
          </a:p>
          <a:p>
            <a:pPr marL="400050" indent="-400050">
              <a:lnSpc>
                <a:spcPct val="90000"/>
              </a:lnSpc>
            </a:pPr>
            <a:endParaRPr lang="en-US" sz="1300" dirty="0"/>
          </a:p>
          <a:p>
            <a:pPr marL="400050" indent="-400050">
              <a:lnSpc>
                <a:spcPct val="90000"/>
              </a:lnSpc>
            </a:pPr>
            <a:endParaRPr lang="en-US" sz="13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B90C368-5221-CC41-B4F8-14ED89FED4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18970" y="632144"/>
            <a:ext cx="3759210" cy="622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565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A9B7E5-141E-4A48-9757-292EF2970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x-none" dirty="0"/>
              <a:t>Požiadavky na </a:t>
            </a:r>
            <a:r>
              <a:rPr lang="en-US" dirty="0"/>
              <a:t>FCR</a:t>
            </a:r>
            <a:endParaRPr lang="x-none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2086CD-CA1E-6840-832C-E352316280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33502" y="2160589"/>
                <a:ext cx="8596668" cy="3880773"/>
              </a:xfrm>
            </p:spPr>
            <p:txBody>
              <a:bodyPr>
                <a:normAutofit/>
              </a:bodyPr>
              <a:lstStyle/>
              <a:p>
                <a:r>
                  <a:rPr lang="sk-SK" dirty="0"/>
                  <a:t>Pri odchýlkach </a:t>
                </a:r>
                <a14:m>
                  <m:oMath xmlns:m="http://schemas.openxmlformats.org/officeDocument/2006/math"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sk-SK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𝑚𝐻𝑧</m:t>
                    </m:r>
                  </m:oMath>
                </a14:m>
                <a:r>
                  <a:rPr lang="sk-SK" dirty="0"/>
                  <a:t> sa musí príslušný výkonový príspevok zariadenia poskytujúceho </a:t>
                </a:r>
                <a:r>
                  <a:rPr lang="sk-SK" dirty="0" err="1"/>
                  <a:t>PpS</a:t>
                </a:r>
                <a:r>
                  <a:rPr lang="sk-SK" dirty="0"/>
                  <a:t> aktivovať̌ najneskôr do 15 sekúnd s lineárnym priebehom, </a:t>
                </a:r>
              </a:p>
              <a:p>
                <a:r>
                  <a:rPr lang="sk-SK" dirty="0"/>
                  <a:t>Pri odchýlkach </a:t>
                </a:r>
                <a14:m>
                  <m:oMath xmlns:m="http://schemas.openxmlformats.org/officeDocument/2006/math">
                    <m:r>
                      <a:rPr lang="sk-SK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sk-SK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mH</m:t>
                    </m:r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sk-SK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sk-S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sk-SK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sk-S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sk-S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</m:t>
                    </m:r>
                    <m:r>
                      <a:rPr lang="sk-S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𝑚𝐻𝑧</m:t>
                    </m:r>
                  </m:oMath>
                </a14:m>
                <a:r>
                  <a:rPr lang="sk-SK" dirty="0"/>
                  <a:t> sa musí príslušný výkonový príspevok zariadenia poskytujúceho </a:t>
                </a:r>
                <a:r>
                  <a:rPr lang="sk-SK" dirty="0" err="1"/>
                  <a:t>PpS</a:t>
                </a:r>
                <a:r>
                  <a:rPr lang="sk-SK" dirty="0"/>
                  <a:t> aktivovať v rozmedzí́ medzi 15 sekundami až 30 sekundami s lineárnym priebehom.</a:t>
                </a:r>
              </a:p>
              <a:p>
                <a:r>
                  <a:rPr lang="sk-SK" dirty="0"/>
                  <a:t>Pri odchýlke </a:t>
                </a:r>
                <a14:m>
                  <m:oMath xmlns:m="http://schemas.openxmlformats.org/officeDocument/2006/math">
                    <m:r>
                      <a:rPr lang="sk-S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sk-SK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sk-S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sk-S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200</m:t>
                    </m:r>
                    <m:r>
                      <a:rPr lang="sk-S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𝑚𝐻𝑧</m:t>
                    </m:r>
                  </m:oMath>
                </a14:m>
                <a:r>
                  <a:rPr lang="sk-SK" dirty="0"/>
                  <a:t> sa musí aktivovať celá primárna regulačná rezerva</a:t>
                </a:r>
              </a:p>
              <a:p>
                <a:r>
                  <a:rPr lang="sk-SK" dirty="0"/>
                  <a:t>Necitlivosť na zmeny frekvencie </a:t>
                </a:r>
                <a14:m>
                  <m:oMath xmlns:m="http://schemas.openxmlformats.org/officeDocument/2006/math">
                    <m:r>
                      <a:rPr lang="sk-SK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sk-SK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sk-SK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mH</m:t>
                    </m:r>
                    <m:r>
                      <a:rPr lang="sk-S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endParaRPr lang="sk-SK" dirty="0"/>
              </a:p>
              <a:p>
                <a:r>
                  <a:rPr lang="sk-SK" dirty="0"/>
                  <a:t>Celkový objem príspevku jedného zariadenia by mal byť minimálne 2% </a:t>
                </a:r>
                <a:r>
                  <a:rPr lang="sk-SK" dirty="0" err="1"/>
                  <a:t>P</a:t>
                </a:r>
                <a:r>
                  <a:rPr lang="sk-SK" baseline="-25000" dirty="0" err="1"/>
                  <a:t>n</a:t>
                </a:r>
                <a:r>
                  <a:rPr lang="sk-SK" dirty="0"/>
                  <a:t> , nesmie však byť menší ako 1MW a väčší ako 10MW</a:t>
                </a:r>
              </a:p>
              <a:p>
                <a:endParaRPr lang="sk-SK" dirty="0"/>
              </a:p>
              <a:p>
                <a:pPr lvl="1"/>
                <a:endParaRPr lang="sk-SK" dirty="0"/>
              </a:p>
              <a:p>
                <a:endParaRPr lang="x-none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D2086CD-CA1E-6840-832C-E352316280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3502" y="2160589"/>
                <a:ext cx="8596668" cy="3880773"/>
              </a:xfrm>
              <a:blipFill rotWithShape="0">
                <a:blip r:embed="rId2"/>
                <a:stretch>
                  <a:fillRect l="-213" t="-942" r="-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265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8227C-4916-F64F-B7C7-3E2E0BA7D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aFRR</a:t>
            </a:r>
            <a:r>
              <a:rPr lang="en-US" dirty="0"/>
              <a:t> - </a:t>
            </a:r>
            <a:r>
              <a:rPr lang="x-none" dirty="0"/>
              <a:t>Sekundárna regulácia výkonu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C6F63-A45D-1945-BC2D-DD8A34288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Frekvencia elektrizačnej sústavy sa nemôže vrátiť̌ na nominálnu hodnotu len za pomoci primárnej regulácie výkonu a samoregulácie záťaže</a:t>
            </a:r>
          </a:p>
          <a:p>
            <a:r>
              <a:rPr lang="sk-SK" dirty="0"/>
              <a:t>Sekundárna regulácia činného výkonu a frekvencie sa využíva na vyrovnanie salda cezhraničných výmen elektriny na plánované hodnoty s ohľadom na žiadanú hodnotu elektriny na plánované hodnoty s ohľadom na žiadanú hodnotu frekvencie. </a:t>
            </a:r>
          </a:p>
          <a:p>
            <a:r>
              <a:rPr lang="en-US" dirty="0" err="1"/>
              <a:t>aFRR</a:t>
            </a:r>
            <a:r>
              <a:rPr lang="en-US" dirty="0"/>
              <a:t> </a:t>
            </a:r>
            <a:r>
              <a:rPr lang="sk-SK" dirty="0"/>
              <a:t>udržiava rovnováhu medzi výrobou a spotrebou elektriny v rámci každej regulačnej oblasti, resp. riadiaceho bloku, pričom sa berú do úvahy programy medzinárodných výmen elektriny </a:t>
            </a:r>
            <a:endParaRPr lang="en-US" dirty="0"/>
          </a:p>
          <a:p>
            <a:r>
              <a:rPr lang="sk-SK" dirty="0"/>
              <a:t>Saldo - bilančná suma zahraničných výmen elektriny v danom období. Je to rozdiel medzi celkovým dovozom elektriny a celkovým vývozom elektriny v sledovanom období (mesiac, rok a pod.)</a:t>
            </a:r>
          </a:p>
          <a:p>
            <a:endParaRPr lang="sk-SK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328233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F2B4773-3207-44CC-B7AC-892B70498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B8267CA-A7A5-4E11-9D92-4EAC3DD3E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83D61B5-C6B4-4A4B-85AD-FEE7A5491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A0B67FE4-688F-4497-8BFD-157613A69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3BF5BE1A-9BAC-4581-A82B-FD8FE3159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971E5644-6772-414A-8199-E30BFB02A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E8246D50-BB0C-408E-93FD-7B8D63A7F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AFBC5D22-68C1-44FB-8181-CB84ECAA8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FB6D0FCE-FBDB-4655-A1A7-640B1E86B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BC8157DF-FD90-4AD6-B803-3AC0ACD8E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3548B067-9D63-4D21-92EF-CBC9E6338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4D9E236-D7A8-7A44-9F05-269E745F8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aFRR</a:t>
            </a:r>
            <a:r>
              <a:rPr lang="en-US" dirty="0"/>
              <a:t> - </a:t>
            </a:r>
            <a:r>
              <a:rPr lang="en-US" dirty="0" err="1"/>
              <a:t>Sekundárna</a:t>
            </a:r>
            <a:r>
              <a:rPr lang="en-US" dirty="0"/>
              <a:t> </a:t>
            </a:r>
            <a:r>
              <a:rPr lang="en-US" dirty="0" err="1"/>
              <a:t>regulácia</a:t>
            </a:r>
            <a:r>
              <a:rPr lang="en-US" dirty="0"/>
              <a:t> </a:t>
            </a:r>
            <a:r>
              <a:rPr lang="en-US" dirty="0" err="1"/>
              <a:t>výkonu</a:t>
            </a:r>
            <a:br>
              <a:rPr lang="en-US" dirty="0"/>
            </a:br>
            <a:r>
              <a:rPr lang="en-US" dirty="0" err="1"/>
              <a:t>Predo</a:t>
            </a:r>
            <a:r>
              <a:rPr lang="sk-SK" dirty="0" err="1"/>
              <a:t>šlý</a:t>
            </a:r>
            <a:r>
              <a:rPr lang="sk-SK" dirty="0"/>
              <a:t> spôsob regulácie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0DEF19-CA2C-C149-A95B-15E7096A0F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17474" y="2159331"/>
            <a:ext cx="5283289" cy="289642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8376A-5535-414B-A214-45B81D89F6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16039" y="2160589"/>
            <a:ext cx="3187403" cy="38807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sk-SK" sz="1500" dirty="0"/>
              <a:t>Vybrané zdroje, ktoré sú zaradené do sekundárnej regulácie frekvencie ES, zvyšujú alebo znižujú výkon podľa požiadaviek sekundárneho regulátora.</a:t>
            </a:r>
          </a:p>
          <a:p>
            <a:r>
              <a:rPr lang="sk-SK" sz="1500" dirty="0"/>
              <a:t>Regulačná odchýlka je tvorená saldom oblasti a odchýlkou frekvencie.</a:t>
            </a:r>
          </a:p>
          <a:p>
            <a:r>
              <a:rPr lang="sk-SK" sz="1500" dirty="0"/>
              <a:t>Regulátor má proporcionálno-integračný charakter</a:t>
            </a:r>
          </a:p>
          <a:p>
            <a:endParaRPr lang="sk-SK" sz="1500" dirty="0"/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354438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070B2-CF6D-D0EC-4039-1CC033727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aFRR</a:t>
            </a:r>
            <a:r>
              <a:rPr lang="en-US" dirty="0"/>
              <a:t> - </a:t>
            </a:r>
            <a:r>
              <a:rPr lang="en-US" dirty="0" err="1"/>
              <a:t>Sekundárna</a:t>
            </a:r>
            <a:r>
              <a:rPr lang="en-US" dirty="0"/>
              <a:t> </a:t>
            </a:r>
            <a:r>
              <a:rPr lang="en-US" dirty="0" err="1"/>
              <a:t>regulácia</a:t>
            </a:r>
            <a:r>
              <a:rPr lang="en-US" dirty="0"/>
              <a:t> </a:t>
            </a:r>
            <a:r>
              <a:rPr lang="en-US" dirty="0" err="1"/>
              <a:t>výkonu</a:t>
            </a:r>
            <a:br>
              <a:rPr lang="en-US" dirty="0"/>
            </a:br>
            <a:r>
              <a:rPr lang="sk-SK" dirty="0"/>
              <a:t>Regulácia pri využití trhových mechanizmov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55FEF8-44BF-DE38-AA1C-C14E9111F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k-SK" noProof="0" dirty="0"/>
              <a:t>SEPS je pripojený k medzinárodným platformám pre výmenu regulačnej energie </a:t>
            </a:r>
            <a:r>
              <a:rPr lang="sk-SK" b="1" noProof="0" dirty="0"/>
              <a:t>MARI</a:t>
            </a:r>
            <a:r>
              <a:rPr lang="sk-SK" noProof="0" dirty="0"/>
              <a:t> a </a:t>
            </a:r>
            <a:r>
              <a:rPr lang="sk-SK" b="1" noProof="0" dirty="0"/>
              <a:t>PICASSO</a:t>
            </a:r>
            <a:r>
              <a:rPr lang="sk-SK" noProof="0" dirty="0"/>
              <a:t> v súlade s nariadením Komisie (EÚ) 2017/2195 z 23. novembra 2017, ktorým sa stanovuje usmernenie o zabezpečovaní rovnováhy v elektrizačnej sústave.</a:t>
            </a:r>
          </a:p>
          <a:p>
            <a:r>
              <a:rPr lang="sk-SK" dirty="0"/>
              <a:t>Odchýlka regulačnej oblasti je regulovaná podľa ceny poskytovateľov </a:t>
            </a:r>
            <a:r>
              <a:rPr lang="sk-SK" dirty="0" err="1"/>
              <a:t>PpS</a:t>
            </a:r>
            <a:r>
              <a:rPr lang="sk-SK" dirty="0"/>
              <a:t>. Poskytovatelia </a:t>
            </a:r>
            <a:r>
              <a:rPr lang="sk-SK" dirty="0" err="1"/>
              <a:t>PpS</a:t>
            </a:r>
            <a:r>
              <a:rPr lang="sk-SK" dirty="0"/>
              <a:t> sú zoradený podľa aktuálnej ponúkanej ceny a vyberú sa v poradí od najlacnejšieho tak aby bola pokrytá celková odchýlka.</a:t>
            </a:r>
          </a:p>
          <a:p>
            <a:r>
              <a:rPr lang="sk-SK" b="1" noProof="0" dirty="0"/>
              <a:t>Zrušenie cenových stropov pre regulačnú elektrinu</a:t>
            </a:r>
            <a:r>
              <a:rPr lang="sk-SK" noProof="0" dirty="0"/>
              <a:t> – v čase pripojenia k jednotlivým platformám bude cena RE pre danú </a:t>
            </a:r>
            <a:r>
              <a:rPr lang="sk-SK" noProof="0" dirty="0" err="1"/>
              <a:t>PpS</a:t>
            </a:r>
            <a:r>
              <a:rPr lang="sk-SK" noProof="0" dirty="0"/>
              <a:t> limitovaná len technickým limitom pre zadávanie ponuky, ktoré je stanovené v zmysle implementačného rámca schváleného ACER (</a:t>
            </a:r>
            <a:r>
              <a:rPr lang="sk-SK" noProof="0" dirty="0" err="1"/>
              <a:t>Agency</a:t>
            </a:r>
            <a:r>
              <a:rPr lang="sk-SK" noProof="0" dirty="0"/>
              <a:t> </a:t>
            </a:r>
            <a:r>
              <a:rPr lang="sk-SK" noProof="0" dirty="0" err="1"/>
              <a:t>for</a:t>
            </a:r>
            <a:r>
              <a:rPr lang="sk-SK" noProof="0" dirty="0"/>
              <a:t> </a:t>
            </a:r>
            <a:r>
              <a:rPr lang="sk-SK" noProof="0" dirty="0" err="1"/>
              <a:t>the</a:t>
            </a:r>
            <a:r>
              <a:rPr lang="sk-SK" noProof="0" dirty="0"/>
              <a:t> </a:t>
            </a:r>
            <a:r>
              <a:rPr lang="sk-SK" noProof="0" dirty="0" err="1"/>
              <a:t>Cooperation</a:t>
            </a:r>
            <a:r>
              <a:rPr lang="sk-SK" noProof="0" dirty="0"/>
              <a:t> of Energy </a:t>
            </a:r>
            <a:r>
              <a:rPr lang="sk-SK" noProof="0" dirty="0" err="1"/>
              <a:t>Regulators</a:t>
            </a:r>
            <a:r>
              <a:rPr lang="sk-SK" noProof="0" dirty="0"/>
              <a:t>) na -15 000 až 15 000 €/MWh (aktuálne sa uplatňuje cena RE podľa cenového rozhodnutia ÚRSO).</a:t>
            </a:r>
          </a:p>
          <a:p>
            <a:endParaRPr lang="sk-SK" noProof="0" dirty="0"/>
          </a:p>
        </p:txBody>
      </p:sp>
    </p:spTree>
    <p:extLst>
      <p:ext uri="{BB962C8B-B14F-4D97-AF65-F5344CB8AC3E}">
        <p14:creationId xmlns:p14="http://schemas.microsoft.com/office/powerpoint/2010/main" val="1955938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Terciárna regulácia výkonu - </a:t>
            </a:r>
            <a:r>
              <a:rPr lang="sk-SK" dirty="0" err="1"/>
              <a:t>mFRR</a:t>
            </a:r>
            <a:endParaRPr lang="en-US" dirty="0"/>
          </a:p>
        </p:txBody>
      </p:sp>
      <p:sp>
        <p:nvSpPr>
          <p:cNvPr id="5" name="Zástupný symbol obsah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 err="1"/>
              <a:t>Organizačno</a:t>
            </a:r>
            <a:r>
              <a:rPr lang="sk-SK" dirty="0"/>
              <a:t>–technický prostriedok, ktorým SED udržuje potrebnú zálohu regulačného výkonu pre </a:t>
            </a:r>
            <a:r>
              <a:rPr lang="sk-SK" dirty="0" err="1"/>
              <a:t>aFRR</a:t>
            </a:r>
            <a:r>
              <a:rPr lang="sk-SK" dirty="0"/>
              <a:t>. Sprostredkuje zabezpečenie systémovej služby a udržiavanie výkonovej rovnováhy</a:t>
            </a:r>
          </a:p>
          <a:p>
            <a:r>
              <a:rPr lang="sk-SK" dirty="0"/>
              <a:t>Má za úlohu uvoľnenie sekundárnej regulačnej rezervy, ak bolo výrazne narušené saldo oblasti</a:t>
            </a:r>
          </a:p>
          <a:p>
            <a:r>
              <a:rPr lang="sk-SK" dirty="0"/>
              <a:t>Zdroje zaradené v </a:t>
            </a:r>
            <a:r>
              <a:rPr lang="sk-SK" dirty="0" err="1"/>
              <a:t>mFRR</a:t>
            </a:r>
            <a:r>
              <a:rPr lang="sk-SK" dirty="0"/>
              <a:t> sú spúšťané na pokyn dispečera, nejedná sa o automatizovaný proces ako FCR a </a:t>
            </a:r>
            <a:r>
              <a:rPr lang="sk-SK" dirty="0" err="1"/>
              <a:t>aFRR</a:t>
            </a:r>
            <a:endParaRPr lang="sk-SK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842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mFRR</a:t>
            </a:r>
            <a:r>
              <a:rPr lang="sk-SK" dirty="0"/>
              <a:t> - Terciárna regulácia výkonu</a:t>
            </a:r>
            <a:endParaRPr lang="en-US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k-SK" dirty="0"/>
              <a:t>Výrobné zariadenia schopné poskytovať </a:t>
            </a:r>
            <a:r>
              <a:rPr lang="sk-SK" dirty="0" err="1"/>
              <a:t>mFRR</a:t>
            </a:r>
            <a:r>
              <a:rPr lang="sk-SK" dirty="0"/>
              <a:t> môžu pre ňu využívať celý svoj regulačný rozsah, alebo iba jeho časť. Za zariadenia schopné poskytovať </a:t>
            </a:r>
            <a:r>
              <a:rPr lang="sk-SK" dirty="0" err="1"/>
              <a:t>mFRR</a:t>
            </a:r>
            <a:r>
              <a:rPr lang="sk-SK" dirty="0"/>
              <a:t> sa považujú len zariadenia na výrobu elektriny s platným Certifikátom. </a:t>
            </a:r>
            <a:r>
              <a:rPr lang="sk-SK" dirty="0" err="1"/>
              <a:t>mFRR</a:t>
            </a:r>
            <a:r>
              <a:rPr lang="sk-SK" dirty="0"/>
              <a:t> je každá požadovaná manuálna alebo automatická zmena činného výkonu zariadení presunom ich pracovných bodov, s cieľom zaručiť dostatočnú rezervu </a:t>
            </a:r>
            <a:r>
              <a:rPr lang="sk-SK" dirty="0" err="1"/>
              <a:t>aFRR</a:t>
            </a:r>
            <a:r>
              <a:rPr lang="sk-SK" dirty="0"/>
              <a:t>, ktorá zodpovedá potrebe z hľadiska veľkosti v danom čase. Požadovaná zmena činného výkonu sa môže uskutočniť:</a:t>
            </a:r>
          </a:p>
          <a:p>
            <a:pPr>
              <a:buFont typeface="+mj-lt"/>
              <a:buAutoNum type="alphaLcParenR"/>
            </a:pPr>
            <a:r>
              <a:rPr lang="sk-SK" dirty="0"/>
              <a:t>pripojením, odpojením alebo zmenou činného výkonu zariadení poskytujúcich </a:t>
            </a:r>
            <a:r>
              <a:rPr lang="sk-SK" dirty="0" err="1"/>
              <a:t>mFRR</a:t>
            </a:r>
            <a:endParaRPr lang="sk-SK" dirty="0"/>
          </a:p>
          <a:p>
            <a:pPr>
              <a:buFont typeface="+mj-lt"/>
              <a:buAutoNum type="alphaLcParenR"/>
            </a:pPr>
            <a:r>
              <a:rPr lang="sk-SK" dirty="0"/>
              <a:t>pripojením, odstavením alebo zmenou čerpadlového výkonu PVE</a:t>
            </a:r>
          </a:p>
          <a:p>
            <a:pPr>
              <a:buFont typeface="+mj-lt"/>
              <a:buAutoNum type="alphaLcParenR"/>
            </a:pPr>
            <a:r>
              <a:rPr lang="sk-SK" dirty="0"/>
              <a:t>zmenou programu salda medzi účastníkmi prepojenej sústavy</a:t>
            </a:r>
          </a:p>
          <a:p>
            <a:pPr>
              <a:buFont typeface="+mj-lt"/>
              <a:buAutoNum type="alphaLcParenR"/>
            </a:pPr>
            <a:r>
              <a:rPr lang="sk-SK" dirty="0"/>
              <a:t>priamou aktiváciou </a:t>
            </a:r>
            <a:r>
              <a:rPr lang="sk-SK" dirty="0" err="1"/>
              <a:t>mFRR</a:t>
            </a:r>
            <a:r>
              <a:rPr lang="sk-SK" dirty="0"/>
              <a:t> u zahraničného PPS.</a:t>
            </a:r>
          </a:p>
        </p:txBody>
      </p:sp>
    </p:spTree>
    <p:extLst>
      <p:ext uri="{BB962C8B-B14F-4D97-AF65-F5344CB8AC3E}">
        <p14:creationId xmlns:p14="http://schemas.microsoft.com/office/powerpoint/2010/main" val="1790640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mFRR</a:t>
            </a:r>
            <a:r>
              <a:rPr lang="sk-SK" dirty="0"/>
              <a:t> - Terciárna regulácia výkonu</a:t>
            </a:r>
            <a:endParaRPr lang="en-US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Terciárnu reguláciu činného výkonu rozoznávame:</a:t>
            </a:r>
          </a:p>
          <a:p>
            <a:pPr>
              <a:buFont typeface="+mj-lt"/>
              <a:buAutoNum type="alphaLcParenR"/>
            </a:pPr>
            <a:r>
              <a:rPr lang="sk-SK" dirty="0"/>
              <a:t>mFRR3</a:t>
            </a:r>
            <a:r>
              <a:rPr lang="en-US" dirty="0"/>
              <a:t>+ 3</a:t>
            </a:r>
            <a:r>
              <a:rPr lang="sk-SK" dirty="0"/>
              <a:t> minútová kladná</a:t>
            </a:r>
          </a:p>
          <a:p>
            <a:pPr>
              <a:buFont typeface="+mj-lt"/>
              <a:buAutoNum type="alphaLcParenR"/>
            </a:pPr>
            <a:r>
              <a:rPr lang="en-US" dirty="0"/>
              <a:t>mFRR3-</a:t>
            </a:r>
            <a:r>
              <a:rPr lang="sk-SK" dirty="0"/>
              <a:t> 3 minútová záporná</a:t>
            </a:r>
          </a:p>
          <a:p>
            <a:pPr>
              <a:buFont typeface="+mj-lt"/>
              <a:buAutoNum type="alphaLcParenR"/>
            </a:pPr>
            <a:r>
              <a:rPr lang="sk-SK" dirty="0" err="1"/>
              <a:t>mFRR</a:t>
            </a:r>
            <a:r>
              <a:rPr lang="en-US" dirty="0"/>
              <a:t>+</a:t>
            </a:r>
            <a:r>
              <a:rPr lang="sk-SK" dirty="0"/>
              <a:t> 12,5 minútová kladná </a:t>
            </a:r>
          </a:p>
          <a:p>
            <a:pPr>
              <a:buFont typeface="+mj-lt"/>
              <a:buAutoNum type="alphaLcParenR"/>
            </a:pPr>
            <a:r>
              <a:rPr lang="sk-SK" dirty="0" err="1"/>
              <a:t>mFRR</a:t>
            </a:r>
            <a:r>
              <a:rPr lang="en-US" dirty="0"/>
              <a:t>-</a:t>
            </a:r>
            <a:r>
              <a:rPr lang="sk-SK" dirty="0"/>
              <a:t> 12,5 minútová záporná</a:t>
            </a:r>
          </a:p>
        </p:txBody>
      </p:sp>
    </p:spTree>
    <p:extLst>
      <p:ext uri="{BB962C8B-B14F-4D97-AF65-F5344CB8AC3E}">
        <p14:creationId xmlns:p14="http://schemas.microsoft.com/office/powerpoint/2010/main" val="273405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Požiadavky na mFRR3</a:t>
            </a:r>
            <a:r>
              <a:rPr lang="en-US" dirty="0"/>
              <a:t>+ a mFRR3-</a:t>
            </a:r>
            <a:endParaRPr lang="sk-SK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Od pokynu dispečera SED musí skutočný výkon zariadenia dosiahnuť výkon rovnajúci sa žiadanému výkonu pre </a:t>
            </a:r>
            <a:r>
              <a:rPr lang="en-US" dirty="0"/>
              <a:t>mFRR3</a:t>
            </a:r>
            <a:r>
              <a:rPr lang="sk-SK" dirty="0"/>
              <a:t>+ alebo </a:t>
            </a:r>
            <a:r>
              <a:rPr lang="en-US" dirty="0"/>
              <a:t>mFRR3</a:t>
            </a:r>
            <a:r>
              <a:rPr lang="sk-SK" dirty="0"/>
              <a:t>- v tolerancii ±5%</a:t>
            </a:r>
            <a:r>
              <a:rPr lang="en-US" dirty="0"/>
              <a:t>. A</a:t>
            </a:r>
            <a:r>
              <a:rPr lang="sk-SK" dirty="0" err="1"/>
              <a:t>ktiváci</a:t>
            </a:r>
            <a:r>
              <a:rPr lang="en-US" dirty="0"/>
              <a:t>a v</a:t>
            </a:r>
            <a:r>
              <a:rPr lang="sk-SK" dirty="0" err="1"/>
              <a:t>ýkonu</a:t>
            </a:r>
            <a:r>
              <a:rPr lang="sk-SK" dirty="0"/>
              <a:t> za čas </a:t>
            </a:r>
            <a:r>
              <a:rPr lang="sk-SK" dirty="0" err="1"/>
              <a:t>t</a:t>
            </a:r>
            <a:r>
              <a:rPr lang="sk-SK" baseline="-25000" dirty="0" err="1"/>
              <a:t>n</a:t>
            </a:r>
            <a:r>
              <a:rPr lang="sk-SK" dirty="0"/>
              <a:t> menší alebo rovný 3 minúty a pre prípad deaktivácie za čas </a:t>
            </a:r>
            <a:r>
              <a:rPr lang="sk-SK" dirty="0" err="1"/>
              <a:t>t</a:t>
            </a:r>
            <a:r>
              <a:rPr lang="sk-SK" baseline="-25000" dirty="0" err="1"/>
              <a:t>dn</a:t>
            </a:r>
            <a:r>
              <a:rPr lang="sk-SK" dirty="0"/>
              <a:t> menší alebo rovný 3 minúty</a:t>
            </a:r>
            <a:r>
              <a:rPr lang="en-US" dirty="0"/>
              <a:t>.</a:t>
            </a:r>
          </a:p>
          <a:p>
            <a:r>
              <a:rPr lang="sk-SK" dirty="0"/>
              <a:t>Aktivácia sa uskutočňuje automaticky, diaľkovo z centrálneho regulátora SED dispečerom SED</a:t>
            </a:r>
            <a:endParaRPr lang="en-US" dirty="0"/>
          </a:p>
          <a:p>
            <a:r>
              <a:rPr lang="en-US" dirty="0"/>
              <a:t>Mus</a:t>
            </a:r>
            <a:r>
              <a:rPr lang="sk-SK" dirty="0"/>
              <a:t>í byť k dispozícii 6 hodín pri mFRR3</a:t>
            </a:r>
            <a:r>
              <a:rPr lang="en-US" dirty="0"/>
              <a:t>+ </a:t>
            </a:r>
            <a:r>
              <a:rPr lang="sk-SK" dirty="0"/>
              <a:t> v priebehu 24 hodín a 3 hodiny pri mFRR3</a:t>
            </a:r>
            <a:r>
              <a:rPr lang="en-US" dirty="0"/>
              <a:t>- </a:t>
            </a:r>
            <a:r>
              <a:rPr lang="sk-SK" dirty="0"/>
              <a:t> v priebehu 24 hodín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619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Požiadavky na </a:t>
            </a:r>
            <a:r>
              <a:rPr lang="en-US" dirty="0"/>
              <a:t>mFRR3+ mFRR3-</a:t>
            </a:r>
          </a:p>
        </p:txBody>
      </p:sp>
      <p:sp>
        <p:nvSpPr>
          <p:cNvPr id="5" name="Zástupný symbol obsahu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sk-SK" dirty="0"/>
              <a:t>Za čas ustálenia t</a:t>
            </a:r>
            <a:r>
              <a:rPr lang="sk-SK" baseline="-25000" dirty="0"/>
              <a:t>u</a:t>
            </a:r>
            <a:r>
              <a:rPr lang="sk-SK" dirty="0"/>
              <a:t> sa považuje čas od dosiahnutia skutočného činného výkonu do tolerančného pásma ±5% PŽIAD RIS do času </a:t>
            </a:r>
            <a:r>
              <a:rPr lang="sk-SK" dirty="0" err="1"/>
              <a:t>deaktivácie</a:t>
            </a:r>
            <a:endParaRPr lang="en-US" dirty="0"/>
          </a:p>
          <a:p>
            <a:r>
              <a:rPr lang="sk-SK" dirty="0"/>
              <a:t>Počas času ustálenia sa vyhodnocuje absolútna odchýlka činného výkonu voči žiadanému výkonu. Vypočíta sa z </a:t>
            </a:r>
            <a:r>
              <a:rPr lang="sk-SK" dirty="0" err="1"/>
              <a:t>polminútových</a:t>
            </a:r>
            <a:r>
              <a:rPr lang="sk-SK" dirty="0"/>
              <a:t> priemerov a nesmie presiahnuť 5% PTRV3MIN+/ PTRV3MIN-, maximálne však 4MW</a:t>
            </a:r>
          </a:p>
          <a:p>
            <a:endParaRPr lang="en-US" dirty="0"/>
          </a:p>
        </p:txBody>
      </p:sp>
      <p:pic>
        <p:nvPicPr>
          <p:cNvPr id="7" name="Zástupný symbol obsahu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525" y="2160588"/>
            <a:ext cx="6421270" cy="2878733"/>
          </a:xfrm>
        </p:spPr>
      </p:pic>
    </p:spTree>
    <p:extLst>
      <p:ext uri="{BB962C8B-B14F-4D97-AF65-F5344CB8AC3E}">
        <p14:creationId xmlns:p14="http://schemas.microsoft.com/office/powerpoint/2010/main" val="28072478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Otázky k testu – Riadenie ES</a:t>
            </a:r>
            <a:endParaRPr lang="en-US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677334" y="2135189"/>
            <a:ext cx="8596668" cy="3880773"/>
          </a:xfrm>
        </p:spPr>
        <p:txBody>
          <a:bodyPr/>
          <a:lstStyle/>
          <a:p>
            <a:pPr>
              <a:buFont typeface="+mj-lt"/>
              <a:buAutoNum type="arabicPeriod"/>
            </a:pPr>
            <a:endParaRPr lang="sk-SK" dirty="0"/>
          </a:p>
          <a:p>
            <a:pPr>
              <a:buFont typeface="+mj-lt"/>
              <a:buAutoNum type="arabicPeriod"/>
            </a:pPr>
            <a:r>
              <a:rPr lang="sk-SK" dirty="0"/>
              <a:t>Aké parametre sa vyhodnocujú v súvislosti so skúškami vyhodnotenia účinnosti PSS?</a:t>
            </a:r>
          </a:p>
          <a:p>
            <a:pPr>
              <a:buFont typeface="+mj-lt"/>
              <a:buAutoNum type="arabicPeriod"/>
            </a:pPr>
            <a:r>
              <a:rPr lang="sk-SK" dirty="0"/>
              <a:t>Sekundárny regulátor napätia má za úlohu:</a:t>
            </a:r>
          </a:p>
          <a:p>
            <a:pPr>
              <a:buFont typeface="+mj-lt"/>
              <a:buAutoNum type="arabicPeriod"/>
            </a:pPr>
            <a:r>
              <a:rPr lang="sk-SK" dirty="0"/>
              <a:t>Aký charakter regulácie má primárna regulácia výkonu</a:t>
            </a:r>
            <a:r>
              <a:rPr lang="en-US" dirty="0"/>
              <a:t> FCR</a:t>
            </a:r>
            <a:r>
              <a:rPr lang="sk-SK" dirty="0"/>
              <a:t>?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sk-SK" dirty="0"/>
              <a:t>Aký charakter regulácie má </a:t>
            </a:r>
            <a:r>
              <a:rPr lang="en-US" dirty="0" err="1"/>
              <a:t>sekund</a:t>
            </a:r>
            <a:r>
              <a:rPr lang="sk-SK" dirty="0" err="1"/>
              <a:t>árna</a:t>
            </a:r>
            <a:r>
              <a:rPr lang="sk-SK" dirty="0"/>
              <a:t> regulácia výkonu</a:t>
            </a:r>
            <a:r>
              <a:rPr lang="en-US" dirty="0"/>
              <a:t> </a:t>
            </a:r>
            <a:r>
              <a:rPr lang="en-US" dirty="0" err="1"/>
              <a:t>aFRR</a:t>
            </a:r>
            <a:r>
              <a:rPr lang="sk-SK" dirty="0"/>
              <a:t>?</a:t>
            </a:r>
          </a:p>
          <a:p>
            <a:pPr>
              <a:buFont typeface="+mj-lt"/>
              <a:buAutoNum type="arabicPeriod"/>
            </a:pPr>
            <a:r>
              <a:rPr lang="sk-SK" dirty="0"/>
              <a:t>Za aký čas musí zdroj dosiahnuť výkon pri TRV3</a:t>
            </a:r>
            <a:r>
              <a:rPr lang="en-US" dirty="0"/>
              <a:t>+</a:t>
            </a:r>
            <a:r>
              <a:rPr lang="sk-SK" dirty="0"/>
              <a:t>?</a:t>
            </a:r>
          </a:p>
          <a:p>
            <a:pPr>
              <a:buFont typeface="+mj-lt"/>
              <a:buAutoNum type="arabicPeriod"/>
            </a:pPr>
            <a:endParaRPr lang="sk-SK" dirty="0"/>
          </a:p>
          <a:p>
            <a:pPr>
              <a:buFont typeface="+mj-lt"/>
              <a:buAutoNum type="arabicPeriod"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773161919"/>
      </p:ext>
    </p:extLst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Faz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46E8E2D702484CA408F021DEE2569A" ma:contentTypeVersion="10" ma:contentTypeDescription="Create a new document." ma:contentTypeScope="" ma:versionID="7a2812ca667d8c70d2a36b2e3d3b103a">
  <xsd:schema xmlns:xsd="http://www.w3.org/2001/XMLSchema" xmlns:xs="http://www.w3.org/2001/XMLSchema" xmlns:p="http://schemas.microsoft.com/office/2006/metadata/properties" xmlns:ns2="9b327846-e0b3-4ad6-9ca8-68ab1d718056" xmlns:ns3="701217ad-cad6-421a-ac01-78070839b6f6" targetNamespace="http://schemas.microsoft.com/office/2006/metadata/properties" ma:root="true" ma:fieldsID="1988e37045b8dc6db7d08572e240c743" ns2:_="" ns3:_="">
    <xsd:import namespace="9b327846-e0b3-4ad6-9ca8-68ab1d718056"/>
    <xsd:import namespace="701217ad-cad6-421a-ac01-78070839b6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327846-e0b3-4ad6-9ca8-68ab1d7180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0de4301-b1da-46d0-bded-5f1fb5ebe3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17ad-cad6-421a-ac01-78070839b6f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cae3a00-ddd8-4b87-a85e-eacc516c3ca7}" ma:internalName="TaxCatchAll" ma:showField="CatchAllData" ma:web="701217ad-cad6-421a-ac01-78070839b6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17ad-cad6-421a-ac01-78070839b6f6" xsi:nil="true"/>
    <lcf76f155ced4ddcb4097134ff3c332f xmlns="9b327846-e0b3-4ad6-9ca8-68ab1d71805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805D180-C423-403C-9892-213E09210803}"/>
</file>

<file path=customXml/itemProps2.xml><?xml version="1.0" encoding="utf-8"?>
<ds:datastoreItem xmlns:ds="http://schemas.openxmlformats.org/officeDocument/2006/customXml" ds:itemID="{499043E1-76D8-4BC8-8A40-013EAFC01FAF}"/>
</file>

<file path=customXml/itemProps3.xml><?xml version="1.0" encoding="utf-8"?>
<ds:datastoreItem xmlns:ds="http://schemas.openxmlformats.org/officeDocument/2006/customXml" ds:itemID="{D1EEF750-AE92-49B0-949B-A8B80B067C92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23156</TotalTime>
  <Words>1850</Words>
  <Application>Microsoft Office PowerPoint</Application>
  <PresentationFormat>Widescreen</PresentationFormat>
  <Paragraphs>137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Cambria Math</vt:lpstr>
      <vt:lpstr>Trebuchet MS</vt:lpstr>
      <vt:lpstr>Wingdings 3</vt:lpstr>
      <vt:lpstr>Fazeta</vt:lpstr>
      <vt:lpstr>Dynamika elektrizačných sústav 6. Týždeň: Regulácia elektrizačných sústav </vt:lpstr>
      <vt:lpstr>Matematický opis SG pracujúceho v ES</vt:lpstr>
      <vt:lpstr>Prepojená ES</vt:lpstr>
      <vt:lpstr>Prepojená ES</vt:lpstr>
      <vt:lpstr>Regulácie ES</vt:lpstr>
      <vt:lpstr>Štruktúra riadenia</vt:lpstr>
      <vt:lpstr>Primárna regulácia napätia</vt:lpstr>
      <vt:lpstr>Primárna regulácia napätia</vt:lpstr>
      <vt:lpstr>Sekundárna regulácia napätia</vt:lpstr>
      <vt:lpstr>Sekundárna regulácia napätia</vt:lpstr>
      <vt:lpstr>Sekundárna regulácia napätia</vt:lpstr>
      <vt:lpstr>FCR - Primárna regulácia výkonu</vt:lpstr>
      <vt:lpstr>FCR - Primárna regulácia výkonu</vt:lpstr>
      <vt:lpstr>FCR - Primárna regulácia výkonu</vt:lpstr>
      <vt:lpstr>FCR - Primárna regulácia výkonu</vt:lpstr>
      <vt:lpstr>Požiadavky na FCR</vt:lpstr>
      <vt:lpstr>aFRR - Sekundárna regulácia výkonu</vt:lpstr>
      <vt:lpstr>aFRR - Sekundárna regulácia výkonu Predošlý spôsob regulácie</vt:lpstr>
      <vt:lpstr>aFRR - Sekundárna regulácia výkonu Regulácia pri využití trhových mechanizmov</vt:lpstr>
      <vt:lpstr>Terciárna regulácia výkonu - mFRR</vt:lpstr>
      <vt:lpstr>mFRR - Terciárna regulácia výkonu</vt:lpstr>
      <vt:lpstr>mFRR - Terciárna regulácia výkonu</vt:lpstr>
      <vt:lpstr>Požiadavky na mFRR3+ a mFRR3-</vt:lpstr>
      <vt:lpstr>Požiadavky na mFRR3+ mFRR3-</vt:lpstr>
      <vt:lpstr>Otázky k testu – Riadenie 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Dynamika elektrizačných sústav 2. Týždeň: Synchrónny generátor, budenie </dc:title>
  <dc:creator>Martin Ernek</dc:creator>
  <cp:lastModifiedBy>Martin Ernek</cp:lastModifiedBy>
  <cp:revision>225</cp:revision>
  <dcterms:created xsi:type="dcterms:W3CDTF">2021-08-17T07:33:29Z</dcterms:created>
  <dcterms:modified xsi:type="dcterms:W3CDTF">2026-04-01T08:48:32Z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0x010100F946E8E2D702484CA408F021DEE2569A</vt:lpwstr>
  </property>
</Properties>
</file>