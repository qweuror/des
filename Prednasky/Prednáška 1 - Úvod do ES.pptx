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17.xml" ContentType="application/vnd.openxmlformats-officedocument.presentationml.notes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8"/>
  </p:notesMasterIdLst>
  <p:sldIdLst>
    <p:sldId id="256" r:id="rId2"/>
    <p:sldId id="257" r:id="rId3"/>
    <p:sldId id="258" r:id="rId4"/>
    <p:sldId id="289" r:id="rId5"/>
    <p:sldId id="259" r:id="rId6"/>
    <p:sldId id="261" r:id="rId7"/>
    <p:sldId id="260" r:id="rId8"/>
    <p:sldId id="262" r:id="rId9"/>
    <p:sldId id="263" r:id="rId10"/>
    <p:sldId id="264" r:id="rId11"/>
    <p:sldId id="265" r:id="rId12"/>
    <p:sldId id="266" r:id="rId13"/>
    <p:sldId id="267" r:id="rId14"/>
    <p:sldId id="268" r:id="rId15"/>
    <p:sldId id="281" r:id="rId16"/>
    <p:sldId id="269" r:id="rId17"/>
    <p:sldId id="270" r:id="rId18"/>
    <p:sldId id="276" r:id="rId19"/>
    <p:sldId id="277" r:id="rId20"/>
    <p:sldId id="278" r:id="rId21"/>
    <p:sldId id="271" r:id="rId22"/>
    <p:sldId id="272" r:id="rId23"/>
    <p:sldId id="273" r:id="rId24"/>
    <p:sldId id="274" r:id="rId25"/>
    <p:sldId id="285" r:id="rId26"/>
    <p:sldId id="2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tin Ernek" initials="ME" lastIdx="4" clrIdx="0">
    <p:extLst>
      <p:ext uri="{19B8F6BF-5375-455C-9EA6-DF929625EA0E}">
        <p15:presenceInfo xmlns:p15="http://schemas.microsoft.com/office/powerpoint/2012/main" userId="Martin Erne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7" autoAdjust="0"/>
    <p:restoredTop sz="75330" autoAdjust="0"/>
  </p:normalViewPr>
  <p:slideViewPr>
    <p:cSldViewPr snapToGrid="0">
      <p:cViewPr varScale="1">
        <p:scale>
          <a:sx n="88" d="100"/>
          <a:sy n="88" d="100"/>
        </p:scale>
        <p:origin x="122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hlavičky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Zástupný symbol dátum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259F9A-E1A5-403E-992D-F2BDD2F16AE5}" type="datetimeFigureOut">
              <a:rPr lang="en-US" smtClean="0"/>
              <a:t>2/18/2026</a:t>
            </a:fld>
            <a:endParaRPr lang="en-US"/>
          </a:p>
        </p:txBody>
      </p:sp>
      <p:sp>
        <p:nvSpPr>
          <p:cNvPr id="4" name="Zástupný symbol obrazu snímk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Zástupný symbol poznámo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6" name="Zástupný symbol pät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Zástupný symbol čísla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6FE940-ED10-4003-8467-34CB6679BD36}" type="slidenum">
              <a:rPr lang="en-US" smtClean="0"/>
              <a:t>‹#›</a:t>
            </a:fld>
            <a:endParaRPr lang="en-US"/>
          </a:p>
        </p:txBody>
      </p:sp>
    </p:spTree>
    <p:extLst>
      <p:ext uri="{BB962C8B-B14F-4D97-AF65-F5344CB8AC3E}">
        <p14:creationId xmlns:p14="http://schemas.microsoft.com/office/powerpoint/2010/main" val="1601127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seas.sk/data/contentlink/cfakepathhydro-power-plants-slovakia-2010-sk.pdf"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a:t>
            </a:fld>
            <a:endParaRPr lang="en-US"/>
          </a:p>
        </p:txBody>
      </p:sp>
    </p:spTree>
    <p:extLst>
      <p:ext uri="{BB962C8B-B14F-4D97-AF65-F5344CB8AC3E}">
        <p14:creationId xmlns:p14="http://schemas.microsoft.com/office/powerpoint/2010/main" val="2678297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2</a:t>
            </a:fld>
            <a:endParaRPr lang="en-US"/>
          </a:p>
        </p:txBody>
      </p:sp>
    </p:spTree>
    <p:extLst>
      <p:ext uri="{BB962C8B-B14F-4D97-AF65-F5344CB8AC3E}">
        <p14:creationId xmlns:p14="http://schemas.microsoft.com/office/powerpoint/2010/main" val="1094989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k-SK" dirty="0"/>
              <a:t>Na konci 19. storočia bola väčšina</a:t>
            </a:r>
            <a:r>
              <a:rPr lang="sk-SK" baseline="0" dirty="0"/>
              <a:t> miest osvetlených pouličnými lampami, ktoré svietili na základe horenia petroleja alebo plynu. To však nieslo zo sebou vysokú nehodovosť a množstvo vzniknutých požiarov. V roku 1879 bola vynájdená prvá žiarovka a vynálezcovia premýšľali akým spôsobom začať bezpečnejšie osvetľovať mestá a budovy. </a:t>
            </a:r>
            <a:r>
              <a:rPr lang="sk-SK" dirty="0"/>
              <a:t>Asi prvou elektrizačnou sústavou, bola sústava </a:t>
            </a:r>
            <a:r>
              <a:rPr lang="sk-SK" dirty="0" err="1"/>
              <a:t>Thomasa</a:t>
            </a:r>
            <a:r>
              <a:rPr lang="sk-SK" dirty="0"/>
              <a:t> </a:t>
            </a:r>
            <a:r>
              <a:rPr lang="sk-SK" dirty="0" err="1"/>
              <a:t>Edisona</a:t>
            </a:r>
            <a:r>
              <a:rPr lang="sk-SK" dirty="0"/>
              <a:t> navrhnutá pre južnú časť </a:t>
            </a:r>
            <a:r>
              <a:rPr lang="sk-SK" dirty="0" err="1"/>
              <a:t>Manhattanu</a:t>
            </a:r>
            <a:r>
              <a:rPr lang="sk-SK" dirty="0"/>
              <a:t> v meste New York v roku 1882. Úlohou </a:t>
            </a:r>
            <a:r>
              <a:rPr lang="sk-SK" dirty="0" err="1"/>
              <a:t>Edisona</a:t>
            </a:r>
            <a:r>
              <a:rPr lang="sk-SK" baseline="0" dirty="0"/>
              <a:t> a ostatných vynálezcov bolo</a:t>
            </a:r>
            <a:r>
              <a:rPr lang="sk-SK" dirty="0"/>
              <a:t> navrhnúť všetky komponenty ES od žiaroviek</a:t>
            </a:r>
            <a:r>
              <a:rPr lang="en-US" dirty="0"/>
              <a:t>(</a:t>
            </a:r>
            <a:r>
              <a:rPr lang="en-US" dirty="0" err="1"/>
              <a:t>spotreba</a:t>
            </a:r>
            <a:r>
              <a:rPr lang="en-US" dirty="0"/>
              <a:t>)</a:t>
            </a:r>
            <a:r>
              <a:rPr lang="sk-SK" dirty="0"/>
              <a:t>, vedenia</a:t>
            </a:r>
            <a:r>
              <a:rPr lang="en-US" dirty="0"/>
              <a:t>(</a:t>
            </a:r>
            <a:r>
              <a:rPr lang="en-US" dirty="0" err="1"/>
              <a:t>prenos</a:t>
            </a:r>
            <a:r>
              <a:rPr lang="en-US" dirty="0"/>
              <a:t>)</a:t>
            </a:r>
            <a:r>
              <a:rPr lang="sk-SK" dirty="0"/>
              <a:t> </a:t>
            </a:r>
            <a:r>
              <a:rPr lang="en-US" dirty="0"/>
              <a:t>a</a:t>
            </a:r>
            <a:r>
              <a:rPr lang="sk-SK" dirty="0"/>
              <a:t>ž po jednosmerný generátor </a:t>
            </a:r>
            <a:r>
              <a:rPr lang="en-US" dirty="0"/>
              <a:t>(v</a:t>
            </a:r>
            <a:r>
              <a:rPr lang="sk-SK" dirty="0"/>
              <a:t>ý</a:t>
            </a:r>
            <a:r>
              <a:rPr lang="en-US" dirty="0" err="1"/>
              <a:t>roba</a:t>
            </a:r>
            <a:r>
              <a:rPr lang="en-US" dirty="0"/>
              <a:t>)</a:t>
            </a:r>
            <a:r>
              <a:rPr lang="sk-SK" dirty="0"/>
              <a:t>.</a:t>
            </a:r>
            <a:r>
              <a:rPr lang="en-US" dirty="0"/>
              <a:t> I</a:t>
            </a:r>
            <a:r>
              <a:rPr lang="sk-SK" dirty="0"/>
              <a:t>šlo</a:t>
            </a:r>
            <a:r>
              <a:rPr lang="sk-SK" baseline="0" dirty="0"/>
              <a:t> pri tom o zavedenie štruktúry, ktorá sa používa dodnes. Vedci pri tom museli vynájsť veľa iných drobných komponentov ako napr. poistky, štandardizáciu závitov žiaroviek </a:t>
            </a:r>
            <a:r>
              <a:rPr lang="sk-SK" baseline="0" dirty="0" err="1"/>
              <a:t>atd</a:t>
            </a:r>
            <a:r>
              <a:rPr lang="sk-SK" baseline="0" dirty="0"/>
              <a:t>.</a:t>
            </a:r>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5</a:t>
            </a:fld>
            <a:endParaRPr lang="en-US"/>
          </a:p>
        </p:txBody>
      </p:sp>
    </p:spTree>
    <p:extLst>
      <p:ext uri="{BB962C8B-B14F-4D97-AF65-F5344CB8AC3E}">
        <p14:creationId xmlns:p14="http://schemas.microsoft.com/office/powerpoint/2010/main" val="3120940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r>
              <a:rPr lang="sk-SK" dirty="0"/>
              <a:t>Problémom</a:t>
            </a:r>
            <a:r>
              <a:rPr lang="sk-SK" baseline="0" dirty="0"/>
              <a:t> jednosmerných sietí bola maximálna vzdialenosť prenosu a prvá ES bola vo svojich prvých rokoch dotovaná z ostatných Edisonových firiem. S cenami žiaroviek to tiež nebolo moc dobré, nakoľko v tých rokoch stála žiarovka 1USD., čo predstavovalo trochu menej ako denný zárobok vtedajšieho robotníka.</a:t>
            </a:r>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6</a:t>
            </a:fld>
            <a:endParaRPr lang="en-US"/>
          </a:p>
        </p:txBody>
      </p:sp>
    </p:spTree>
    <p:extLst>
      <p:ext uri="{BB962C8B-B14F-4D97-AF65-F5344CB8AC3E}">
        <p14:creationId xmlns:p14="http://schemas.microsoft.com/office/powerpoint/2010/main" val="2287209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r>
              <a:rPr lang="sk-SK" dirty="0"/>
              <a:t>Edisonova</a:t>
            </a:r>
            <a:r>
              <a:rPr lang="sk-SK" baseline="0" dirty="0"/>
              <a:t> spoločnosť bola  nútená prejsť rovnako na striedavý štandard v roku 1891 a následne o rok neskôr bola odkúpená spoločnosťou, ktorú dnes poznáme ako General Electric.</a:t>
            </a:r>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7</a:t>
            </a:fld>
            <a:endParaRPr lang="en-US"/>
          </a:p>
        </p:txBody>
      </p:sp>
    </p:spTree>
    <p:extLst>
      <p:ext uri="{BB962C8B-B14F-4D97-AF65-F5344CB8AC3E}">
        <p14:creationId xmlns:p14="http://schemas.microsoft.com/office/powerpoint/2010/main" val="912522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8</a:t>
            </a:fld>
            <a:endParaRPr lang="en-US"/>
          </a:p>
        </p:txBody>
      </p:sp>
    </p:spTree>
    <p:extLst>
      <p:ext uri="{BB962C8B-B14F-4D97-AF65-F5344CB8AC3E}">
        <p14:creationId xmlns:p14="http://schemas.microsoft.com/office/powerpoint/2010/main" val="2262233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Prvé</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prípady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využitia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elektrickej</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energie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území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Slovenska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objavili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koncom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devätnásteho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storočia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Prvá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elektráreň</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území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Slovenska</a:t>
            </a:r>
            <a:r>
              <a:rPr lang="en-US" sz="1200" b="0" i="0" kern="1200" dirty="0">
                <a:solidFill>
                  <a:schemeClr val="tx1"/>
                </a:solidFill>
                <a:effectLst/>
                <a:latin typeface="+mn-lt"/>
                <a:ea typeface="+mn-ea"/>
                <a:cs typeface="+mn-cs"/>
              </a:rPr>
              <a:t> bola </a:t>
            </a:r>
            <a:r>
              <a:rPr lang="en-US" sz="1200" b="0" i="0" kern="1200" dirty="0" err="1">
                <a:solidFill>
                  <a:schemeClr val="tx1"/>
                </a:solidFill>
                <a:effectLst/>
                <a:latin typeface="+mn-lt"/>
                <a:ea typeface="+mn-ea"/>
                <a:cs typeface="+mn-cs"/>
              </a:rPr>
              <a:t>uvedená</a:t>
            </a:r>
            <a:r>
              <a:rPr lang="en-US" sz="1200" b="0" i="0" kern="1200" dirty="0">
                <a:solidFill>
                  <a:schemeClr val="tx1"/>
                </a:solidFill>
                <a:effectLst/>
                <a:latin typeface="+mn-lt"/>
                <a:ea typeface="+mn-ea"/>
                <a:cs typeface="+mn-cs"/>
              </a:rPr>
              <a:t> do </a:t>
            </a:r>
            <a:r>
              <a:rPr lang="en-US" sz="1200" b="0" i="0" kern="1200" dirty="0" err="1">
                <a:solidFill>
                  <a:schemeClr val="tx1"/>
                </a:solidFill>
                <a:effectLst/>
                <a:latin typeface="+mn-lt"/>
                <a:ea typeface="+mn-ea"/>
                <a:cs typeface="+mn-cs"/>
              </a:rPr>
              <a:t>prevádzky</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roku</a:t>
            </a:r>
            <a:r>
              <a:rPr lang="en-US" sz="1200" b="0" i="0" kern="1200" dirty="0">
                <a:solidFill>
                  <a:schemeClr val="tx1"/>
                </a:solidFill>
                <a:effectLst/>
                <a:latin typeface="+mn-lt"/>
                <a:ea typeface="+mn-ea"/>
                <a:cs typeface="+mn-cs"/>
              </a:rPr>
              <a:t> 1884 v </a:t>
            </a:r>
            <a:r>
              <a:rPr lang="sk-SK" sz="1200" b="0" i="0" kern="1200" dirty="0" err="1">
                <a:solidFill>
                  <a:schemeClr val="tx1"/>
                </a:solidFill>
                <a:effectLst/>
                <a:latin typeface="+mn-lt"/>
                <a:ea typeface="+mn-ea"/>
                <a:cs typeface="+mn-cs"/>
              </a:rPr>
              <a:t>Ludwigovom</a:t>
            </a:r>
            <a:r>
              <a:rPr lang="sk-SK"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mlyne</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Bratislave</a:t>
            </a:r>
            <a:r>
              <a:rPr lang="en-US" sz="1200" b="0" i="0" kern="1200" dirty="0">
                <a:solidFill>
                  <a:schemeClr val="tx1"/>
                </a:solidFill>
                <a:effectLst/>
                <a:latin typeface="+mn-lt"/>
                <a:ea typeface="+mn-ea"/>
                <a:cs typeface="+mn-cs"/>
              </a:rPr>
              <a:t> a v </a:t>
            </a:r>
            <a:r>
              <a:rPr lang="en-US" sz="1200" b="0" i="0" kern="1200" dirty="0" err="1">
                <a:solidFill>
                  <a:schemeClr val="tx1"/>
                </a:solidFill>
                <a:effectLst/>
                <a:latin typeface="+mn-lt"/>
                <a:ea typeface="+mn-ea"/>
                <a:cs typeface="+mn-cs"/>
              </a:rPr>
              <a:t>roku</a:t>
            </a:r>
            <a:r>
              <a:rPr lang="en-US" sz="1200" b="0" i="0" kern="1200" dirty="0">
                <a:solidFill>
                  <a:schemeClr val="tx1"/>
                </a:solidFill>
                <a:effectLst/>
                <a:latin typeface="+mn-lt"/>
                <a:ea typeface="+mn-ea"/>
                <a:cs typeface="+mn-cs"/>
              </a:rPr>
              <a:t> 1889 </a:t>
            </a:r>
            <a:r>
              <a:rPr lang="en-US" sz="1200" b="0" i="0" kern="1200" dirty="0" err="1">
                <a:solidFill>
                  <a:schemeClr val="tx1"/>
                </a:solidFill>
                <a:effectLst/>
                <a:latin typeface="+mn-lt"/>
                <a:ea typeface="+mn-ea"/>
                <a:cs typeface="+mn-cs"/>
              </a:rPr>
              <a:t>začala</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Krompachoch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pracovať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prvá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vodná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elektráreň</a:t>
            </a:r>
            <a:r>
              <a:rPr lang="en-US" sz="1200" b="0" i="0" kern="1200" dirty="0">
                <a:solidFill>
                  <a:schemeClr val="tx1"/>
                </a:solidFill>
                <a:effectLst/>
                <a:latin typeface="+mn-lt"/>
                <a:ea typeface="+mn-ea"/>
                <a:cs typeface="+mn-cs"/>
              </a:rPr>
              <a:t> s </a:t>
            </a:r>
            <a:r>
              <a:rPr lang="en-US" sz="1200" b="0" i="0" kern="1200" dirty="0" err="1">
                <a:solidFill>
                  <a:schemeClr val="tx1"/>
                </a:solidFill>
                <a:effectLst/>
                <a:latin typeface="+mn-lt"/>
                <a:ea typeface="+mn-ea"/>
                <a:cs typeface="+mn-cs"/>
              </a:rPr>
              <a:t>výkonom</a:t>
            </a:r>
            <a:r>
              <a:rPr lang="en-US" sz="1200" b="0" i="0" kern="1200" dirty="0">
                <a:solidFill>
                  <a:schemeClr val="tx1"/>
                </a:solidFill>
                <a:effectLst/>
                <a:latin typeface="+mn-lt"/>
                <a:ea typeface="+mn-ea"/>
                <a:cs typeface="+mn-cs"/>
              </a:rPr>
              <a:t> 22kW.</a:t>
            </a:r>
            <a:r>
              <a:rPr lang="sk-SK" sz="1200" b="0" i="0" kern="120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9</a:t>
            </a:fld>
            <a:endParaRPr lang="en-US"/>
          </a:p>
        </p:txBody>
      </p:sp>
    </p:spTree>
    <p:extLst>
      <p:ext uri="{BB962C8B-B14F-4D97-AF65-F5344CB8AC3E}">
        <p14:creationId xmlns:p14="http://schemas.microsoft.com/office/powerpoint/2010/main" val="3506725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1953 </a:t>
            </a:r>
            <a:r>
              <a:rPr lang="en-US" sz="1200" b="0" i="0" kern="1200" dirty="0" err="1">
                <a:solidFill>
                  <a:schemeClr val="tx1"/>
                </a:solidFill>
                <a:effectLst/>
                <a:latin typeface="+mn-lt"/>
                <a:ea typeface="+mn-ea"/>
                <a:cs typeface="+mn-cs"/>
              </a:rPr>
              <a:t>Uvedenie</a:t>
            </a:r>
            <a:r>
              <a:rPr lang="en-US" sz="1200" b="0" i="0" kern="1200" dirty="0">
                <a:solidFill>
                  <a:schemeClr val="tx1"/>
                </a:solidFill>
                <a:effectLst/>
                <a:latin typeface="+mn-lt"/>
                <a:ea typeface="+mn-ea"/>
                <a:cs typeface="+mn-cs"/>
              </a:rPr>
              <a:t> do </a:t>
            </a:r>
            <a:r>
              <a:rPr lang="en-US" sz="1200" b="0" i="0" kern="1200" dirty="0" err="1">
                <a:solidFill>
                  <a:schemeClr val="tx1"/>
                </a:solidFill>
                <a:effectLst/>
                <a:latin typeface="+mn-lt"/>
                <a:ea typeface="+mn-ea"/>
                <a:cs typeface="+mn-cs"/>
              </a:rPr>
              <a:t>prevádzky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prvého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kotla</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turbogenerátora</a:t>
            </a:r>
            <a:r>
              <a:rPr lang="sk-SK" sz="1200" b="0" i="0" kern="1200" dirty="0">
                <a:solidFill>
                  <a:schemeClr val="tx1"/>
                </a:solidFill>
                <a:effectLst/>
                <a:latin typeface="+mn-lt"/>
                <a:ea typeface="+mn-ea"/>
                <a:cs typeface="+mn-cs"/>
              </a:rPr>
              <a:t> u ENO.</a:t>
            </a:r>
            <a:r>
              <a:rPr lang="sk-SK" sz="1200" b="0" i="0" kern="1200" baseline="0" dirty="0">
                <a:solidFill>
                  <a:schemeClr val="tx1"/>
                </a:solidFill>
                <a:effectLst/>
                <a:latin typeface="+mn-lt"/>
                <a:ea typeface="+mn-ea"/>
                <a:cs typeface="+mn-cs"/>
              </a:rPr>
              <a:t> </a:t>
            </a:r>
            <a:endParaRPr lang="en-US" sz="1200" b="0" i="0" kern="1200" dirty="0">
              <a:solidFill>
                <a:schemeClr val="tx1"/>
              </a:solidFill>
              <a:effectLst/>
              <a:latin typeface="+mn-lt"/>
              <a:ea typeface="+mn-ea"/>
              <a:cs typeface="+mn-cs"/>
            </a:endParaRPr>
          </a:p>
          <a:p>
            <a:r>
              <a:rPr lang="sk-SK" dirty="0"/>
              <a:t>Výstavba Vážskej kaskády 1936- 1965</a:t>
            </a:r>
          </a:p>
          <a:p>
            <a:r>
              <a:rPr lang="en-US" dirty="0" err="1">
                <a:hlinkClick r:id="rId3"/>
              </a:rPr>
              <a:t>brozura_vod_el_SK.indd</a:t>
            </a:r>
            <a:r>
              <a:rPr lang="en-US" dirty="0">
                <a:hlinkClick r:id="rId3"/>
              </a:rPr>
              <a:t> (seas.sk)</a:t>
            </a:r>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10</a:t>
            </a:fld>
            <a:endParaRPr lang="en-US"/>
          </a:p>
        </p:txBody>
      </p:sp>
    </p:spTree>
    <p:extLst>
      <p:ext uri="{BB962C8B-B14F-4D97-AF65-F5344CB8AC3E}">
        <p14:creationId xmlns:p14="http://schemas.microsoft.com/office/powerpoint/2010/main" val="3646315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11</a:t>
            </a:fld>
            <a:endParaRPr lang="en-US"/>
          </a:p>
        </p:txBody>
      </p:sp>
    </p:spTree>
    <p:extLst>
      <p:ext uri="{BB962C8B-B14F-4D97-AF65-F5344CB8AC3E}">
        <p14:creationId xmlns:p14="http://schemas.microsoft.com/office/powerpoint/2010/main" val="351867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12</a:t>
            </a:fld>
            <a:endParaRPr lang="en-US"/>
          </a:p>
        </p:txBody>
      </p:sp>
    </p:spTree>
    <p:extLst>
      <p:ext uri="{BB962C8B-B14F-4D97-AF65-F5344CB8AC3E}">
        <p14:creationId xmlns:p14="http://schemas.microsoft.com/office/powerpoint/2010/main" val="2007331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13</a:t>
            </a:fld>
            <a:endParaRPr lang="en-US"/>
          </a:p>
        </p:txBody>
      </p:sp>
    </p:spTree>
    <p:extLst>
      <p:ext uri="{BB962C8B-B14F-4D97-AF65-F5344CB8AC3E}">
        <p14:creationId xmlns:p14="http://schemas.microsoft.com/office/powerpoint/2010/main" val="159770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14</a:t>
            </a:fld>
            <a:endParaRPr lang="en-US"/>
          </a:p>
        </p:txBody>
      </p:sp>
    </p:spTree>
    <p:extLst>
      <p:ext uri="{BB962C8B-B14F-4D97-AF65-F5344CB8AC3E}">
        <p14:creationId xmlns:p14="http://schemas.microsoft.com/office/powerpoint/2010/main" val="2860568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15</a:t>
            </a:fld>
            <a:endParaRPr lang="en-US"/>
          </a:p>
        </p:txBody>
      </p:sp>
    </p:spTree>
    <p:extLst>
      <p:ext uri="{BB962C8B-B14F-4D97-AF65-F5344CB8AC3E}">
        <p14:creationId xmlns:p14="http://schemas.microsoft.com/office/powerpoint/2010/main" val="2447810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r>
              <a:rPr lang="sk-SK" dirty="0"/>
              <a:t>Vodné turbíny premieňajú</a:t>
            </a:r>
            <a:r>
              <a:rPr lang="sk-SK" baseline="0" dirty="0"/>
              <a:t> hydrodynamickú energiu na mechanickú. Napravo sa nachádza rez </a:t>
            </a:r>
            <a:r>
              <a:rPr lang="sk-SK" baseline="0" dirty="0" err="1"/>
              <a:t>Kaplanovou</a:t>
            </a:r>
            <a:r>
              <a:rPr lang="sk-SK" baseline="0" dirty="0"/>
              <a:t> turbínou.</a:t>
            </a:r>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16</a:t>
            </a:fld>
            <a:endParaRPr lang="en-US"/>
          </a:p>
        </p:txBody>
      </p:sp>
    </p:spTree>
    <p:extLst>
      <p:ext uri="{BB962C8B-B14F-4D97-AF65-F5344CB8AC3E}">
        <p14:creationId xmlns:p14="http://schemas.microsoft.com/office/powerpoint/2010/main" val="4638796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18</a:t>
            </a:fld>
            <a:endParaRPr lang="en-US"/>
          </a:p>
        </p:txBody>
      </p:sp>
    </p:spTree>
    <p:extLst>
      <p:ext uri="{BB962C8B-B14F-4D97-AF65-F5344CB8AC3E}">
        <p14:creationId xmlns:p14="http://schemas.microsoft.com/office/powerpoint/2010/main" val="945431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19</a:t>
            </a:fld>
            <a:endParaRPr lang="en-US"/>
          </a:p>
        </p:txBody>
      </p:sp>
    </p:spTree>
    <p:extLst>
      <p:ext uri="{BB962C8B-B14F-4D97-AF65-F5344CB8AC3E}">
        <p14:creationId xmlns:p14="http://schemas.microsoft.com/office/powerpoint/2010/main" val="1114183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20</a:t>
            </a:fld>
            <a:endParaRPr lang="en-US"/>
          </a:p>
        </p:txBody>
      </p:sp>
    </p:spTree>
    <p:extLst>
      <p:ext uri="{BB962C8B-B14F-4D97-AF65-F5344CB8AC3E}">
        <p14:creationId xmlns:p14="http://schemas.microsoft.com/office/powerpoint/2010/main" val="39286819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21</a:t>
            </a:fld>
            <a:endParaRPr lang="en-US"/>
          </a:p>
        </p:txBody>
      </p:sp>
    </p:spTree>
    <p:extLst>
      <p:ext uri="{BB962C8B-B14F-4D97-AF65-F5344CB8AC3E}">
        <p14:creationId xmlns:p14="http://schemas.microsoft.com/office/powerpoint/2010/main" val="3750829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22</a:t>
            </a:fld>
            <a:endParaRPr lang="en-US"/>
          </a:p>
        </p:txBody>
      </p:sp>
    </p:spTree>
    <p:extLst>
      <p:ext uri="{BB962C8B-B14F-4D97-AF65-F5344CB8AC3E}">
        <p14:creationId xmlns:p14="http://schemas.microsoft.com/office/powerpoint/2010/main" val="1279908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23</a:t>
            </a:fld>
            <a:endParaRPr lang="en-US"/>
          </a:p>
        </p:txBody>
      </p:sp>
    </p:spTree>
    <p:extLst>
      <p:ext uri="{BB962C8B-B14F-4D97-AF65-F5344CB8AC3E}">
        <p14:creationId xmlns:p14="http://schemas.microsoft.com/office/powerpoint/2010/main" val="1481233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24</a:t>
            </a:fld>
            <a:endParaRPr lang="en-US"/>
          </a:p>
        </p:txBody>
      </p:sp>
    </p:spTree>
    <p:extLst>
      <p:ext uri="{BB962C8B-B14F-4D97-AF65-F5344CB8AC3E}">
        <p14:creationId xmlns:p14="http://schemas.microsoft.com/office/powerpoint/2010/main" val="10058067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k-SK" dirty="0"/>
          </a:p>
        </p:txBody>
      </p:sp>
      <p:sp>
        <p:nvSpPr>
          <p:cNvPr id="4" name="Slide Number Placeholder 3"/>
          <p:cNvSpPr>
            <a:spLocks noGrp="1"/>
          </p:cNvSpPr>
          <p:nvPr>
            <p:ph type="sldNum" sz="quarter" idx="5"/>
          </p:nvPr>
        </p:nvSpPr>
        <p:spPr/>
        <p:txBody>
          <a:bodyPr/>
          <a:lstStyle/>
          <a:p>
            <a:fld id="{1A6FE940-ED10-4003-8467-34CB6679BD36}" type="slidenum">
              <a:rPr lang="en-US" smtClean="0"/>
              <a:t>26</a:t>
            </a:fld>
            <a:endParaRPr lang="en-US"/>
          </a:p>
        </p:txBody>
      </p:sp>
    </p:spTree>
    <p:extLst>
      <p:ext uri="{BB962C8B-B14F-4D97-AF65-F5344CB8AC3E}">
        <p14:creationId xmlns:p14="http://schemas.microsoft.com/office/powerpoint/2010/main" val="2731603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Úvodná snímka">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sk-SK"/>
              <a:t>Upravte štýly predlohy textu</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k-SK"/>
              <a:t>Upravte štýl predlohy podnadpisov</a:t>
            </a:r>
            <a:endParaRPr lang="en-US" dirty="0"/>
          </a:p>
        </p:txBody>
      </p:sp>
      <p:sp>
        <p:nvSpPr>
          <p:cNvPr id="4" name="Date Placeholder 3"/>
          <p:cNvSpPr>
            <a:spLocks noGrp="1"/>
          </p:cNvSpPr>
          <p:nvPr>
            <p:ph type="dt" sz="half" idx="10"/>
          </p:nvPr>
        </p:nvSpPr>
        <p:spPr/>
        <p:txBody>
          <a:bodyPr/>
          <a:lstStyle/>
          <a:p>
            <a:fld id="{987A2CBA-41A6-45E0-99C5-6F4A8E6BEB0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2952685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sk-SK"/>
              <a:t>Upravte štýly predlohy textu</a:t>
            </a:r>
            <a:endParaRPr lang="en-US" dirty="0"/>
          </a:p>
        </p:txBody>
      </p:sp>
      <p:sp>
        <p:nvSpPr>
          <p:cNvPr id="3" name="Content Placeholder 2"/>
          <p:cNvSpPr>
            <a:spLocks noGrp="1"/>
          </p:cNvSpPr>
          <p:nvPr>
            <p:ph idx="1"/>
          </p:nvPr>
        </p:nvSpPr>
        <p:spPr/>
        <p:txBody>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987A2CBA-41A6-45E0-99C5-6F4A8E6BEB0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3781702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lavička sekcie">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sk-SK"/>
              <a:t>Upravte štýly predlohy textu</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987A2CBA-41A6-45E0-99C5-6F4A8E6BEB0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687106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Upravte štýly predlohy textu</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5" name="Date Placeholder 4"/>
          <p:cNvSpPr>
            <a:spLocks noGrp="1"/>
          </p:cNvSpPr>
          <p:nvPr>
            <p:ph type="dt" sz="half" idx="10"/>
          </p:nvPr>
        </p:nvSpPr>
        <p:spPr/>
        <p:txBody>
          <a:bodyPr/>
          <a:lstStyle/>
          <a:p>
            <a:fld id="{987A2CBA-41A6-45E0-99C5-6F4A8E6BEB0F}"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3152325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sk-SK"/>
              <a:t>Upravte štýly predlohy textu</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Upravte štýl predlohy textu.</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Upravte štýl predlohy textu.</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7" name="Date Placeholder 6"/>
          <p:cNvSpPr>
            <a:spLocks noGrp="1"/>
          </p:cNvSpPr>
          <p:nvPr>
            <p:ph type="dt" sz="half" idx="10"/>
          </p:nvPr>
        </p:nvSpPr>
        <p:spPr/>
        <p:txBody>
          <a:bodyPr/>
          <a:lstStyle/>
          <a:p>
            <a:fld id="{987A2CBA-41A6-45E0-99C5-6F4A8E6BEB0F}"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2744247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sk-SK"/>
              <a:t>Upravte štýly predlohy textu</a:t>
            </a:r>
            <a:endParaRPr lang="en-US" dirty="0"/>
          </a:p>
        </p:txBody>
      </p:sp>
      <p:sp>
        <p:nvSpPr>
          <p:cNvPr id="3" name="Date Placeholder 2"/>
          <p:cNvSpPr>
            <a:spLocks noGrp="1"/>
          </p:cNvSpPr>
          <p:nvPr>
            <p:ph type="dt" sz="half" idx="10"/>
          </p:nvPr>
        </p:nvSpPr>
        <p:spPr/>
        <p:txBody>
          <a:bodyPr/>
          <a:lstStyle/>
          <a:p>
            <a:fld id="{987A2CBA-41A6-45E0-99C5-6F4A8E6BEB0F}"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3617363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7A2CBA-41A6-45E0-99C5-6F4A8E6BEB0F}"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3229067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popisom">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sk-SK"/>
              <a:t>Upravte štýly predlohy textu</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sk-SK"/>
              <a:t>Upravte štýl predlohy textu.</a:t>
            </a:r>
          </a:p>
        </p:txBody>
      </p:sp>
      <p:sp>
        <p:nvSpPr>
          <p:cNvPr id="5" name="Date Placeholder 4"/>
          <p:cNvSpPr>
            <a:spLocks noGrp="1"/>
          </p:cNvSpPr>
          <p:nvPr>
            <p:ph type="dt" sz="half" idx="10"/>
          </p:nvPr>
        </p:nvSpPr>
        <p:spPr/>
        <p:txBody>
          <a:bodyPr/>
          <a:lstStyle/>
          <a:p>
            <a:fld id="{987A2CBA-41A6-45E0-99C5-6F4A8E6BEB0F}"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241193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ok s popisom">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sk-SK"/>
              <a:t>Upravte štýly predlohy textu</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sk-SK"/>
              <a:t>Ak chcete pridať obrázok, kliknite na ikonu</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Upravte štýl predlohy textu.</a:t>
            </a:r>
          </a:p>
        </p:txBody>
      </p:sp>
      <p:sp>
        <p:nvSpPr>
          <p:cNvPr id="5" name="Date Placeholder 4"/>
          <p:cNvSpPr>
            <a:spLocks noGrp="1"/>
          </p:cNvSpPr>
          <p:nvPr>
            <p:ph type="dt" sz="half" idx="10"/>
          </p:nvPr>
        </p:nvSpPr>
        <p:spPr/>
        <p:txBody>
          <a:bodyPr/>
          <a:lstStyle/>
          <a:p>
            <a:fld id="{987A2CBA-41A6-45E0-99C5-6F4A8E6BEB0F}"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780483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Názov a popis">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sk-SK"/>
              <a:t>Upravte štýly predlohy textu</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987A2CBA-41A6-45E0-99C5-6F4A8E6BEB0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291186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onuka s popisom">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k-SK"/>
              <a:t>Upravte štýly predlohy textu</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k-SK"/>
              <a:t>Upravte štýl predlohy textu.</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987A2CBA-41A6-45E0-99C5-6F4A8E6BEB0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2A535-938A-4823-80AB-3F7FFCE4737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15828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Karta s názv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sk-SK"/>
              <a:t>Upravte štýly predlohy textu</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987A2CBA-41A6-45E0-99C5-6F4A8E6BEB0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16746093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arta s názvom ponuky">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k-SK"/>
              <a:t>Upravte štýly predlohy textu</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k-SK"/>
              <a:t>Upravte štýl predlohy textu.</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987A2CBA-41A6-45E0-99C5-6F4A8E6BEB0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2A535-938A-4823-80AB-3F7FFCE4737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05416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alebo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sk-SK"/>
              <a:t>Upravte štýly predlohy textu</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k-SK"/>
              <a:t>Upravte štýl predlohy textu.</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987A2CBA-41A6-45E0-99C5-6F4A8E6BEB0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39208262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Upravte štýly predlohy textu</a:t>
            </a:r>
            <a:endParaRPr lang="en-US" dirty="0"/>
          </a:p>
        </p:txBody>
      </p:sp>
      <p:sp>
        <p:nvSpPr>
          <p:cNvPr id="3" name="Vertical Text Placeholder 2"/>
          <p:cNvSpPr>
            <a:spLocks noGrp="1"/>
          </p:cNvSpPr>
          <p:nvPr>
            <p:ph type="body" orient="vert" idx="1"/>
          </p:nvPr>
        </p:nvSpPr>
        <p:spPr/>
        <p:txBody>
          <a:bodyPr vert="eaVert"/>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987A2CBA-41A6-45E0-99C5-6F4A8E6BEB0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1593839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Zvislý nadpis a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sk-SK"/>
              <a:t>Upravte štýly predlohy textu</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987A2CBA-41A6-45E0-99C5-6F4A8E6BEB0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2A535-938A-4823-80AB-3F7FFCE47372}" type="slidenum">
              <a:rPr lang="en-US" smtClean="0"/>
              <a:t>‹#›</a:t>
            </a:fld>
            <a:endParaRPr lang="en-US"/>
          </a:p>
        </p:txBody>
      </p:sp>
    </p:spTree>
    <p:extLst>
      <p:ext uri="{BB962C8B-B14F-4D97-AF65-F5344CB8AC3E}">
        <p14:creationId xmlns:p14="http://schemas.microsoft.com/office/powerpoint/2010/main" val="2187050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sk-SK"/>
              <a:t>Upravte štýly predlohy textu</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87A2CBA-41A6-45E0-99C5-6F4A8E6BEB0F}" type="datetimeFigureOut">
              <a:rPr lang="en-US" smtClean="0"/>
              <a:t>2/18/2026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4B2A535-938A-4823-80AB-3F7FFCE47372}" type="slidenum">
              <a:rPr lang="en-US" smtClean="0"/>
              <a:t>‹#›</a:t>
            </a:fld>
            <a:endParaRPr lang="en-US"/>
          </a:p>
        </p:txBody>
      </p:sp>
    </p:spTree>
    <p:extLst>
      <p:ext uri="{BB962C8B-B14F-4D97-AF65-F5344CB8AC3E}">
        <p14:creationId xmlns:p14="http://schemas.microsoft.com/office/powerpoint/2010/main" val="101787355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fei.stuba.sk/sk/studium/informacie-o-studiu/legislativa.html?page_id=2273"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youtu.be/Brjt3cdIT8o"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p:txBody>
          <a:bodyPr/>
          <a:lstStyle/>
          <a:p>
            <a:r>
              <a:rPr lang="sk-SK" dirty="0"/>
              <a:t>Dynamika elektrizačných sústav</a:t>
            </a:r>
          </a:p>
        </p:txBody>
      </p:sp>
      <p:sp>
        <p:nvSpPr>
          <p:cNvPr id="3" name="Podnadpis 2"/>
          <p:cNvSpPr>
            <a:spLocks noGrp="1"/>
          </p:cNvSpPr>
          <p:nvPr>
            <p:ph type="subTitle" idx="1"/>
          </p:nvPr>
        </p:nvSpPr>
        <p:spPr>
          <a:xfrm>
            <a:off x="1507067" y="4050836"/>
            <a:ext cx="7766936" cy="1096899"/>
          </a:xfrm>
        </p:spPr>
        <p:txBody>
          <a:bodyPr>
            <a:normAutofit lnSpcReduction="10000"/>
          </a:bodyPr>
          <a:lstStyle/>
          <a:p>
            <a:r>
              <a:rPr lang="sk-SK" dirty="0"/>
              <a:t>Študijný program: Robotika a kybernetika</a:t>
            </a:r>
          </a:p>
          <a:p>
            <a:r>
              <a:rPr lang="sk-SK" dirty="0"/>
              <a:t>2026</a:t>
            </a:r>
          </a:p>
          <a:p>
            <a:r>
              <a:rPr lang="sk-SK" dirty="0"/>
              <a:t>Doc. Ing. Martin Ernek PhD.</a:t>
            </a:r>
            <a:endParaRPr lang="en-US" dirty="0"/>
          </a:p>
        </p:txBody>
      </p:sp>
    </p:spTree>
    <p:extLst>
      <p:ext uri="{BB962C8B-B14F-4D97-AF65-F5344CB8AC3E}">
        <p14:creationId xmlns:p14="http://schemas.microsoft.com/office/powerpoint/2010/main" val="1054429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Obsah predmetu</a:t>
            </a:r>
            <a:endParaRPr lang="en-US" dirty="0"/>
          </a:p>
        </p:txBody>
      </p:sp>
      <p:sp>
        <p:nvSpPr>
          <p:cNvPr id="3" name="Zástupný symbol obsahu 2"/>
          <p:cNvSpPr>
            <a:spLocks noGrp="1"/>
          </p:cNvSpPr>
          <p:nvPr>
            <p:ph idx="1"/>
          </p:nvPr>
        </p:nvSpPr>
        <p:spPr/>
        <p:txBody>
          <a:bodyPr>
            <a:normAutofit/>
          </a:bodyPr>
          <a:lstStyle/>
          <a:p>
            <a:r>
              <a:rPr lang="sk-SK" dirty="0"/>
              <a:t>1. Týždeň: Elektrizačná sústava</a:t>
            </a:r>
            <a:r>
              <a:rPr lang="en-US" dirty="0"/>
              <a:t>(ES)</a:t>
            </a:r>
            <a:r>
              <a:rPr lang="sk-SK" dirty="0"/>
              <a:t>, úvod do modelovania ES </a:t>
            </a:r>
          </a:p>
          <a:p>
            <a:r>
              <a:rPr lang="sk-SK" dirty="0"/>
              <a:t>2. Týždeň: Synchrónny generátor, budenie</a:t>
            </a:r>
          </a:p>
          <a:p>
            <a:r>
              <a:rPr lang="sk-SK" dirty="0"/>
              <a:t>3. Týždeň: Turbíny a ich regulácia</a:t>
            </a:r>
          </a:p>
          <a:p>
            <a:r>
              <a:rPr lang="sk-SK" dirty="0"/>
              <a:t>4. Týždeň: Hierarchická regulácia frekvencie a napätia</a:t>
            </a:r>
          </a:p>
          <a:p>
            <a:r>
              <a:rPr lang="sk-SK" dirty="0"/>
              <a:t>5. Týždeň: Plán obrany a plán obnovy ES</a:t>
            </a:r>
          </a:p>
          <a:p>
            <a:r>
              <a:rPr lang="sk-SK" dirty="0"/>
              <a:t>6. Týždeň: Linearizovaný model synchrónneho generátora</a:t>
            </a:r>
          </a:p>
          <a:p>
            <a:r>
              <a:rPr lang="sk-SK" dirty="0"/>
              <a:t>7. Týždeň: Test, zadanie projektov</a:t>
            </a:r>
          </a:p>
          <a:p>
            <a:r>
              <a:rPr lang="sk-SK" dirty="0"/>
              <a:t>8. – 1</a:t>
            </a:r>
            <a:r>
              <a:rPr lang="en-GB" dirty="0"/>
              <a:t>2</a:t>
            </a:r>
            <a:r>
              <a:rPr lang="sk-SK" dirty="0"/>
              <a:t>. týždeň: Riešenie projektov</a:t>
            </a:r>
          </a:p>
          <a:p>
            <a:r>
              <a:rPr lang="sk-SK" dirty="0"/>
              <a:t>Skúška: Obhajoba projektov</a:t>
            </a:r>
          </a:p>
        </p:txBody>
      </p:sp>
    </p:spTree>
    <p:extLst>
      <p:ext uri="{BB962C8B-B14F-4D97-AF65-F5344CB8AC3E}">
        <p14:creationId xmlns:p14="http://schemas.microsoft.com/office/powerpoint/2010/main" val="4027515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Organizácia predmetu</a:t>
            </a:r>
            <a:endParaRPr lang="en-US" dirty="0"/>
          </a:p>
        </p:txBody>
      </p:sp>
      <p:sp>
        <p:nvSpPr>
          <p:cNvPr id="3" name="Zástupný symbol obsahu 2"/>
          <p:cNvSpPr>
            <a:spLocks noGrp="1"/>
          </p:cNvSpPr>
          <p:nvPr>
            <p:ph idx="1"/>
          </p:nvPr>
        </p:nvSpPr>
        <p:spPr/>
        <p:txBody>
          <a:bodyPr>
            <a:normAutofit/>
          </a:bodyPr>
          <a:lstStyle/>
          <a:p>
            <a:r>
              <a:rPr lang="sk-SK" dirty="0"/>
              <a:t>Podmienky na absolvovanie predmetu:</a:t>
            </a:r>
          </a:p>
          <a:p>
            <a:r>
              <a:rPr lang="sk-SK" dirty="0"/>
              <a:t>V priebehu semestra majú študenti možnosť získať 20 bodov – z testu (približne 6. týždeň semestra). Maximálny bodový zisk zo semestrálneho projektu je 80 bodov. Skúška pozostáva z obhajoby semestrálneho projektu a je možné ústne doskúšanie. Konečné hodnotenie študenta známkou je dané aktuálnym študijným poriadkom.</a:t>
            </a:r>
          </a:p>
          <a:p>
            <a:r>
              <a:rPr lang="sk-SK" dirty="0"/>
              <a:t>Podklady na prednášky a návody cvičení budú v IS.</a:t>
            </a:r>
          </a:p>
          <a:p>
            <a:r>
              <a:rPr lang="sk-SK" dirty="0"/>
              <a:t>Hodnotenie bude cez IS.</a:t>
            </a:r>
          </a:p>
          <a:p>
            <a:r>
              <a:rPr lang="sk-SK" dirty="0"/>
              <a:t>Dochádzka cez IS.</a:t>
            </a:r>
          </a:p>
          <a:p>
            <a:endParaRPr lang="sk-SK" dirty="0"/>
          </a:p>
        </p:txBody>
      </p:sp>
    </p:spTree>
    <p:extLst>
      <p:ext uri="{BB962C8B-B14F-4D97-AF65-F5344CB8AC3E}">
        <p14:creationId xmlns:p14="http://schemas.microsoft.com/office/powerpoint/2010/main" val="895034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349BF-15FA-E15E-AC66-87DD277F1ACD}"/>
              </a:ext>
            </a:extLst>
          </p:cNvPr>
          <p:cNvSpPr>
            <a:spLocks noGrp="1"/>
          </p:cNvSpPr>
          <p:nvPr>
            <p:ph type="title"/>
          </p:nvPr>
        </p:nvSpPr>
        <p:spPr/>
        <p:txBody>
          <a:bodyPr/>
          <a:lstStyle/>
          <a:p>
            <a:r>
              <a:rPr lang="sk-SK" dirty="0"/>
              <a:t>Oznam</a:t>
            </a:r>
            <a:endParaRPr lang="en-GB" dirty="0"/>
          </a:p>
        </p:txBody>
      </p:sp>
      <p:sp>
        <p:nvSpPr>
          <p:cNvPr id="3" name="Content Placeholder 2">
            <a:extLst>
              <a:ext uri="{FF2B5EF4-FFF2-40B4-BE49-F238E27FC236}">
                <a16:creationId xmlns:a16="http://schemas.microsoft.com/office/drawing/2014/main" id="{B8A9BC36-CC83-FB0E-CD71-B4D66FC9DE79}"/>
              </a:ext>
            </a:extLst>
          </p:cNvPr>
          <p:cNvSpPr>
            <a:spLocks noGrp="1"/>
          </p:cNvSpPr>
          <p:nvPr>
            <p:ph idx="1"/>
          </p:nvPr>
        </p:nvSpPr>
        <p:spPr/>
        <p:txBody>
          <a:bodyPr>
            <a:normAutofit/>
          </a:bodyPr>
          <a:lstStyle/>
          <a:p>
            <a:pPr rtl="0"/>
            <a:r>
              <a:rPr lang="sk-SK" dirty="0"/>
              <a:t>Podľa zákona 131/2002 </a:t>
            </a:r>
            <a:r>
              <a:rPr lang="sk-SK" dirty="0" err="1"/>
              <a:t>Z.z</a:t>
            </a:r>
            <a:r>
              <a:rPr lang="sk-SK" dirty="0"/>
              <a:t>. o vysokých školách a o zmene a doplnení niektorých zákonov a Študijného poriadku STU </a:t>
            </a:r>
            <a:br>
              <a:rPr lang="sk-SK" dirty="0"/>
            </a:br>
            <a:r>
              <a:rPr lang="sk-SK" dirty="0">
                <a:hlinkClick r:id="rId2"/>
              </a:rPr>
              <a:t>https://www.fei.stuba.sk/sk/studium/informacie-o-studiu/legislativa.html?page_id=2273</a:t>
            </a:r>
            <a:endParaRPr lang="sk-SK" dirty="0"/>
          </a:p>
          <a:p>
            <a:pPr rtl="0"/>
            <a:r>
              <a:rPr lang="sk-SK" dirty="0"/>
              <a:t>je študent povinný zúčastňovať sa na vzdelávacej činnosti. Organizáciu vzdelávacích činností predmetov študijného programu, medzi ktoré patrí aj prednáška,  upravujú nasledujúce články: </a:t>
            </a:r>
          </a:p>
          <a:p>
            <a:pPr lvl="1"/>
            <a:r>
              <a:rPr lang="sk-SK" dirty="0"/>
              <a:t>VŠ zákon 131/2002 </a:t>
            </a:r>
            <a:r>
              <a:rPr lang="sk-SK" dirty="0" err="1"/>
              <a:t>Z.z</a:t>
            </a:r>
            <a:r>
              <a:rPr lang="sk-SK" dirty="0"/>
              <a:t>., § 51, </a:t>
            </a:r>
          </a:p>
          <a:p>
            <a:pPr lvl="1"/>
            <a:r>
              <a:rPr lang="sk-SK" dirty="0"/>
              <a:t>Študijný program a študijný plán, Študijný poriadok STU, Článok 5 </a:t>
            </a:r>
          </a:p>
          <a:p>
            <a:endParaRPr lang="sk-SK" dirty="0"/>
          </a:p>
        </p:txBody>
      </p:sp>
    </p:spTree>
    <p:extLst>
      <p:ext uri="{BB962C8B-B14F-4D97-AF65-F5344CB8AC3E}">
        <p14:creationId xmlns:p14="http://schemas.microsoft.com/office/powerpoint/2010/main" val="2803555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História</a:t>
            </a:r>
          </a:p>
        </p:txBody>
      </p:sp>
      <p:pic>
        <p:nvPicPr>
          <p:cNvPr id="5" name="Zástupný symbol obsahu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392610" y="1415256"/>
            <a:ext cx="3500815" cy="5363249"/>
          </a:xfrm>
        </p:spPr>
      </p:pic>
      <p:sp>
        <p:nvSpPr>
          <p:cNvPr id="3" name="Zástupný symbol obsahu 2"/>
          <p:cNvSpPr>
            <a:spLocks noGrp="1"/>
          </p:cNvSpPr>
          <p:nvPr>
            <p:ph sz="half" idx="1"/>
          </p:nvPr>
        </p:nvSpPr>
        <p:spPr>
          <a:xfrm>
            <a:off x="838199" y="1825625"/>
            <a:ext cx="7349067" cy="4351338"/>
          </a:xfrm>
        </p:spPr>
        <p:txBody>
          <a:bodyPr>
            <a:normAutofit/>
          </a:bodyPr>
          <a:lstStyle/>
          <a:p>
            <a:r>
              <a:rPr lang="sk-SK" dirty="0"/>
              <a:t>Asi prvou elektrizačnou sústavou, bola sústava </a:t>
            </a:r>
            <a:r>
              <a:rPr lang="sk-SK" dirty="0" err="1"/>
              <a:t>Thomasa</a:t>
            </a:r>
            <a:r>
              <a:rPr lang="sk-SK" dirty="0"/>
              <a:t> </a:t>
            </a:r>
            <a:r>
              <a:rPr lang="sk-SK" dirty="0" err="1"/>
              <a:t>Edisona</a:t>
            </a:r>
            <a:r>
              <a:rPr lang="sk-SK" dirty="0"/>
              <a:t> navrhnutá pre južnú časť </a:t>
            </a:r>
            <a:r>
              <a:rPr lang="sk-SK" dirty="0" err="1"/>
              <a:t>Manhattanu</a:t>
            </a:r>
            <a:r>
              <a:rPr lang="sk-SK" dirty="0"/>
              <a:t> v meste New York v roku 1882. Išlo pri tom o jednoduchý systém pouličného osvetlenia a osvetlenia v niekoľkých budovách.</a:t>
            </a:r>
          </a:p>
          <a:p>
            <a:r>
              <a:rPr lang="sk-SK" dirty="0"/>
              <a:t>Úlohou bolo navrhnúť všetky komponenty ES od žiaroviek(spotreba</a:t>
            </a:r>
            <a:r>
              <a:rPr lang="en-US" dirty="0"/>
              <a:t>)</a:t>
            </a:r>
            <a:r>
              <a:rPr lang="sk-SK" dirty="0"/>
              <a:t>, vedenia(prenos, distribúcia</a:t>
            </a:r>
            <a:r>
              <a:rPr lang="en-US" dirty="0"/>
              <a:t>)</a:t>
            </a:r>
            <a:r>
              <a:rPr lang="sk-SK" dirty="0"/>
              <a:t> </a:t>
            </a:r>
            <a:r>
              <a:rPr lang="en-US" dirty="0"/>
              <a:t>a</a:t>
            </a:r>
            <a:r>
              <a:rPr lang="sk-SK" dirty="0"/>
              <a:t>ž po jednosmerný generátor </a:t>
            </a:r>
            <a:r>
              <a:rPr lang="en-US" dirty="0"/>
              <a:t>(</a:t>
            </a:r>
            <a:r>
              <a:rPr lang="sk-SK" dirty="0"/>
              <a:t>výroba</a:t>
            </a:r>
            <a:r>
              <a:rPr lang="en-US" dirty="0"/>
              <a:t>)</a:t>
            </a:r>
            <a:r>
              <a:rPr lang="sk-SK" dirty="0"/>
              <a:t>.</a:t>
            </a:r>
          </a:p>
          <a:p>
            <a:endParaRPr lang="sk-SK" dirty="0"/>
          </a:p>
        </p:txBody>
      </p:sp>
    </p:spTree>
    <p:extLst>
      <p:ext uri="{BB962C8B-B14F-4D97-AF65-F5344CB8AC3E}">
        <p14:creationId xmlns:p14="http://schemas.microsoft.com/office/powerpoint/2010/main" val="1506949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História</a:t>
            </a:r>
            <a:endParaRPr lang="en-US" dirty="0"/>
          </a:p>
        </p:txBody>
      </p:sp>
      <p:sp>
        <p:nvSpPr>
          <p:cNvPr id="3" name="Zástupný symbol obsahu 2"/>
          <p:cNvSpPr>
            <a:spLocks noGrp="1"/>
          </p:cNvSpPr>
          <p:nvPr>
            <p:ph sz="half" idx="1"/>
          </p:nvPr>
        </p:nvSpPr>
        <p:spPr/>
        <p:txBody>
          <a:bodyPr/>
          <a:lstStyle/>
          <a:p>
            <a:r>
              <a:rPr lang="sk-SK" dirty="0"/>
              <a:t>Dynamo prepojené s parným strojom naľavo predstavovalo prvý generátor zapojený v spomínanej ES </a:t>
            </a:r>
            <a:r>
              <a:rPr lang="en-US" dirty="0"/>
              <a:t>(100kW)</a:t>
            </a:r>
            <a:r>
              <a:rPr lang="sk-SK" dirty="0"/>
              <a:t>.</a:t>
            </a:r>
          </a:p>
          <a:p>
            <a:r>
              <a:rPr lang="sk-SK" dirty="0"/>
              <a:t>Zaujímavosťou je že išlo o prvý generátor takýchto rozmerov spojený s hnacím parným strojom pevnou spojkou, nie pomocou remeňa.</a:t>
            </a:r>
            <a:endParaRPr lang="en-US" dirty="0"/>
          </a:p>
        </p:txBody>
      </p:sp>
      <p:pic>
        <p:nvPicPr>
          <p:cNvPr id="5" name="Zástupný symbol obsahu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851633" y="1257905"/>
            <a:ext cx="6747223" cy="3643501"/>
          </a:xfrm>
        </p:spPr>
      </p:pic>
    </p:spTree>
    <p:extLst>
      <p:ext uri="{BB962C8B-B14F-4D97-AF65-F5344CB8AC3E}">
        <p14:creationId xmlns:p14="http://schemas.microsoft.com/office/powerpoint/2010/main" val="2618189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História</a:t>
            </a:r>
            <a:endParaRPr lang="en-US" dirty="0"/>
          </a:p>
        </p:txBody>
      </p:sp>
      <p:sp>
        <p:nvSpPr>
          <p:cNvPr id="3" name="Zástupný symbol obsahu 2"/>
          <p:cNvSpPr>
            <a:spLocks noGrp="1"/>
          </p:cNvSpPr>
          <p:nvPr>
            <p:ph sz="half" idx="1"/>
          </p:nvPr>
        </p:nvSpPr>
        <p:spPr>
          <a:xfrm>
            <a:off x="677334" y="1329339"/>
            <a:ext cx="10920206" cy="2099662"/>
          </a:xfrm>
        </p:spPr>
        <p:txBody>
          <a:bodyPr>
            <a:normAutofit/>
          </a:bodyPr>
          <a:lstStyle/>
          <a:p>
            <a:r>
              <a:rPr lang="sk-SK" dirty="0"/>
              <a:t>S rozšírením týchto jednosmerných systémov sa však začali prejavovať ich nevýhody. Kvôli prenosovým stratám boli použiteľné pre prenos energie len na krátke vzdialenosti, s väčšími vzdialenosťami bolo potrebné zvyšovanie napätia. Preto už v roku 1886 boli jednosmerné systémy vytlačené striedavými. Koncom 19.storocia boli po búrlivej diskusii elektrické systémy štandardizované pre striedavé napätie. </a:t>
            </a:r>
          </a:p>
          <a:p>
            <a:endParaRPr lang="en-US" dirty="0"/>
          </a:p>
        </p:txBody>
      </p:sp>
      <p:pic>
        <p:nvPicPr>
          <p:cNvPr id="6" name="Content Placeholder 5">
            <a:extLst>
              <a:ext uri="{FF2B5EF4-FFF2-40B4-BE49-F238E27FC236}">
                <a16:creationId xmlns:a16="http://schemas.microsoft.com/office/drawing/2014/main" id="{8818E46B-29BF-9611-38C9-2A9F647B8122}"/>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7412890" y="3429000"/>
            <a:ext cx="4184650" cy="3138487"/>
          </a:xfrm>
          <a:prstGeom prst="rect">
            <a:avLst/>
          </a:prstGeom>
        </p:spPr>
      </p:pic>
      <p:sp>
        <p:nvSpPr>
          <p:cNvPr id="8" name="Zástupný symbol obsahu 2">
            <a:extLst>
              <a:ext uri="{FF2B5EF4-FFF2-40B4-BE49-F238E27FC236}">
                <a16:creationId xmlns:a16="http://schemas.microsoft.com/office/drawing/2014/main" id="{5CC11E1D-03F6-6208-E9D7-C1355191F704}"/>
              </a:ext>
            </a:extLst>
          </p:cNvPr>
          <p:cNvSpPr txBox="1">
            <a:spLocks/>
          </p:cNvSpPr>
          <p:nvPr/>
        </p:nvSpPr>
        <p:spPr>
          <a:xfrm>
            <a:off x="635897" y="3428999"/>
            <a:ext cx="6776993" cy="31384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sp>
        <p:nvSpPr>
          <p:cNvPr id="10" name="TextBox 9">
            <a:extLst>
              <a:ext uri="{FF2B5EF4-FFF2-40B4-BE49-F238E27FC236}">
                <a16:creationId xmlns:a16="http://schemas.microsoft.com/office/drawing/2014/main" id="{615CF48B-8C97-89EF-AF16-18AC7804BDDD}"/>
              </a:ext>
            </a:extLst>
          </p:cNvPr>
          <p:cNvSpPr txBox="1"/>
          <p:nvPr/>
        </p:nvSpPr>
        <p:spPr>
          <a:xfrm>
            <a:off x="635897" y="3428997"/>
            <a:ext cx="6097280" cy="2416046"/>
          </a:xfrm>
          <a:prstGeom prst="rect">
            <a:avLst/>
          </a:prstGeom>
          <a:noFill/>
        </p:spPr>
        <p:txBody>
          <a:bodyPr wrap="square">
            <a:spAutoFit/>
          </a:bodyPr>
          <a:lstStyle/>
          <a:p>
            <a:pPr marL="342900" indent="-342900" defTabSz="457200">
              <a:spcBef>
                <a:spcPts val="1000"/>
              </a:spcBef>
              <a:buClr>
                <a:schemeClr val="accent1"/>
              </a:buClr>
              <a:buSzPct val="80000"/>
              <a:buFont typeface="Wingdings 3" charset="2"/>
              <a:buChar char=""/>
            </a:pPr>
            <a:r>
              <a:rPr lang="sk-SK" dirty="0">
                <a:solidFill>
                  <a:schemeClr val="tx1">
                    <a:lumMod val="75000"/>
                    <a:lumOff val="25000"/>
                  </a:schemeClr>
                </a:solidFill>
              </a:rPr>
              <a:t>Ich výhody sú nasledovné:</a:t>
            </a:r>
          </a:p>
          <a:p>
            <a:pPr marL="800100" lvl="1" indent="-342900" defTabSz="457200">
              <a:spcBef>
                <a:spcPts val="1000"/>
              </a:spcBef>
              <a:buClr>
                <a:schemeClr val="accent1"/>
              </a:buClr>
              <a:buSzPct val="80000"/>
              <a:buFont typeface="Wingdings 3" charset="2"/>
              <a:buChar char=""/>
            </a:pPr>
            <a:r>
              <a:rPr lang="sk-SK" dirty="0">
                <a:solidFill>
                  <a:schemeClr val="tx1">
                    <a:lumMod val="75000"/>
                    <a:lumOff val="25000"/>
                  </a:schemeClr>
                </a:solidFill>
              </a:rPr>
              <a:t>možnosť transformácie napäťových úrovni a teda flexibilita ohľadne potreby rôznych napätí pre generovanie, prenos a spotrebu energie</a:t>
            </a:r>
          </a:p>
          <a:p>
            <a:pPr marL="800100" lvl="1" indent="-342900" defTabSz="457200">
              <a:spcBef>
                <a:spcPts val="1000"/>
              </a:spcBef>
              <a:buClr>
                <a:schemeClr val="accent1"/>
              </a:buClr>
              <a:buSzPct val="80000"/>
              <a:buFont typeface="Wingdings 3" charset="2"/>
              <a:buChar char=""/>
            </a:pPr>
            <a:r>
              <a:rPr lang="sk-SK" dirty="0">
                <a:solidFill>
                  <a:schemeClr val="tx1">
                    <a:lumMod val="75000"/>
                    <a:lumOff val="25000"/>
                  </a:schemeClr>
                </a:solidFill>
              </a:rPr>
              <a:t>jednoduchšia konštrukcia striedavých generátorov aj motorov</a:t>
            </a:r>
          </a:p>
          <a:p>
            <a:pPr marL="800100" lvl="1" indent="-342900" defTabSz="457200">
              <a:spcBef>
                <a:spcPts val="1000"/>
              </a:spcBef>
              <a:buClr>
                <a:schemeClr val="accent1"/>
              </a:buClr>
              <a:buSzPct val="80000"/>
              <a:buFont typeface="Wingdings 3" charset="2"/>
              <a:buChar char=""/>
            </a:pPr>
            <a:r>
              <a:rPr lang="sk-SK" dirty="0">
                <a:solidFill>
                  <a:schemeClr val="tx1">
                    <a:lumMod val="75000"/>
                    <a:lumOff val="25000"/>
                  </a:schemeClr>
                </a:solidFill>
              </a:rPr>
              <a:t>nižšia cena striedavých strojov.</a:t>
            </a:r>
          </a:p>
        </p:txBody>
      </p:sp>
    </p:spTree>
    <p:extLst>
      <p:ext uri="{BB962C8B-B14F-4D97-AF65-F5344CB8AC3E}">
        <p14:creationId xmlns:p14="http://schemas.microsoft.com/office/powerpoint/2010/main" val="3855972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História</a:t>
            </a:r>
            <a:endParaRPr lang="en-US" dirty="0"/>
          </a:p>
        </p:txBody>
      </p:sp>
      <p:sp>
        <p:nvSpPr>
          <p:cNvPr id="3" name="Zástupný symbol obsahu 2"/>
          <p:cNvSpPr>
            <a:spLocks noGrp="1"/>
          </p:cNvSpPr>
          <p:nvPr>
            <p:ph idx="1"/>
          </p:nvPr>
        </p:nvSpPr>
        <p:spPr>
          <a:xfrm>
            <a:off x="677335" y="1375443"/>
            <a:ext cx="5336703" cy="2393575"/>
          </a:xfrm>
        </p:spPr>
        <p:txBody>
          <a:bodyPr>
            <a:noAutofit/>
          </a:bodyPr>
          <a:lstStyle/>
          <a:p>
            <a:r>
              <a:rPr lang="sk-SK" dirty="0"/>
              <a:t>Nakoniec prišlo k štandardizácii frekvencie pre tieto striedavé systémy, a to na 60Hz v Severnej Amerike, zatiaľ čo v Európe používame 50Hz. S plynúcimi rokmi narastala potreba prenášať stále väčšie množstvo energie na veľké vzdialenosti.</a:t>
            </a:r>
          </a:p>
        </p:txBody>
      </p:sp>
      <p:sp>
        <p:nvSpPr>
          <p:cNvPr id="4" name="Zástupný symbol obsahu 2">
            <a:extLst>
              <a:ext uri="{FF2B5EF4-FFF2-40B4-BE49-F238E27FC236}">
                <a16:creationId xmlns:a16="http://schemas.microsoft.com/office/drawing/2014/main" id="{B00A50EE-481D-F6D2-25D8-4192A1F2E977}"/>
              </a:ext>
            </a:extLst>
          </p:cNvPr>
          <p:cNvSpPr txBox="1">
            <a:spLocks/>
          </p:cNvSpPr>
          <p:nvPr/>
        </p:nvSpPr>
        <p:spPr>
          <a:xfrm>
            <a:off x="677334" y="3428999"/>
            <a:ext cx="11417335" cy="324906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sk-SK" dirty="0"/>
              <a:t>Neprestalo sa však prenášať ani vysoké jednosmerné napätie na veľké vzdialenosti. DC prenosy boli výhodné v prípadoch, kedy by striedavý prenos bol nepraktický kvôli stabilite, alebo keď mali systémy, medzi ktorými sa napätie prenášalo, rôzne nominálne frekvencie. Pri veľkých veterných a </a:t>
            </a:r>
            <a:r>
              <a:rPr lang="sk-SK" dirty="0" err="1"/>
              <a:t>fotovoltaických</a:t>
            </a:r>
            <a:r>
              <a:rPr lang="sk-SK" dirty="0"/>
              <a:t> parkoch sa DC prenosy používajú doteraz. </a:t>
            </a:r>
          </a:p>
          <a:p>
            <a:r>
              <a:rPr lang="sk-SK" dirty="0"/>
              <a:t>Prepojenie systémov zvyčajne vedie k zvýšenej bezpečnosti aj ekonomickosti prevádzky.</a:t>
            </a:r>
          </a:p>
          <a:p>
            <a:r>
              <a:rPr lang="sk-SK" dirty="0" err="1"/>
              <a:t>Redundantnosť</a:t>
            </a:r>
            <a:r>
              <a:rPr lang="sk-SK" dirty="0"/>
              <a:t> prepojených systémov zabezpečuje schopnosť odolať poruchám bez narušenia prívodu energie k zákazníkovi.</a:t>
            </a:r>
          </a:p>
        </p:txBody>
      </p:sp>
      <p:sp>
        <p:nvSpPr>
          <p:cNvPr id="5" name="Zástupný symbol obsahu 2">
            <a:extLst>
              <a:ext uri="{FF2B5EF4-FFF2-40B4-BE49-F238E27FC236}">
                <a16:creationId xmlns:a16="http://schemas.microsoft.com/office/drawing/2014/main" id="{E5111F7C-DC7B-2477-FA00-7E2E963DB93A}"/>
              </a:ext>
            </a:extLst>
          </p:cNvPr>
          <p:cNvSpPr txBox="1">
            <a:spLocks/>
          </p:cNvSpPr>
          <p:nvPr/>
        </p:nvSpPr>
        <p:spPr>
          <a:xfrm>
            <a:off x="7998938" y="1375442"/>
            <a:ext cx="7390901" cy="30889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sk-SK" dirty="0"/>
          </a:p>
        </p:txBody>
      </p:sp>
      <p:pic>
        <p:nvPicPr>
          <p:cNvPr id="7" name="Picture 6">
            <a:extLst>
              <a:ext uri="{FF2B5EF4-FFF2-40B4-BE49-F238E27FC236}">
                <a16:creationId xmlns:a16="http://schemas.microsoft.com/office/drawing/2014/main" id="{9C6296BE-5839-5213-1D3F-87ADB8E9B8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4038" y="0"/>
            <a:ext cx="6177962" cy="3088981"/>
          </a:xfrm>
          <a:prstGeom prst="rect">
            <a:avLst/>
          </a:prstGeom>
        </p:spPr>
      </p:pic>
    </p:spTree>
    <p:extLst>
      <p:ext uri="{BB962C8B-B14F-4D97-AF65-F5344CB8AC3E}">
        <p14:creationId xmlns:p14="http://schemas.microsoft.com/office/powerpoint/2010/main" val="1674929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História</a:t>
            </a:r>
          </a:p>
        </p:txBody>
      </p:sp>
      <p:sp>
        <p:nvSpPr>
          <p:cNvPr id="3" name="Zástupný symbol obsahu 2"/>
          <p:cNvSpPr>
            <a:spLocks noGrp="1"/>
          </p:cNvSpPr>
          <p:nvPr>
            <p:ph sz="half" idx="1"/>
          </p:nvPr>
        </p:nvSpPr>
        <p:spPr>
          <a:xfrm>
            <a:off x="600494" y="1406588"/>
            <a:ext cx="8299010" cy="3880772"/>
          </a:xfrm>
        </p:spPr>
        <p:txBody>
          <a:bodyPr>
            <a:normAutofit/>
          </a:bodyPr>
          <a:lstStyle/>
          <a:p>
            <a:r>
              <a:rPr lang="sk-SK" dirty="0"/>
              <a:t>Elektrifikácia miest a obcí na Slovensku postupovala v 20.storočí pomalým tempom. V roku 1928 bolo elektrifikovaných len 7% obcí. V roku 1939 bolo elektrifikovaných 27%. Celková spotreba elektrickej energie bola v roku 1940 509 GWh. </a:t>
            </a:r>
          </a:p>
          <a:p>
            <a:r>
              <a:rPr lang="sk-SK" dirty="0"/>
              <a:t>Pre porovnanie ročná spotreba v roku 2023 bola </a:t>
            </a:r>
            <a:r>
              <a:rPr lang="en-GB" dirty="0"/>
              <a:t>26 539 GWh</a:t>
            </a:r>
            <a:endParaRPr lang="sk-SK" dirty="0"/>
          </a:p>
        </p:txBody>
      </p:sp>
      <p:pic>
        <p:nvPicPr>
          <p:cNvPr id="5" name="Zástupný symbol obsahu 4"/>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8899504" y="0"/>
            <a:ext cx="3318933" cy="4997140"/>
          </a:xfrm>
        </p:spPr>
      </p:pic>
      <p:pic>
        <p:nvPicPr>
          <p:cNvPr id="6" name="Obrázok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716720"/>
            <a:ext cx="4832737" cy="3141279"/>
          </a:xfrm>
          <a:prstGeom prst="rect">
            <a:avLst/>
          </a:prstGeom>
        </p:spPr>
      </p:pic>
    </p:spTree>
    <p:extLst>
      <p:ext uri="{BB962C8B-B14F-4D97-AF65-F5344CB8AC3E}">
        <p14:creationId xmlns:p14="http://schemas.microsoft.com/office/powerpoint/2010/main" val="2032308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História</a:t>
            </a:r>
            <a:endParaRPr lang="en-US" dirty="0"/>
          </a:p>
        </p:txBody>
      </p:sp>
      <p:sp>
        <p:nvSpPr>
          <p:cNvPr id="3" name="Zástupný symbol obsahu 2"/>
          <p:cNvSpPr>
            <a:spLocks noGrp="1"/>
          </p:cNvSpPr>
          <p:nvPr>
            <p:ph sz="half" idx="1"/>
          </p:nvPr>
        </p:nvSpPr>
        <p:spPr>
          <a:xfrm>
            <a:off x="677334" y="2033027"/>
            <a:ext cx="4184035" cy="3880772"/>
          </a:xfrm>
        </p:spPr>
        <p:txBody>
          <a:bodyPr>
            <a:normAutofit/>
          </a:bodyPr>
          <a:lstStyle/>
          <a:p>
            <a:r>
              <a:rPr lang="sk-SK" dirty="0"/>
              <a:t>V povojnovom období spotreba klesla, následne však opäť vzrástla vďaka programu rozvoja priemyslu, a v roku 1950 dosahovala dvojnásobok oproti spomínanému údaju z roku 1940. Postupne rástla aj spotreba u maloodberateľov – dokončovaním plošnej elektrifikácie Slovenska a začiatkom sídliskovej výstavby. </a:t>
            </a:r>
          </a:p>
        </p:txBody>
      </p:sp>
      <p:pic>
        <p:nvPicPr>
          <p:cNvPr id="5" name="Zástupný symbol obsahu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089351" y="749905"/>
            <a:ext cx="6179213" cy="4122693"/>
          </a:xfrm>
        </p:spPr>
      </p:pic>
    </p:spTree>
    <p:extLst>
      <p:ext uri="{BB962C8B-B14F-4D97-AF65-F5344CB8AC3E}">
        <p14:creationId xmlns:p14="http://schemas.microsoft.com/office/powerpoint/2010/main" val="4240661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História</a:t>
            </a:r>
            <a:endParaRPr lang="en-US" dirty="0"/>
          </a:p>
        </p:txBody>
      </p:sp>
      <p:sp>
        <p:nvSpPr>
          <p:cNvPr id="3" name="Zástupný symbol obsahu 2"/>
          <p:cNvSpPr>
            <a:spLocks noGrp="1"/>
          </p:cNvSpPr>
          <p:nvPr>
            <p:ph sz="half" idx="1"/>
          </p:nvPr>
        </p:nvSpPr>
        <p:spPr/>
        <p:txBody>
          <a:bodyPr>
            <a:normAutofit fontScale="92500" lnSpcReduction="10000"/>
          </a:bodyPr>
          <a:lstStyle/>
          <a:p>
            <a:r>
              <a:rPr lang="sk-SK" dirty="0"/>
              <a:t>Na Slovensku sa však vyrábalo menej elektrickej energie, než sa spotrebovalo, čo bolo riešené importom el. energie z Čiech a zo zahraničia. Po dostavbe 2 blokov EMO už Slovensko vyvážalo prebytočnú elektrickú energiu do zahraničia. Momentálne sa bilancia ES SR drží v miernom exporte.</a:t>
            </a:r>
          </a:p>
          <a:p>
            <a:endParaRPr lang="sk-SK" dirty="0"/>
          </a:p>
          <a:p>
            <a:endParaRPr lang="en-US" dirty="0"/>
          </a:p>
          <a:p>
            <a:r>
              <a:rPr lang="sk-SK" dirty="0"/>
              <a:t>Vývoj prenosovej sústavy ES SR si môžete pozrieť vo videu:</a:t>
            </a:r>
          </a:p>
          <a:p>
            <a:r>
              <a:rPr lang="en-US" dirty="0">
                <a:hlinkClick r:id="rId3"/>
              </a:rPr>
              <a:t>https://youtu.be/Brjt3cdIT8o</a:t>
            </a:r>
            <a:endParaRPr lang="sk-SK" dirty="0"/>
          </a:p>
          <a:p>
            <a:endParaRPr lang="en-US" dirty="0"/>
          </a:p>
        </p:txBody>
      </p:sp>
      <p:pic>
        <p:nvPicPr>
          <p:cNvPr id="5" name="Zástupný symbol obsahu 4"/>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4983411" y="764419"/>
            <a:ext cx="7202945" cy="3781546"/>
          </a:xfrm>
        </p:spPr>
      </p:pic>
    </p:spTree>
    <p:extLst>
      <p:ext uri="{BB962C8B-B14F-4D97-AF65-F5344CB8AC3E}">
        <p14:creationId xmlns:p14="http://schemas.microsoft.com/office/powerpoint/2010/main" val="1704930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Základné pojmy</a:t>
            </a:r>
            <a:endParaRPr lang="en-US" dirty="0"/>
          </a:p>
        </p:txBody>
      </p:sp>
      <p:sp>
        <p:nvSpPr>
          <p:cNvPr id="3" name="Zástupný symbol obsahu 2"/>
          <p:cNvSpPr>
            <a:spLocks noGrp="1"/>
          </p:cNvSpPr>
          <p:nvPr>
            <p:ph idx="1"/>
          </p:nvPr>
        </p:nvSpPr>
        <p:spPr>
          <a:xfrm>
            <a:off x="677335" y="1375443"/>
            <a:ext cx="4463284" cy="5332718"/>
          </a:xfrm>
        </p:spPr>
        <p:txBody>
          <a:bodyPr>
            <a:normAutofit/>
          </a:bodyPr>
          <a:lstStyle/>
          <a:p>
            <a:r>
              <a:rPr lang="sk-SK" dirty="0"/>
              <a:t>Elektrizačná sústava – názov pre najzložitejší a najrozsiahlejší dynamický systém. Elektrizačná sústava (ES) je systém určený na výrobu, prenos a rozvod elektrickej energie. Predstavuje funkčný celok, ktorý pozostáva z:</a:t>
            </a:r>
          </a:p>
          <a:p>
            <a:pPr lvl="1"/>
            <a:r>
              <a:rPr lang="sk-SK" dirty="0"/>
              <a:t>elektrární,</a:t>
            </a:r>
          </a:p>
          <a:p>
            <a:pPr lvl="1"/>
            <a:r>
              <a:rPr lang="sk-SK" dirty="0"/>
              <a:t>elektrických staníc (transformovní, rozvodní, kompenzačných a iných staníc),</a:t>
            </a:r>
          </a:p>
          <a:p>
            <a:pPr lvl="1"/>
            <a:r>
              <a:rPr lang="sk-SK" dirty="0"/>
              <a:t>elektrických vedení, riadiacich, meracích, regulačných a </a:t>
            </a:r>
          </a:p>
          <a:p>
            <a:pPr lvl="1"/>
            <a:r>
              <a:rPr lang="sk-SK" dirty="0"/>
              <a:t>ochranných systémov a pomocných zariadení. </a:t>
            </a:r>
          </a:p>
        </p:txBody>
      </p:sp>
      <p:pic>
        <p:nvPicPr>
          <p:cNvPr id="6" name="Picture 5">
            <a:extLst>
              <a:ext uri="{FF2B5EF4-FFF2-40B4-BE49-F238E27FC236}">
                <a16:creationId xmlns:a16="http://schemas.microsoft.com/office/drawing/2014/main" id="{F34A8832-BC13-778A-267A-31845AC21D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7800" y="0"/>
            <a:ext cx="6934200" cy="5200650"/>
          </a:xfrm>
          <a:prstGeom prst="rect">
            <a:avLst/>
          </a:prstGeom>
        </p:spPr>
      </p:pic>
    </p:spTree>
    <p:extLst>
      <p:ext uri="{BB962C8B-B14F-4D97-AF65-F5344CB8AC3E}">
        <p14:creationId xmlns:p14="http://schemas.microsoft.com/office/powerpoint/2010/main" val="766666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p:cNvSpPr>
            <a:spLocks noGrp="1"/>
          </p:cNvSpPr>
          <p:nvPr>
            <p:ph type="title"/>
          </p:nvPr>
        </p:nvSpPr>
        <p:spPr/>
        <p:txBody>
          <a:bodyPr/>
          <a:lstStyle/>
          <a:p>
            <a:r>
              <a:rPr lang="sk-SK" dirty="0"/>
              <a:t>Základné pojmy</a:t>
            </a:r>
            <a:endParaRPr lang="en-US" dirty="0"/>
          </a:p>
        </p:txBody>
      </p:sp>
      <p:sp>
        <p:nvSpPr>
          <p:cNvPr id="5" name="Zástupný symbol obsahu 4"/>
          <p:cNvSpPr>
            <a:spLocks noGrp="1"/>
          </p:cNvSpPr>
          <p:nvPr>
            <p:ph sz="half" idx="1"/>
          </p:nvPr>
        </p:nvSpPr>
        <p:spPr>
          <a:xfrm>
            <a:off x="4241587" y="716749"/>
            <a:ext cx="7950413" cy="6141251"/>
          </a:xfrm>
        </p:spPr>
        <p:txBody>
          <a:bodyPr>
            <a:normAutofit/>
          </a:bodyPr>
          <a:lstStyle/>
          <a:p>
            <a:r>
              <a:rPr lang="sk-SK" dirty="0"/>
              <a:t>Elektrická sieť - súbor jednotlivých vzájomne prepojených elektrických staníc, vonkajších a káblových elektrických vedení určených na prenos a rozvod elektrickej energie. Slúži ako spojovací článok medzi výrobou a spotrebou elektrickej energie. Môže byť klasifikovaná podľa funkcie, spôsobu prevádzky, napätí alebo vlastníckej štruktúry.</a:t>
            </a:r>
          </a:p>
          <a:p>
            <a:r>
              <a:rPr lang="sk-SK" dirty="0"/>
              <a:t>Elektráreň - výrobňa, ktorej úlohou je meniť iné formy energie na elektrickú energiu. </a:t>
            </a:r>
          </a:p>
          <a:p>
            <a:r>
              <a:rPr lang="sk-SK" dirty="0"/>
              <a:t>Zdroj elektrickej energie - zariadenie, stroj alebo prístroj, v ktorom sa nejaký druh energie mení na elektrickú energiu</a:t>
            </a:r>
          </a:p>
          <a:p>
            <a:endParaRPr lang="sk-SK" dirty="0"/>
          </a:p>
          <a:p>
            <a:r>
              <a:rPr lang="sk-SK" dirty="0"/>
              <a:t>Základná štruktúra ES:</a:t>
            </a:r>
          </a:p>
          <a:p>
            <a:pPr lvl="1"/>
            <a:r>
              <a:rPr lang="sk-SK" dirty="0"/>
              <a:t>Výroba – všetky zdroje elektrickej energie, synchrónne a asynchrónne generátory, batérie, </a:t>
            </a:r>
            <a:r>
              <a:rPr lang="sk-SK" dirty="0" err="1"/>
              <a:t>fotovoltaické</a:t>
            </a:r>
            <a:r>
              <a:rPr lang="sk-SK" dirty="0"/>
              <a:t> články.</a:t>
            </a:r>
          </a:p>
          <a:p>
            <a:pPr lvl="1"/>
            <a:r>
              <a:rPr lang="sk-SK" dirty="0"/>
              <a:t>Prenos – prenosová sústava, vedenia transformátory, rozvodne ... , u nás zastúpené SEPS </a:t>
            </a:r>
            <a:r>
              <a:rPr lang="sk-SK" dirty="0" err="1"/>
              <a:t>a.s</a:t>
            </a:r>
            <a:r>
              <a:rPr lang="sk-SK" dirty="0"/>
              <a:t>., </a:t>
            </a:r>
          </a:p>
          <a:p>
            <a:pPr lvl="1"/>
            <a:r>
              <a:rPr lang="sk-SK" dirty="0"/>
              <a:t>Distribúcia – distribučná sústava, slúži k distribúcii elektrickej energie, ZSD, SSD, VSD </a:t>
            </a:r>
          </a:p>
          <a:p>
            <a:pPr lvl="1"/>
            <a:r>
              <a:rPr lang="sk-SK" dirty="0"/>
              <a:t>Spotreba – spotreba elektrickej energie</a:t>
            </a:r>
            <a:endParaRPr lang="en-US" dirty="0"/>
          </a:p>
        </p:txBody>
      </p:sp>
      <p:graphicFrame>
        <p:nvGraphicFramePr>
          <p:cNvPr id="7" name="Objekt 6"/>
          <p:cNvGraphicFramePr>
            <a:graphicFrameLocks noChangeAspect="1"/>
          </p:cNvGraphicFramePr>
          <p:nvPr>
            <p:extLst>
              <p:ext uri="{D42A27DB-BD31-4B8C-83A1-F6EECF244321}">
                <p14:modId xmlns:p14="http://schemas.microsoft.com/office/powerpoint/2010/main" val="4166485303"/>
              </p:ext>
            </p:extLst>
          </p:nvPr>
        </p:nvGraphicFramePr>
        <p:xfrm>
          <a:off x="1009616" y="1342521"/>
          <a:ext cx="2695575" cy="5418137"/>
        </p:xfrm>
        <a:graphic>
          <a:graphicData uri="http://schemas.openxmlformats.org/presentationml/2006/ole">
            <mc:AlternateContent xmlns:mc="http://schemas.openxmlformats.org/markup-compatibility/2006">
              <mc:Choice xmlns:v="urn:schemas-microsoft-com:vml" Requires="v">
                <p:oleObj name="Acrobat Document" r:id="rId3" imgW="4619315" imgH="9286404" progId="AcroExch.Document.DC">
                  <p:embed/>
                </p:oleObj>
              </mc:Choice>
              <mc:Fallback>
                <p:oleObj name="Acrobat Document" r:id="rId3" imgW="4619315" imgH="9286404" progId="AcroExch.Document.DC">
                  <p:embed/>
                  <p:pic>
                    <p:nvPicPr>
                      <p:cNvPr id="0" name=""/>
                      <p:cNvPicPr/>
                      <p:nvPr/>
                    </p:nvPicPr>
                    <p:blipFill>
                      <a:blip r:embed="rId4"/>
                      <a:stretch>
                        <a:fillRect/>
                      </a:stretch>
                    </p:blipFill>
                    <p:spPr>
                      <a:xfrm>
                        <a:off x="1009616" y="1342521"/>
                        <a:ext cx="2695575" cy="5418137"/>
                      </a:xfrm>
                      <a:prstGeom prst="rect">
                        <a:avLst/>
                      </a:prstGeom>
                    </p:spPr>
                  </p:pic>
                </p:oleObj>
              </mc:Fallback>
            </mc:AlternateContent>
          </a:graphicData>
        </a:graphic>
      </p:graphicFrame>
    </p:spTree>
    <p:extLst>
      <p:ext uri="{BB962C8B-B14F-4D97-AF65-F5344CB8AC3E}">
        <p14:creationId xmlns:p14="http://schemas.microsoft.com/office/powerpoint/2010/main" val="312155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Výroba elektrickej energie</a:t>
            </a:r>
            <a:endParaRPr lang="en-US" dirty="0"/>
          </a:p>
        </p:txBody>
      </p:sp>
      <p:sp>
        <p:nvSpPr>
          <p:cNvPr id="3" name="Zástupný symbol obsahu 2"/>
          <p:cNvSpPr>
            <a:spLocks noGrp="1"/>
          </p:cNvSpPr>
          <p:nvPr>
            <p:ph sz="half" idx="1"/>
          </p:nvPr>
        </p:nvSpPr>
        <p:spPr/>
        <p:txBody>
          <a:bodyPr>
            <a:normAutofit/>
          </a:bodyPr>
          <a:lstStyle/>
          <a:p>
            <a:r>
              <a:rPr lang="sk-SK" dirty="0"/>
              <a:t>Klasické zdroje v ES:</a:t>
            </a:r>
          </a:p>
          <a:p>
            <a:pPr lvl="1"/>
            <a:r>
              <a:rPr lang="sk-SK" dirty="0"/>
              <a:t>Vodné,</a:t>
            </a:r>
          </a:p>
          <a:p>
            <a:pPr lvl="1"/>
            <a:r>
              <a:rPr lang="sk-SK" dirty="0"/>
              <a:t>Tepelné,</a:t>
            </a:r>
          </a:p>
          <a:p>
            <a:pPr lvl="1"/>
            <a:r>
              <a:rPr lang="sk-SK" dirty="0"/>
              <a:t>Jadrové,</a:t>
            </a:r>
          </a:p>
          <a:p>
            <a:pPr lvl="1"/>
            <a:r>
              <a:rPr lang="sk-SK" dirty="0"/>
              <a:t>Plynové</a:t>
            </a:r>
          </a:p>
          <a:p>
            <a:endParaRPr lang="sk-SK" dirty="0"/>
          </a:p>
          <a:p>
            <a:r>
              <a:rPr lang="sk-SK" dirty="0"/>
              <a:t>Využívajú klasický systém </a:t>
            </a:r>
            <a:r>
              <a:rPr lang="en-US" dirty="0" err="1"/>
              <a:t>riadenia</a:t>
            </a:r>
            <a:r>
              <a:rPr lang="en-US" dirty="0"/>
              <a:t> </a:t>
            </a:r>
            <a:r>
              <a:rPr lang="sk-SK" dirty="0"/>
              <a:t> </a:t>
            </a:r>
            <a:r>
              <a:rPr lang="en-US" dirty="0" err="1"/>
              <a:t>budenie</a:t>
            </a:r>
            <a:r>
              <a:rPr lang="en-US" dirty="0"/>
              <a:t>, </a:t>
            </a:r>
            <a:r>
              <a:rPr lang="en-US" dirty="0" err="1"/>
              <a:t>turb</a:t>
            </a:r>
            <a:r>
              <a:rPr lang="sk-SK" dirty="0" err="1"/>
              <a:t>ína</a:t>
            </a:r>
            <a:endParaRPr lang="sk-SK" dirty="0"/>
          </a:p>
          <a:p>
            <a:r>
              <a:rPr lang="sk-SK" dirty="0"/>
              <a:t>Ich výkon je jednoducho </a:t>
            </a:r>
            <a:r>
              <a:rPr lang="sk-SK" dirty="0" err="1"/>
              <a:t>predikovateľný</a:t>
            </a:r>
            <a:r>
              <a:rPr lang="sk-SK" dirty="0"/>
              <a:t> na základe fyzikálnych zákonov</a:t>
            </a:r>
          </a:p>
        </p:txBody>
      </p:sp>
      <p:sp>
        <p:nvSpPr>
          <p:cNvPr id="4" name="Zástupný symbol obsahu 3"/>
          <p:cNvSpPr>
            <a:spLocks noGrp="1"/>
          </p:cNvSpPr>
          <p:nvPr>
            <p:ph sz="half" idx="2"/>
          </p:nvPr>
        </p:nvSpPr>
        <p:spPr/>
        <p:txBody>
          <a:bodyPr>
            <a:normAutofit/>
          </a:bodyPr>
          <a:lstStyle/>
          <a:p>
            <a:r>
              <a:rPr lang="sk-SK" dirty="0"/>
              <a:t>Decentralizované obnoviteľné zdroje v ES:</a:t>
            </a:r>
          </a:p>
          <a:p>
            <a:pPr lvl="1"/>
            <a:r>
              <a:rPr lang="sk-SK" dirty="0" err="1"/>
              <a:t>Fotovoltaické</a:t>
            </a:r>
            <a:r>
              <a:rPr lang="sk-SK" dirty="0"/>
              <a:t>,</a:t>
            </a:r>
          </a:p>
          <a:p>
            <a:pPr lvl="1"/>
            <a:r>
              <a:rPr lang="sk-SK" dirty="0"/>
              <a:t>Veterné,</a:t>
            </a:r>
          </a:p>
          <a:p>
            <a:pPr lvl="1"/>
            <a:r>
              <a:rPr lang="sk-SK" dirty="0"/>
              <a:t>Biomasa</a:t>
            </a:r>
          </a:p>
          <a:p>
            <a:endParaRPr lang="sk-SK" dirty="0"/>
          </a:p>
          <a:p>
            <a:r>
              <a:rPr lang="sk-SK" dirty="0"/>
              <a:t>Niektoré zdroje vyžadujú zložitý systém riadenia </a:t>
            </a:r>
          </a:p>
          <a:p>
            <a:r>
              <a:rPr lang="sk-SK" dirty="0"/>
              <a:t>Výkon nie je vždy jednoducho </a:t>
            </a:r>
            <a:r>
              <a:rPr lang="sk-SK" dirty="0" err="1"/>
              <a:t>predikovateľný</a:t>
            </a:r>
            <a:endParaRPr lang="sk-SK" dirty="0"/>
          </a:p>
          <a:p>
            <a:endParaRPr lang="en-US" dirty="0"/>
          </a:p>
        </p:txBody>
      </p:sp>
    </p:spTree>
    <p:extLst>
      <p:ext uri="{BB962C8B-B14F-4D97-AF65-F5344CB8AC3E}">
        <p14:creationId xmlns:p14="http://schemas.microsoft.com/office/powerpoint/2010/main" val="1967745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Modelovanie elektrizačných sústav</a:t>
            </a:r>
            <a:endParaRPr lang="en-US" dirty="0"/>
          </a:p>
        </p:txBody>
      </p:sp>
      <p:sp>
        <p:nvSpPr>
          <p:cNvPr id="3" name="Zástupný symbol obsahu 2"/>
          <p:cNvSpPr>
            <a:spLocks noGrp="1"/>
          </p:cNvSpPr>
          <p:nvPr>
            <p:ph idx="1"/>
          </p:nvPr>
        </p:nvSpPr>
        <p:spPr>
          <a:xfrm>
            <a:off x="677334" y="2129058"/>
            <a:ext cx="8596668" cy="3880773"/>
          </a:xfrm>
        </p:spPr>
        <p:txBody>
          <a:bodyPr/>
          <a:lstStyle/>
          <a:p>
            <a:r>
              <a:rPr lang="sk-SK" dirty="0"/>
              <a:t>Modely jednotlivých komponentov elektrizačnej sústavy (ES) sú stavebné kamene modelu celej ES. Pred navrhnutím modelu ES treba poznať modely jej častí ako sú: </a:t>
            </a:r>
          </a:p>
          <a:p>
            <a:pPr lvl="1"/>
            <a:r>
              <a:rPr lang="sk-SK" dirty="0"/>
              <a:t>Synchrónne generátory v rôznych výrobných alternatívach a tiež s rôznym stupňom </a:t>
            </a:r>
            <a:r>
              <a:rPr lang="sk-SK" dirty="0" err="1"/>
              <a:t>detailizácie</a:t>
            </a:r>
            <a:r>
              <a:rPr lang="sk-SK" dirty="0"/>
              <a:t> opisu fyzikálnych javov,</a:t>
            </a:r>
          </a:p>
          <a:p>
            <a:pPr lvl="1"/>
            <a:r>
              <a:rPr lang="sk-SK" dirty="0"/>
              <a:t>Turbíny, pričom treba rozlišovať turbíny podľa využívaného zdroja energie,</a:t>
            </a:r>
          </a:p>
          <a:p>
            <a:pPr lvl="1"/>
            <a:r>
              <a:rPr lang="sk-SK" dirty="0"/>
              <a:t>Budenie synchrónnych generátorov,</a:t>
            </a:r>
          </a:p>
          <a:p>
            <a:pPr lvl="1"/>
            <a:r>
              <a:rPr lang="sk-SK" dirty="0"/>
              <a:t>Prenosové prvky: transformátory a prenosové vedenia, </a:t>
            </a:r>
          </a:p>
          <a:p>
            <a:pPr lvl="1"/>
            <a:r>
              <a:rPr lang="sk-SK" dirty="0"/>
              <a:t>Pasívne a aktívne záťaže,</a:t>
            </a:r>
          </a:p>
          <a:p>
            <a:pPr lvl="1"/>
            <a:r>
              <a:rPr lang="sk-SK" dirty="0"/>
              <a:t>Ochrany spomínaných prvkov ES.</a:t>
            </a:r>
          </a:p>
        </p:txBody>
      </p:sp>
    </p:spTree>
    <p:extLst>
      <p:ext uri="{BB962C8B-B14F-4D97-AF65-F5344CB8AC3E}">
        <p14:creationId xmlns:p14="http://schemas.microsoft.com/office/powerpoint/2010/main" val="573713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Vodné elektrárne</a:t>
            </a:r>
            <a:endParaRPr lang="en-US" dirty="0"/>
          </a:p>
        </p:txBody>
      </p:sp>
      <p:sp>
        <p:nvSpPr>
          <p:cNvPr id="3" name="Zástupný symbol obsahu 2"/>
          <p:cNvSpPr>
            <a:spLocks noGrp="1"/>
          </p:cNvSpPr>
          <p:nvPr>
            <p:ph sz="half" idx="1"/>
          </p:nvPr>
        </p:nvSpPr>
        <p:spPr>
          <a:xfrm>
            <a:off x="588776" y="1392186"/>
            <a:ext cx="6180858" cy="1754237"/>
          </a:xfrm>
        </p:spPr>
        <p:txBody>
          <a:bodyPr/>
          <a:lstStyle/>
          <a:p>
            <a:r>
              <a:rPr lang="sk-SK" dirty="0"/>
              <a:t>Používajú ako zdroj energie tok vody</a:t>
            </a:r>
          </a:p>
          <a:p>
            <a:r>
              <a:rPr lang="sk-SK" dirty="0"/>
              <a:t>Z hľadiska konštrukcie vodných turbín ich môžeme v </a:t>
            </a:r>
            <a:r>
              <a:rPr lang="sk-SK" dirty="0" err="1"/>
              <a:t>v</a:t>
            </a:r>
            <a:r>
              <a:rPr lang="sk-SK" dirty="0"/>
              <a:t> podmienkach ES SR nájsť: </a:t>
            </a:r>
            <a:r>
              <a:rPr lang="sk-SK" dirty="0" err="1"/>
              <a:t>Kaplanove</a:t>
            </a:r>
            <a:r>
              <a:rPr lang="sk-SK" dirty="0"/>
              <a:t>, </a:t>
            </a:r>
            <a:r>
              <a:rPr lang="sk-SK" dirty="0" err="1"/>
              <a:t>Peltonove</a:t>
            </a:r>
            <a:r>
              <a:rPr lang="sk-SK" dirty="0"/>
              <a:t>, </a:t>
            </a:r>
            <a:r>
              <a:rPr lang="sk-SK" dirty="0" err="1"/>
              <a:t>Francisove</a:t>
            </a:r>
            <a:r>
              <a:rPr lang="sk-SK" dirty="0"/>
              <a:t> a </a:t>
            </a:r>
            <a:r>
              <a:rPr lang="sk-SK" dirty="0" err="1"/>
              <a:t>Deriazove</a:t>
            </a:r>
            <a:r>
              <a:rPr lang="sk-SK" dirty="0"/>
              <a:t> turbíny.</a:t>
            </a:r>
          </a:p>
        </p:txBody>
      </p:sp>
      <p:pic>
        <p:nvPicPr>
          <p:cNvPr id="5" name="Zástupný symbol obsahu 4"/>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7418574" y="197554"/>
            <a:ext cx="4184650" cy="2948870"/>
          </a:xfrm>
        </p:spPr>
      </p:pic>
      <p:sp>
        <p:nvSpPr>
          <p:cNvPr id="4" name="Zástupný symbol obsahu 2"/>
          <p:cNvSpPr txBox="1">
            <a:spLocks/>
          </p:cNvSpPr>
          <p:nvPr/>
        </p:nvSpPr>
        <p:spPr>
          <a:xfrm>
            <a:off x="677334" y="3146423"/>
            <a:ext cx="10925890" cy="351402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sk-SK" dirty="0"/>
              <a:t>Už koncom 19. storočia sa na Slovensku postavilo veľké množstvo malých vodných elektrární. Dodávali elektrickú energiu najmä do baní, mlynov a priemyselných výrobní. </a:t>
            </a:r>
          </a:p>
          <a:p>
            <a:r>
              <a:rPr lang="sk-SK" dirty="0"/>
              <a:t>Do roku 1945 bolo na Slovensku 100 vodných elektrární s celkovým výkonom 22 760 kW. Najväčšia vodná elektráreň Ladce s výkonom 15 MW bola uvedená do prevádzky v roku 1936. V roku 1943 sa na Slovensku vyrobilo 706 mil. kWh elektriny, z čoho vodné elektrárne vyrobili 130 mil. kWh. </a:t>
            </a:r>
          </a:p>
          <a:p>
            <a:r>
              <a:rPr lang="sk-SK" dirty="0"/>
              <a:t>Po 2. svetovej vojne pokračovala rozsiahla výstavba vodných elektrární Vážskej kaskády. Povodie Váhu predstavuje 47.6% hydroenergetického potenciálu Slovenska. Do roku 1997 bolo v jeho povodí vybudovaných 22 vodných elektrární. Mimoriadny význam pre prevádzku celej ES Slovenska malo vybudovanie prečerpávacej vodnej elektrárne Čierny Váh (1982) s inštalovaným výkonom 735,1 MW. Veľký význam má tiež </a:t>
            </a:r>
            <a:r>
              <a:rPr lang="sk-SK" dirty="0" err="1"/>
              <a:t>prietočná</a:t>
            </a:r>
            <a:r>
              <a:rPr lang="sk-SK" dirty="0"/>
              <a:t> vodná elektráreň Gabčíkovo s výkonom 720 MW.</a:t>
            </a:r>
          </a:p>
        </p:txBody>
      </p:sp>
    </p:spTree>
    <p:extLst>
      <p:ext uri="{BB962C8B-B14F-4D97-AF65-F5344CB8AC3E}">
        <p14:creationId xmlns:p14="http://schemas.microsoft.com/office/powerpoint/2010/main" val="4112721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Tepelné a jadrové elektrárne</a:t>
            </a:r>
            <a:endParaRPr lang="en-US" dirty="0"/>
          </a:p>
        </p:txBody>
      </p:sp>
      <p:sp>
        <p:nvSpPr>
          <p:cNvPr id="3" name="Zástupný symbol obsahu 2"/>
          <p:cNvSpPr>
            <a:spLocks noGrp="1"/>
          </p:cNvSpPr>
          <p:nvPr>
            <p:ph sz="half" idx="1"/>
          </p:nvPr>
        </p:nvSpPr>
        <p:spPr/>
        <p:txBody>
          <a:bodyPr/>
          <a:lstStyle/>
          <a:p>
            <a:r>
              <a:rPr lang="sk-SK" dirty="0"/>
              <a:t>Využívajú paru pre zdroj energie, para je vyrábaná obyčajne pomocou kotla alebo parogenerátora</a:t>
            </a:r>
          </a:p>
          <a:p>
            <a:r>
              <a:rPr lang="sk-SK" dirty="0"/>
              <a:t>Parné turbíny obsahujú viacero komôr, ktoré zachytávajú energiu pary, rozdelené podľa tlaku pary</a:t>
            </a:r>
          </a:p>
          <a:p>
            <a:r>
              <a:rPr lang="sk-SK" dirty="0"/>
              <a:t>Obyčajne obsahujú 3000 otáčkové synchrónne generátory s hladkým rotorom</a:t>
            </a:r>
            <a:endParaRPr lang="en-US" dirty="0"/>
          </a:p>
        </p:txBody>
      </p:sp>
      <p:pic>
        <p:nvPicPr>
          <p:cNvPr id="5" name="Zástupný symbol obsahu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880834" y="1755227"/>
            <a:ext cx="7966703" cy="3452525"/>
          </a:xfrm>
        </p:spPr>
      </p:pic>
    </p:spTree>
    <p:extLst>
      <p:ext uri="{BB962C8B-B14F-4D97-AF65-F5344CB8AC3E}">
        <p14:creationId xmlns:p14="http://schemas.microsoft.com/office/powerpoint/2010/main" val="1556256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err="1"/>
              <a:t>Jadrov</a:t>
            </a:r>
            <a:r>
              <a:rPr lang="sk-SK" dirty="0"/>
              <a:t>é elektrárne</a:t>
            </a:r>
            <a:endParaRPr lang="en-US" dirty="0"/>
          </a:p>
        </p:txBody>
      </p:sp>
      <p:sp>
        <p:nvSpPr>
          <p:cNvPr id="5" name="Zástupný symbol obsahu 4"/>
          <p:cNvSpPr>
            <a:spLocks noGrp="1"/>
          </p:cNvSpPr>
          <p:nvPr>
            <p:ph idx="1"/>
          </p:nvPr>
        </p:nvSpPr>
        <p:spPr>
          <a:xfrm>
            <a:off x="677334" y="1251857"/>
            <a:ext cx="8596668" cy="4789505"/>
          </a:xfrm>
        </p:spPr>
        <p:txBody>
          <a:bodyPr>
            <a:normAutofit/>
          </a:bodyPr>
          <a:lstStyle/>
          <a:p>
            <a:r>
              <a:rPr lang="sk-SK" dirty="0"/>
              <a:t>Prvým pokusom o využitie jadrovej energie na Slovensku bola výstavba jadrovej elektrárne A1 v Jaslovských Bohuniciach v roku 1972. Avšak po dvoch haváriách, ku ktorým došlo v rokoch 1976 a 1977, bola prevádzka ukončená a zahájená likvidácia, ktorá prebieha dodnes a naplánovaná je až do roku 2050.</a:t>
            </a:r>
          </a:p>
          <a:p>
            <a:r>
              <a:rPr lang="sk-SK" dirty="0"/>
              <a:t>Komplex elektrární v Jaslovských Bohuniciach dnes tvoria tri elektrárne, A-1, ktorá je v procese likvidácie, V-1, ktorej dva bloky boli odstavené v rokoch 2006 a 2008 a momentálne sú v prvej etape vyraďovania a elektráreň V-2, ktorej dva bloky sú aktívne dodnes, s inštalovaným výkonom 506 MW každý. Všetky štyri bloky V-1 a V-2 používali reaktory typu VVER.</a:t>
            </a:r>
          </a:p>
          <a:p>
            <a:r>
              <a:rPr lang="sk-SK" dirty="0"/>
              <a:t>V rokoch 1998 a 2000 boli uvedené do prevádzky 2 bloky jadrovej elektrárne Mochovce, každý z nich s výkonom 440 MW. Momentálne prebieha dostavba 3. a 4. bloku. Komerčná prevádzka 3. bloku začala v roku 2023 a štvrtý blok čaká na spustenie. </a:t>
            </a:r>
          </a:p>
          <a:p>
            <a:r>
              <a:rPr lang="sk-SK" dirty="0"/>
              <a:t>Päť reaktorových blokov aktuálne dodáva viac ako polovicu elektrickej energie spotrebovanej na Slovensku</a:t>
            </a:r>
          </a:p>
        </p:txBody>
      </p:sp>
    </p:spTree>
    <p:extLst>
      <p:ext uri="{BB962C8B-B14F-4D97-AF65-F5344CB8AC3E}">
        <p14:creationId xmlns:p14="http://schemas.microsoft.com/office/powerpoint/2010/main" val="1879246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Jadrové elektrárne</a:t>
            </a:r>
            <a:endParaRPr lang="en-US" dirty="0"/>
          </a:p>
        </p:txBody>
      </p:sp>
      <p:sp>
        <p:nvSpPr>
          <p:cNvPr id="3" name="Zástupný symbol obsahu 2"/>
          <p:cNvSpPr>
            <a:spLocks noGrp="1"/>
          </p:cNvSpPr>
          <p:nvPr>
            <p:ph idx="1"/>
          </p:nvPr>
        </p:nvSpPr>
        <p:spPr/>
        <p:txBody>
          <a:bodyPr>
            <a:normAutofit fontScale="85000" lnSpcReduction="10000"/>
          </a:bodyPr>
          <a:lstStyle/>
          <a:p>
            <a:r>
              <a:rPr lang="sk-SK" dirty="0"/>
              <a:t>Zdrojom tepla v jadrovej elektrárni je jadrové palivo (prírodný alebo obohatený urán). V </a:t>
            </a:r>
            <a:r>
              <a:rPr lang="sk-SK" dirty="0" err="1"/>
              <a:t>tlakovodných</a:t>
            </a:r>
            <a:r>
              <a:rPr lang="sk-SK" dirty="0"/>
              <a:t> reaktoroch je palivo v podobe palivových kaziet umiestnené v tlakovej nádobe reaktora, do ktorej prúdi chemicky upravená voda. Táto preteká kanálikmi v palivových kazetách a odvádza teplo, ktoré vzniká pri štiepnej reakcii. Voda z reaktora vystupuje s teplotou asi 297°C (pri reaktore typu VVER) a prechádza horúcou vetvou primárneho potrubia do tepelného výmenníka - parogenerátora. </a:t>
            </a:r>
          </a:p>
          <a:p>
            <a:r>
              <a:rPr lang="sk-SK" dirty="0"/>
              <a:t>V parogenerátore preteká zväzkom trubiek a odovzdáva teplo vode, ktorá je privádzaná zo sekundárneho okruhu s teplotou 222°C. Ochladená voda primárneho okruhu sa vracia späť do aktívnej zóny reaktora. Voda sekundárneho okruhu sa v parogenerátore odparuje a cez parný kolektor sa para odvádza na lopatky turbíny. Hriadeľ turbíny roztáča generátor, ktorý vyrába elektrickú energiu.</a:t>
            </a:r>
          </a:p>
          <a:p>
            <a:r>
              <a:rPr lang="sk-SK" dirty="0"/>
              <a:t>Po odovzdaní energie turbíne para kondenzuje v kondenzátore a vo vodnom skupenstve cez ohrievače prúdi späť do parogenerátora. Zmes v kondenzátore je chladená tretím chladiacim okruhom. V tomto okruhu sa voda ochladzuje vzduchom </a:t>
            </a:r>
            <a:r>
              <a:rPr lang="sk-SK" dirty="0" err="1"/>
              <a:t>prúdiacim</a:t>
            </a:r>
            <a:r>
              <a:rPr lang="sk-SK" dirty="0"/>
              <a:t> zo spodnej do hornej časti chladiacej veže tzv. komínovým efektom. Prúd vzduchu so sebou unáša vodnú paru a drobné kvapky vody, a tak sa nad chladiacimi vežami vytvárajú oblaky pary. </a:t>
            </a:r>
          </a:p>
        </p:txBody>
      </p:sp>
    </p:spTree>
    <p:extLst>
      <p:ext uri="{BB962C8B-B14F-4D97-AF65-F5344CB8AC3E}">
        <p14:creationId xmlns:p14="http://schemas.microsoft.com/office/powerpoint/2010/main" val="3633243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Tepelné elektrárne</a:t>
            </a:r>
            <a:endParaRPr lang="en-US" dirty="0"/>
          </a:p>
        </p:txBody>
      </p:sp>
      <p:sp>
        <p:nvSpPr>
          <p:cNvPr id="3" name="Zástupný symbol obsahu 2"/>
          <p:cNvSpPr>
            <a:spLocks noGrp="1"/>
          </p:cNvSpPr>
          <p:nvPr>
            <p:ph idx="1"/>
          </p:nvPr>
        </p:nvSpPr>
        <p:spPr/>
        <p:txBody>
          <a:bodyPr/>
          <a:lstStyle/>
          <a:p>
            <a:r>
              <a:rPr lang="sk-SK" dirty="0"/>
              <a:t>V období okolo 1. svetlovej vojny bolo vybudovaných niekoľko malých tepelných elektrární s výkonom max. niekoľko MW. V rokoch 1953-1957 bola vybudovaná elektráreň Nováky s inštalovaným výkonom 178,8 MW, ktorá bola po zvýšení ťažby uhlia rozšírená o bloky 110 MW, čím sa jej výkon zvýšil na 618,8 MW. </a:t>
            </a:r>
          </a:p>
          <a:p>
            <a:r>
              <a:rPr lang="sk-SK" dirty="0"/>
              <a:t>V 60.-tych a 70.-tych rokoch boli budované elektrárne Vojany 1 a Vojany 2 (obe 660 MW). S rozvojom priemyslu boli navyše budované závodné elektrárne veľkých podnikov ako Slovnaft Bratislava ci VSŽ Košice.</a:t>
            </a:r>
          </a:p>
          <a:p>
            <a:r>
              <a:rPr lang="sk-SK" dirty="0"/>
              <a:t>V súčasnosti sú elektráreň Vojany 1 a Nováky odstavené.</a:t>
            </a:r>
          </a:p>
          <a:p>
            <a:r>
              <a:rPr lang="sk-SK" dirty="0"/>
              <a:t>Tepelné elektrárne používajú podobný princíp transformácie energie pary na elektrickú energiu, ako zdroj pary nepoužívajú parogenerátor ale kotol.</a:t>
            </a:r>
          </a:p>
        </p:txBody>
      </p:sp>
    </p:spTree>
    <p:extLst>
      <p:ext uri="{BB962C8B-B14F-4D97-AF65-F5344CB8AC3E}">
        <p14:creationId xmlns:p14="http://schemas.microsoft.com/office/powerpoint/2010/main" val="676054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Paroplynové cykly PPC</a:t>
            </a:r>
            <a:endParaRPr lang="en-US" dirty="0"/>
          </a:p>
        </p:txBody>
      </p:sp>
      <p:sp>
        <p:nvSpPr>
          <p:cNvPr id="3" name="Zástupný symbol obsahu 2"/>
          <p:cNvSpPr>
            <a:spLocks noGrp="1"/>
          </p:cNvSpPr>
          <p:nvPr>
            <p:ph sz="half" idx="1"/>
          </p:nvPr>
        </p:nvSpPr>
        <p:spPr/>
        <p:txBody>
          <a:bodyPr>
            <a:normAutofit fontScale="92500" lnSpcReduction="20000"/>
          </a:bodyPr>
          <a:lstStyle/>
          <a:p>
            <a:r>
              <a:rPr lang="sk-SK" dirty="0"/>
              <a:t>Využívajú energiu horiaceho plynu </a:t>
            </a:r>
          </a:p>
          <a:p>
            <a:r>
              <a:rPr lang="sk-SK" dirty="0"/>
              <a:t>Plyn je spoločne so stlačeným vzduchom pomocou kompresora vháňaný do turbíny</a:t>
            </a:r>
          </a:p>
          <a:p>
            <a:r>
              <a:rPr lang="sk-SK" dirty="0"/>
              <a:t>Zmes v plynovej turbíne horí a vytvára mechanický pohyb turbíny</a:t>
            </a:r>
          </a:p>
          <a:p>
            <a:r>
              <a:rPr lang="sk-SK" dirty="0"/>
              <a:t>Teplo vzniknutých spalín sa následne používa na vytváranie pary vo výmenníkoch</a:t>
            </a:r>
          </a:p>
          <a:p>
            <a:r>
              <a:rPr lang="sk-SK" dirty="0"/>
              <a:t>Para sa následne využíva pre pohon parnej turbíny alebo vykurovanie</a:t>
            </a:r>
          </a:p>
          <a:p>
            <a:r>
              <a:rPr lang="sk-SK" dirty="0"/>
              <a:t>Z hľadiska štruktúry rozoznávame:</a:t>
            </a:r>
          </a:p>
          <a:p>
            <a:pPr lvl="1"/>
            <a:r>
              <a:rPr lang="sk-SK" dirty="0" err="1"/>
              <a:t>Jednohriadeľové</a:t>
            </a:r>
            <a:r>
              <a:rPr lang="sk-SK" dirty="0"/>
              <a:t> PPC</a:t>
            </a:r>
          </a:p>
          <a:p>
            <a:pPr lvl="1"/>
            <a:r>
              <a:rPr lang="sk-SK" dirty="0" err="1"/>
              <a:t>Viachriadeľové</a:t>
            </a:r>
            <a:r>
              <a:rPr lang="sk-SK" dirty="0"/>
              <a:t> PPC</a:t>
            </a:r>
            <a:endParaRPr lang="en-US" dirty="0"/>
          </a:p>
        </p:txBody>
      </p:sp>
      <p:pic>
        <p:nvPicPr>
          <p:cNvPr id="5" name="Zástupný symbol obsahu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861369" y="1651027"/>
            <a:ext cx="6964149" cy="4390334"/>
          </a:xfrm>
        </p:spPr>
      </p:pic>
    </p:spTree>
    <p:extLst>
      <p:ext uri="{BB962C8B-B14F-4D97-AF65-F5344CB8AC3E}">
        <p14:creationId xmlns:p14="http://schemas.microsoft.com/office/powerpoint/2010/main" val="4066048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err="1"/>
              <a:t>Fotovoltaické</a:t>
            </a:r>
            <a:r>
              <a:rPr lang="sk-SK" dirty="0"/>
              <a:t> elektrárne</a:t>
            </a:r>
            <a:endParaRPr lang="en-US" dirty="0"/>
          </a:p>
        </p:txBody>
      </p:sp>
      <p:sp>
        <p:nvSpPr>
          <p:cNvPr id="3" name="Zástupný symbol obsahu 2"/>
          <p:cNvSpPr>
            <a:spLocks noGrp="1"/>
          </p:cNvSpPr>
          <p:nvPr>
            <p:ph sz="half" idx="1"/>
          </p:nvPr>
        </p:nvSpPr>
        <p:spPr/>
        <p:txBody>
          <a:bodyPr/>
          <a:lstStyle/>
          <a:p>
            <a:r>
              <a:rPr lang="sk-SK" dirty="0"/>
              <a:t>Využívajú pre svoju činnosť </a:t>
            </a:r>
            <a:r>
              <a:rPr lang="sk-SK" dirty="0" err="1"/>
              <a:t>fotovoltaický</a:t>
            </a:r>
            <a:r>
              <a:rPr lang="sk-SK" dirty="0"/>
              <a:t> jav</a:t>
            </a:r>
          </a:p>
          <a:p>
            <a:r>
              <a:rPr lang="sk-SK" dirty="0"/>
              <a:t>Pre riadenie ich výkonov sa využívajú </a:t>
            </a:r>
            <a:r>
              <a:rPr lang="sk-SK" dirty="0" err="1"/>
              <a:t>striedače</a:t>
            </a:r>
            <a:endParaRPr lang="sk-SK" dirty="0"/>
          </a:p>
          <a:p>
            <a:r>
              <a:rPr lang="sk-SK" dirty="0"/>
              <a:t>Môžu byť doplnené o batérie</a:t>
            </a:r>
            <a:endParaRPr lang="en-US" dirty="0"/>
          </a:p>
        </p:txBody>
      </p:sp>
      <p:pic>
        <p:nvPicPr>
          <p:cNvPr id="5" name="Zástupný symbol obsahu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364312" y="1921421"/>
            <a:ext cx="6131494" cy="4359108"/>
          </a:xfrm>
        </p:spPr>
      </p:pic>
    </p:spTree>
    <p:extLst>
      <p:ext uri="{BB962C8B-B14F-4D97-AF65-F5344CB8AC3E}">
        <p14:creationId xmlns:p14="http://schemas.microsoft.com/office/powerpoint/2010/main" val="1417998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Veterné elektrárne</a:t>
            </a:r>
            <a:endParaRPr lang="en-US" dirty="0"/>
          </a:p>
        </p:txBody>
      </p:sp>
      <p:sp>
        <p:nvSpPr>
          <p:cNvPr id="3" name="Zástupný symbol obsahu 2"/>
          <p:cNvSpPr>
            <a:spLocks noGrp="1"/>
          </p:cNvSpPr>
          <p:nvPr>
            <p:ph sz="half" idx="1"/>
          </p:nvPr>
        </p:nvSpPr>
        <p:spPr/>
        <p:txBody>
          <a:bodyPr/>
          <a:lstStyle/>
          <a:p>
            <a:r>
              <a:rPr lang="sk-SK" dirty="0"/>
              <a:t>Využívajú energiu vetra </a:t>
            </a:r>
          </a:p>
          <a:p>
            <a:r>
              <a:rPr lang="sk-SK" dirty="0"/>
              <a:t>Najčastejšie sa využíva zapojenie s asynchrónnym DFIG generátorom, ktorého elektromagnetické  pole rotora je riadené pomocou </a:t>
            </a:r>
            <a:r>
              <a:rPr lang="sk-SK" dirty="0" err="1"/>
              <a:t>striedača</a:t>
            </a:r>
            <a:endParaRPr lang="sk-SK" dirty="0"/>
          </a:p>
          <a:p>
            <a:r>
              <a:rPr lang="sk-SK" dirty="0"/>
              <a:t>Výkon je riadený natočením listov a </a:t>
            </a:r>
            <a:r>
              <a:rPr lang="sk-SK" dirty="0" err="1"/>
              <a:t>striedačom</a:t>
            </a:r>
            <a:endParaRPr lang="en-US" dirty="0"/>
          </a:p>
        </p:txBody>
      </p:sp>
      <p:pic>
        <p:nvPicPr>
          <p:cNvPr id="5" name="Zástupný symbol obsahu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861369" y="1061545"/>
            <a:ext cx="4744097" cy="3930823"/>
          </a:xfrm>
        </p:spPr>
      </p:pic>
    </p:spTree>
    <p:extLst>
      <p:ext uri="{BB962C8B-B14F-4D97-AF65-F5344CB8AC3E}">
        <p14:creationId xmlns:p14="http://schemas.microsoft.com/office/powerpoint/2010/main" val="419709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Biomasa</a:t>
            </a:r>
            <a:endParaRPr lang="en-US" dirty="0"/>
          </a:p>
        </p:txBody>
      </p:sp>
      <p:sp>
        <p:nvSpPr>
          <p:cNvPr id="3" name="Zástupný symbol obsahu 2"/>
          <p:cNvSpPr>
            <a:spLocks noGrp="1"/>
          </p:cNvSpPr>
          <p:nvPr>
            <p:ph sz="half" idx="1"/>
          </p:nvPr>
        </p:nvSpPr>
        <p:spPr/>
        <p:txBody>
          <a:bodyPr/>
          <a:lstStyle/>
          <a:p>
            <a:r>
              <a:rPr lang="sk-SK" dirty="0"/>
              <a:t>Ako zdroj energie využívajú biomasu</a:t>
            </a:r>
          </a:p>
          <a:p>
            <a:r>
              <a:rPr lang="sk-SK" dirty="0"/>
              <a:t>Horením biomasy vzniká teplo, ktorým je zohrievaná para do parnej turbíny</a:t>
            </a:r>
          </a:p>
          <a:p>
            <a:r>
              <a:rPr lang="sk-SK" dirty="0"/>
              <a:t>Zvyšok tepla je možné využívať na vykurovanie</a:t>
            </a:r>
            <a:endParaRPr lang="en-US" dirty="0"/>
          </a:p>
        </p:txBody>
      </p:sp>
      <p:pic>
        <p:nvPicPr>
          <p:cNvPr id="5" name="Zástupný symbol obsahu 4"/>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5089525" y="1464458"/>
            <a:ext cx="6282668" cy="3953483"/>
          </a:xfrm>
        </p:spPr>
      </p:pic>
    </p:spTree>
    <p:extLst>
      <p:ext uri="{BB962C8B-B14F-4D97-AF65-F5344CB8AC3E}">
        <p14:creationId xmlns:p14="http://schemas.microsoft.com/office/powerpoint/2010/main" val="937303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Riadenie elektrizačných sústav</a:t>
            </a:r>
          </a:p>
        </p:txBody>
      </p:sp>
      <p:sp>
        <p:nvSpPr>
          <p:cNvPr id="3" name="Zástupný symbol obsahu 2"/>
          <p:cNvSpPr>
            <a:spLocks noGrp="1"/>
          </p:cNvSpPr>
          <p:nvPr>
            <p:ph idx="1"/>
          </p:nvPr>
        </p:nvSpPr>
        <p:spPr/>
        <p:txBody>
          <a:bodyPr>
            <a:normAutofit/>
          </a:bodyPr>
          <a:lstStyle/>
          <a:p>
            <a:pPr algn="just"/>
            <a:r>
              <a:rPr lang="sk-SK" dirty="0"/>
              <a:t>Prevádzka elektrizačnej sústavy si vyžaduje dobré riadenie, ktoré zabezpečí aby napätia a frekvencia siete boli udržané v požadovaných hraniciach blízko nominálnych hodnôt.</a:t>
            </a:r>
          </a:p>
          <a:p>
            <a:pPr algn="just"/>
            <a:r>
              <a:rPr lang="sk-SK" dirty="0"/>
              <a:t>Druhou dôležitou úlohou riadenia je vysporiadať sa s abnormálnymi situáciami a čo najrýchlejšie systém prinavrátiť do normálnej prevádzky. Pod poruchami si môžeme predstaviť akékoľvek podmienky, ktoré systém namáhajú nad jeho možnosti – náhle zmeny zaťaženia, skraty na vedení.</a:t>
            </a:r>
          </a:p>
          <a:p>
            <a:pPr algn="just"/>
            <a:r>
              <a:rPr lang="sk-SK" dirty="0"/>
              <a:t>Za týmito účelmi sú implementované zložité hierarchické riadiace a monitorovacie systémy, ako napríklad SCADA (</a:t>
            </a:r>
            <a:r>
              <a:rPr lang="sk-SK" dirty="0" err="1"/>
              <a:t>Supervisory</a:t>
            </a:r>
            <a:r>
              <a:rPr lang="sk-SK" dirty="0"/>
              <a:t> </a:t>
            </a:r>
            <a:r>
              <a:rPr lang="sk-SK" dirty="0" err="1"/>
              <a:t>Control</a:t>
            </a:r>
            <a:r>
              <a:rPr lang="sk-SK" dirty="0"/>
              <a:t> and </a:t>
            </a:r>
            <a:r>
              <a:rPr lang="sk-SK" dirty="0" err="1"/>
              <a:t>Data</a:t>
            </a:r>
            <a:r>
              <a:rPr lang="sk-SK" dirty="0"/>
              <a:t> </a:t>
            </a:r>
            <a:r>
              <a:rPr lang="sk-SK" dirty="0" err="1"/>
              <a:t>Acquisition</a:t>
            </a:r>
            <a:r>
              <a:rPr lang="sk-SK" dirty="0"/>
              <a:t>)</a:t>
            </a:r>
          </a:p>
        </p:txBody>
      </p:sp>
    </p:spTree>
    <p:extLst>
      <p:ext uri="{BB962C8B-B14F-4D97-AF65-F5344CB8AC3E}">
        <p14:creationId xmlns:p14="http://schemas.microsoft.com/office/powerpoint/2010/main" val="1336776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a:t>Stabilita</a:t>
            </a:r>
          </a:p>
        </p:txBody>
      </p:sp>
      <p:sp>
        <p:nvSpPr>
          <p:cNvPr id="3" name="Zástupný symbol obsahu 2"/>
          <p:cNvSpPr>
            <a:spLocks noGrp="1"/>
          </p:cNvSpPr>
          <p:nvPr>
            <p:ph idx="1"/>
          </p:nvPr>
        </p:nvSpPr>
        <p:spPr>
          <a:xfrm>
            <a:off x="622407" y="1344706"/>
            <a:ext cx="8651595" cy="5513293"/>
          </a:xfrm>
        </p:spPr>
        <p:txBody>
          <a:bodyPr>
            <a:normAutofit/>
          </a:bodyPr>
          <a:lstStyle/>
          <a:p>
            <a:pPr algn="just"/>
            <a:r>
              <a:rPr lang="sk-SK" dirty="0"/>
              <a:t>Stabilita systému všeobecne je schopnosťou systému zotrvať v ustálenom stave pri normálnych prevádzkových podmienkach a tiež schopnosť vrátiť sa do takéhoto stavu po jeho vystavení poruche.</a:t>
            </a:r>
          </a:p>
          <a:p>
            <a:pPr algn="just"/>
            <a:r>
              <a:rPr lang="sk-SK" dirty="0"/>
              <a:t>Pri ustálenom stave ES je vyrobený a spotrebovaný výkon v sústave v rovnováhe. Narušenie bilancie činného výkonu spôsobuje najmä zmenu frekvencie a narušenie bilancie jalového výkonu zmenu napätia v ES.</a:t>
            </a:r>
          </a:p>
          <a:p>
            <a:pPr algn="just"/>
            <a:endParaRPr lang="sk-SK" dirty="0"/>
          </a:p>
          <a:p>
            <a:r>
              <a:rPr lang="sk-SK" dirty="0"/>
              <a:t>Keďže elektrizačná sústava je pri generovaní elektrickej energie závislá na synchrónnych strojoch, nevyhnutnou podmienkou je, aby boli všetky synchrónne stroje navzájom synchronizované. Toto je dané dynamikou natočenia rotora. Ak niektoré zariadenie vypadne zo </a:t>
            </a:r>
            <a:r>
              <a:rPr lang="sk-SK" dirty="0" err="1"/>
              <a:t>synchronizmu</a:t>
            </a:r>
            <a:r>
              <a:rPr lang="sk-SK" dirty="0"/>
              <a:t>, stratí stabilitu.</a:t>
            </a:r>
          </a:p>
          <a:p>
            <a:endParaRPr lang="en-US" dirty="0"/>
          </a:p>
          <a:p>
            <a:r>
              <a:rPr lang="sk-SK" dirty="0"/>
              <a:t>Kvalita elektrickej energie je charakterizovaná najmä frekvenciou a napätím v uzloch sústavy.</a:t>
            </a:r>
          </a:p>
          <a:p>
            <a:pPr marL="0" indent="0">
              <a:buNone/>
            </a:pPr>
            <a:endParaRPr lang="sk-SK" dirty="0"/>
          </a:p>
        </p:txBody>
      </p:sp>
    </p:spTree>
    <p:extLst>
      <p:ext uri="{BB962C8B-B14F-4D97-AF65-F5344CB8AC3E}">
        <p14:creationId xmlns:p14="http://schemas.microsoft.com/office/powerpoint/2010/main" val="2228328441"/>
      </p:ext>
    </p:extLst>
  </p:cSld>
  <p:clrMapOvr>
    <a:masterClrMapping/>
  </p:clrMapOvr>
</p:sld>
</file>

<file path=ppt/theme/theme1.xml><?xml version="1.0" encoding="utf-8"?>
<a:theme xmlns:a="http://schemas.openxmlformats.org/drawingml/2006/main" name="Fazeta">
  <a:themeElements>
    <a:clrScheme name="Faz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z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z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46E8E2D702484CA408F021DEE2569A" ma:contentTypeVersion="10" ma:contentTypeDescription="Create a new document." ma:contentTypeScope="" ma:versionID="7a2812ca667d8c70d2a36b2e3d3b103a">
  <xsd:schema xmlns:xsd="http://www.w3.org/2001/XMLSchema" xmlns:xs="http://www.w3.org/2001/XMLSchema" xmlns:p="http://schemas.microsoft.com/office/2006/metadata/properties" xmlns:ns2="9b327846-e0b3-4ad6-9ca8-68ab1d718056" xmlns:ns3="701217ad-cad6-421a-ac01-78070839b6f6" targetNamespace="http://schemas.microsoft.com/office/2006/metadata/properties" ma:root="true" ma:fieldsID="1988e37045b8dc6db7d08572e240c743" ns2:_="" ns3:_="">
    <xsd:import namespace="9b327846-e0b3-4ad6-9ca8-68ab1d718056"/>
    <xsd:import namespace="701217ad-cad6-421a-ac01-78070839b6f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327846-e0b3-4ad6-9ca8-68ab1d7180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0de4301-b1da-46d0-bded-5f1fb5ebe3e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1217ad-cad6-421a-ac01-78070839b6f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cae3a00-ddd8-4b87-a85e-eacc516c3ca7}" ma:internalName="TaxCatchAll" ma:showField="CatchAllData" ma:web="701217ad-cad6-421a-ac01-78070839b6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01217ad-cad6-421a-ac01-78070839b6f6" xsi:nil="true"/>
    <lcf76f155ced4ddcb4097134ff3c332f xmlns="9b327846-e0b3-4ad6-9ca8-68ab1d71805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F978D37-2255-45A6-89FB-18DE4C443445}"/>
</file>

<file path=customXml/itemProps2.xml><?xml version="1.0" encoding="utf-8"?>
<ds:datastoreItem xmlns:ds="http://schemas.openxmlformats.org/officeDocument/2006/customXml" ds:itemID="{F2DD3B97-3F61-4050-8EF8-6B4845F1ACC6}"/>
</file>

<file path=customXml/itemProps3.xml><?xml version="1.0" encoding="utf-8"?>
<ds:datastoreItem xmlns:ds="http://schemas.openxmlformats.org/officeDocument/2006/customXml" ds:itemID="{69877675-D776-494C-AC5C-DEA80AC3501F}"/>
</file>

<file path=docProps/app.xml><?xml version="1.0" encoding="utf-8"?>
<Properties xmlns="http://schemas.openxmlformats.org/officeDocument/2006/extended-properties" xmlns:vt="http://schemas.openxmlformats.org/officeDocument/2006/docPropsVTypes">
  <Template>Facet</Template>
  <TotalTime>7297</TotalTime>
  <Words>2515</Words>
  <Application>Microsoft Office PowerPoint</Application>
  <PresentationFormat>Widescreen</PresentationFormat>
  <Paragraphs>179</Paragraphs>
  <Slides>26</Slides>
  <Notes>22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2" baseType="lpstr">
      <vt:lpstr>Arial</vt:lpstr>
      <vt:lpstr>Calibri</vt:lpstr>
      <vt:lpstr>Trebuchet MS</vt:lpstr>
      <vt:lpstr>Wingdings 3</vt:lpstr>
      <vt:lpstr>Fazeta</vt:lpstr>
      <vt:lpstr>Acrobat Document</vt:lpstr>
      <vt:lpstr>Dynamika elektrizačných sústav</vt:lpstr>
      <vt:lpstr>Obsah predmetu</vt:lpstr>
      <vt:lpstr>Organizácia predmetu</vt:lpstr>
      <vt:lpstr>Oznam</vt:lpstr>
      <vt:lpstr>História</vt:lpstr>
      <vt:lpstr>História</vt:lpstr>
      <vt:lpstr>História</vt:lpstr>
      <vt:lpstr>História</vt:lpstr>
      <vt:lpstr>História</vt:lpstr>
      <vt:lpstr>História</vt:lpstr>
      <vt:lpstr>História</vt:lpstr>
      <vt:lpstr>Základné pojmy</vt:lpstr>
      <vt:lpstr>Základné pojmy</vt:lpstr>
      <vt:lpstr>Výroba elektrickej energie</vt:lpstr>
      <vt:lpstr>Modelovanie elektrizačných sústav</vt:lpstr>
      <vt:lpstr>Vodné elektrárne</vt:lpstr>
      <vt:lpstr>Tepelné a jadrové elektrárne</vt:lpstr>
      <vt:lpstr>Jadrové elektrárne</vt:lpstr>
      <vt:lpstr>Jadrové elektrárne</vt:lpstr>
      <vt:lpstr>Tepelné elektrárne</vt:lpstr>
      <vt:lpstr>Paroplynové cykly PPC</vt:lpstr>
      <vt:lpstr>Fotovoltaické elektrárne</vt:lpstr>
      <vt:lpstr>Veterné elektrárne</vt:lpstr>
      <vt:lpstr>Biomasa</vt:lpstr>
      <vt:lpstr>Riadenie elektrizačných sústav</vt:lpstr>
      <vt:lpstr>Stabilita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Prezentácia programu PowerPoint</dc:title>
  <dc:creator>Martin Ernek</dc:creator>
  <cp:lastModifiedBy>Martin Ernek</cp:lastModifiedBy>
  <cp:revision>113</cp:revision>
  <dcterms:created xsi:type="dcterms:W3CDTF">2021-08-12T11:10:14Z</dcterms:created>
  <dcterms:modified xsi:type="dcterms:W3CDTF">2026-02-18T13:37:03Z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0x010100F946E8E2D702484CA408F021DEE2569A</vt:lpwstr>
  </property>
</Properties>
</file>