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660" r:id="rId1"/>
  </p:sldMasterIdLst>
  <p:notesMasterIdLst>
    <p:notesMasterId r:id="rId33"/>
  </p:notesMasterIdLst>
  <p:sldIdLst>
    <p:sldId id="257" r:id="rId2"/>
    <p:sldId id="294" r:id="rId3"/>
    <p:sldId id="295" r:id="rId4"/>
    <p:sldId id="296" r:id="rId5"/>
    <p:sldId id="297" r:id="rId6"/>
    <p:sldId id="299" r:id="rId7"/>
    <p:sldId id="300" r:id="rId8"/>
    <p:sldId id="301" r:id="rId9"/>
    <p:sldId id="314" r:id="rId10"/>
    <p:sldId id="302" r:id="rId11"/>
    <p:sldId id="307" r:id="rId12"/>
    <p:sldId id="303" r:id="rId13"/>
    <p:sldId id="304" r:id="rId14"/>
    <p:sldId id="305" r:id="rId15"/>
    <p:sldId id="306" r:id="rId16"/>
    <p:sldId id="308" r:id="rId17"/>
    <p:sldId id="315" r:id="rId18"/>
    <p:sldId id="316" r:id="rId19"/>
    <p:sldId id="317" r:id="rId20"/>
    <p:sldId id="318" r:id="rId21"/>
    <p:sldId id="319" r:id="rId22"/>
    <p:sldId id="309" r:id="rId23"/>
    <p:sldId id="321" r:id="rId24"/>
    <p:sldId id="310" r:id="rId25"/>
    <p:sldId id="320" r:id="rId26"/>
    <p:sldId id="322" r:id="rId27"/>
    <p:sldId id="311" r:id="rId28"/>
    <p:sldId id="312" r:id="rId29"/>
    <p:sldId id="313" r:id="rId30"/>
    <p:sldId id="293" r:id="rId31"/>
    <p:sldId id="28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 Ernek" initials="ME" lastIdx="3" clrIdx="0">
    <p:extLst>
      <p:ext uri="{19B8F6BF-5375-455C-9EA6-DF929625EA0E}">
        <p15:presenceInfo xmlns:p15="http://schemas.microsoft.com/office/powerpoint/2012/main" userId="Martin Ern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9-29T11:16:01.267" idx="3">
    <p:pos x="4181" y="411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hlavičk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dátum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07E61-9030-4CA0-B221-889846E31DE6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Zástupný symbol obrazu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oznámo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6" name="Zástupný symbol pät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čísla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29A903-7947-4FD4-B0C8-A12B2CAB3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65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azu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oznámo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čísla snímky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FE940-ED10-4003-8467-34CB6679BD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4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k-SK"/>
              <a:t>Upravte štýl predlohy podnadpisov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53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9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1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94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29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8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36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47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sk-SK"/>
              <a:t>Ak chcete pridať obrázok, kliknite na ikonu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07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ov a p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78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nuka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5074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871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s názvom ponu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072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alebo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Upravte štýl predlohy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552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38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4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sk-SK"/>
              <a:t>Upravte štýly predlohy textu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Upravte štýl predlohy textu.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F350D-D4C3-4D1C-AC05-9244C4B3CEE9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4B0F8B6-B4DE-4040-ADB7-E86EA34CC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5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youtube.com/watch?v=U-uUYCFDTrc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kQNf5_61P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skQNf5_61Ps?feature=oembed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1uY50rbbGI?feature=oembed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.ieee.org/fw-pes/files/2013/01/PES_TR1.p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k-SK" dirty="0"/>
              <a:t>Dynamika elektrizačných sústav</a:t>
            </a:r>
            <a:br>
              <a:rPr lang="en-US" dirty="0"/>
            </a:br>
            <a:r>
              <a:rPr lang="en-US" sz="2800" dirty="0"/>
              <a:t>3</a:t>
            </a:r>
            <a:r>
              <a:rPr lang="sk-SK" sz="2800" dirty="0"/>
              <a:t>. Týždeň: Vodné elektrárne</a:t>
            </a:r>
            <a:br>
              <a:rPr lang="sk-SK" dirty="0"/>
            </a:br>
            <a:endParaRPr lang="sk-SK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Študijný program: Robotika a kybernetika</a:t>
            </a:r>
          </a:p>
          <a:p>
            <a:r>
              <a:rPr lang="sk-SK" dirty="0"/>
              <a:t>202</a:t>
            </a:r>
            <a:r>
              <a:rPr lang="en-US" dirty="0"/>
              <a:t>6</a:t>
            </a:r>
            <a:endParaRPr lang="sk-SK" dirty="0"/>
          </a:p>
          <a:p>
            <a:r>
              <a:rPr lang="en-US" dirty="0"/>
              <a:t>Doc. Ing</a:t>
            </a:r>
            <a:r>
              <a:rPr lang="sk-SK" dirty="0"/>
              <a:t>. Martin Ernek PhD.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33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História – </a:t>
            </a:r>
            <a:r>
              <a:rPr lang="sk-SK" dirty="0" err="1"/>
              <a:t>Francisova</a:t>
            </a:r>
            <a:r>
              <a:rPr lang="sk-SK" dirty="0"/>
              <a:t> turbína</a:t>
            </a:r>
            <a:endParaRPr lang="en-US" dirty="0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1849 – James </a:t>
            </a:r>
            <a:r>
              <a:rPr lang="sk-SK" dirty="0" err="1"/>
              <a:t>Francis</a:t>
            </a:r>
            <a:r>
              <a:rPr lang="sk-SK" dirty="0"/>
              <a:t> vyvinie prvú modernú vodnú turbínu</a:t>
            </a:r>
          </a:p>
          <a:p>
            <a:r>
              <a:rPr lang="sk-SK" dirty="0"/>
              <a:t>Tento návrh obsahuje všetky moderné prvky dnešných vodných turbín: špirálový privádzač, riadenie prietoku turbínou pomocou rozvádzacieho kolesa</a:t>
            </a:r>
            <a:endParaRPr lang="en-US" dirty="0"/>
          </a:p>
        </p:txBody>
      </p:sp>
      <p:pic>
        <p:nvPicPr>
          <p:cNvPr id="8" name="Zástupný symbol obsahu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21" y="2160589"/>
            <a:ext cx="3514725" cy="2733675"/>
          </a:xfrm>
        </p:spPr>
      </p:pic>
    </p:spTree>
    <p:extLst>
      <p:ext uri="{BB962C8B-B14F-4D97-AF65-F5344CB8AC3E}">
        <p14:creationId xmlns:p14="http://schemas.microsoft.com/office/powerpoint/2010/main" val="35860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História – </a:t>
            </a:r>
            <a:r>
              <a:rPr lang="sk-SK" dirty="0" err="1"/>
              <a:t>Peltonova</a:t>
            </a:r>
            <a:r>
              <a:rPr lang="sk-SK" dirty="0"/>
              <a:t> turbína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1870 - </a:t>
            </a:r>
            <a:r>
              <a:rPr lang="en-US" dirty="0"/>
              <a:t>Lester Allan Pelton</a:t>
            </a:r>
            <a:endParaRPr lang="sk-SK" dirty="0"/>
          </a:p>
          <a:p>
            <a:r>
              <a:rPr lang="sk-SK" dirty="0"/>
              <a:t>Ide o modifikáciu mlynského kolesa</a:t>
            </a:r>
          </a:p>
          <a:p>
            <a:r>
              <a:rPr lang="sk-SK" dirty="0"/>
              <a:t>Prietok </a:t>
            </a:r>
            <a:r>
              <a:rPr lang="en-GB" dirty="0" err="1"/>
              <a:t>vody</a:t>
            </a:r>
            <a:r>
              <a:rPr lang="en-GB" dirty="0"/>
              <a:t> </a:t>
            </a:r>
            <a:r>
              <a:rPr lang="sk-SK" dirty="0"/>
              <a:t>turbínou sa riadi pomocou </a:t>
            </a:r>
            <a:r>
              <a:rPr lang="sk-SK" dirty="0" err="1"/>
              <a:t>trysiek</a:t>
            </a:r>
            <a:endParaRPr lang="sk-SK" dirty="0"/>
          </a:p>
          <a:p>
            <a:r>
              <a:rPr lang="sk-SK" dirty="0"/>
              <a:t>Turbínu je možné aj brzdiť pomocou protichodných </a:t>
            </a:r>
            <a:r>
              <a:rPr lang="sk-SK" dirty="0" err="1"/>
              <a:t>trysiek</a:t>
            </a:r>
            <a:endParaRPr lang="sk-SK" dirty="0"/>
          </a:p>
          <a:p>
            <a:r>
              <a:rPr lang="sk-SK" dirty="0"/>
              <a:t>Konštrukcia obsahuje 2 vedrá, ktoré redukujú pôsobenie síl v inom ako požadovanom smere</a:t>
            </a:r>
            <a:endParaRPr lang="en-US" dirty="0"/>
          </a:p>
        </p:txBody>
      </p:sp>
      <p:pic>
        <p:nvPicPr>
          <p:cNvPr id="7" name="Zástupný symbol obsahu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581102"/>
            <a:ext cx="4184650" cy="3040409"/>
          </a:xfrm>
        </p:spPr>
      </p:pic>
    </p:spTree>
    <p:extLst>
      <p:ext uri="{BB962C8B-B14F-4D97-AF65-F5344CB8AC3E}">
        <p14:creationId xmlns:p14="http://schemas.microsoft.com/office/powerpoint/2010/main" val="184345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História – </a:t>
            </a:r>
            <a:r>
              <a:rPr lang="sk-SK" dirty="0" err="1"/>
              <a:t>Kaplanova</a:t>
            </a:r>
            <a:r>
              <a:rPr lang="sk-SK" dirty="0"/>
              <a:t> turbína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1913 - </a:t>
            </a:r>
            <a:r>
              <a:rPr lang="en-US" dirty="0"/>
              <a:t>Viktor Kaplan</a:t>
            </a:r>
            <a:endParaRPr lang="sk-SK" dirty="0"/>
          </a:p>
          <a:p>
            <a:r>
              <a:rPr lang="sk-SK" dirty="0"/>
              <a:t>Jedná sa o vývojový stupeň </a:t>
            </a:r>
            <a:r>
              <a:rPr lang="sk-SK" dirty="0" err="1"/>
              <a:t>Francisovej</a:t>
            </a:r>
            <a:r>
              <a:rPr lang="sk-SK" dirty="0"/>
              <a:t> turbíny</a:t>
            </a:r>
          </a:p>
          <a:p>
            <a:r>
              <a:rPr lang="sk-SK" dirty="0"/>
              <a:t>Obsahuje riadenie obežného kolesa, natáčaním lopatiek turbíny sa nastavuje efektivita pri rôznych prietokoch</a:t>
            </a:r>
          </a:p>
          <a:p>
            <a:r>
              <a:rPr lang="sk-SK" dirty="0"/>
              <a:t>Najrozšírenejšie v podmienkach ES SR</a:t>
            </a:r>
            <a:endParaRPr lang="en-US" dirty="0"/>
          </a:p>
        </p:txBody>
      </p:sp>
      <p:pic>
        <p:nvPicPr>
          <p:cNvPr id="5" name="Zástupný symbol obsahu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569" y="2160588"/>
            <a:ext cx="3296562" cy="3881437"/>
          </a:xfrm>
        </p:spPr>
      </p:pic>
    </p:spTree>
    <p:extLst>
      <p:ext uri="{BB962C8B-B14F-4D97-AF65-F5344CB8AC3E}">
        <p14:creationId xmlns:p14="http://schemas.microsoft.com/office/powerpoint/2010/main" val="3259964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História – </a:t>
            </a:r>
            <a:r>
              <a:rPr lang="sk-SK" dirty="0" err="1"/>
              <a:t>Deriazova</a:t>
            </a:r>
            <a:r>
              <a:rPr lang="sk-SK" dirty="0"/>
              <a:t> turbína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1956 – Paul </a:t>
            </a:r>
            <a:r>
              <a:rPr lang="sk-SK" dirty="0" err="1"/>
              <a:t>Deriaz</a:t>
            </a:r>
            <a:endParaRPr lang="sk-SK" dirty="0"/>
          </a:p>
          <a:p>
            <a:r>
              <a:rPr lang="sk-SK" dirty="0"/>
              <a:t>Ide o vývojový stupeň </a:t>
            </a:r>
            <a:r>
              <a:rPr lang="sk-SK" dirty="0" err="1"/>
              <a:t>Kaplanovej</a:t>
            </a:r>
            <a:r>
              <a:rPr lang="sk-SK" dirty="0"/>
              <a:t> turbíny s odlišnou konštrukciou lopatiek</a:t>
            </a:r>
          </a:p>
          <a:p>
            <a:r>
              <a:rPr lang="sk-SK" dirty="0"/>
              <a:t>Obsahuje riadenie obežného kolesa, natáčaním lopatiek turbíny sa nastavuje efektivita pri rôznych prietokoch</a:t>
            </a:r>
          </a:p>
          <a:p>
            <a:r>
              <a:rPr lang="sk-SK" dirty="0"/>
              <a:t>Je možné ju použiť aj v režime čerpania</a:t>
            </a:r>
          </a:p>
          <a:p>
            <a:endParaRPr lang="en-US" dirty="0"/>
          </a:p>
        </p:txBody>
      </p:sp>
      <p:pic>
        <p:nvPicPr>
          <p:cNvPr id="8" name="Content Placeholder 7" descr="A person standing next to a large object&#10;&#10;Description automatically generated">
            <a:extLst>
              <a:ext uri="{FF2B5EF4-FFF2-40B4-BE49-F238E27FC236}">
                <a16:creationId xmlns:a16="http://schemas.microsoft.com/office/drawing/2014/main" id="{99BDE127-1F81-CCD9-79EE-305CA0E472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4" y="1266500"/>
            <a:ext cx="6644173" cy="4981900"/>
          </a:xfrm>
        </p:spPr>
      </p:pic>
    </p:spTree>
    <p:extLst>
      <p:ext uri="{BB962C8B-B14F-4D97-AF65-F5344CB8AC3E}">
        <p14:creationId xmlns:p14="http://schemas.microsoft.com/office/powerpoint/2010/main" val="55886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Princíp činnosti	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Používajú hydrodynamickú energiu</a:t>
            </a:r>
          </a:p>
          <a:p>
            <a:r>
              <a:rPr lang="sk-SK" dirty="0"/>
              <a:t>Podľa prúdenia vody ich rozdeľujeme na:</a:t>
            </a:r>
          </a:p>
          <a:p>
            <a:pPr lvl="1"/>
            <a:r>
              <a:rPr lang="sk-SK" dirty="0"/>
              <a:t>Reakčné, pretlakové – turbína sa nachádza pod spodnou hladinou </a:t>
            </a:r>
            <a:r>
              <a:rPr lang="en-US" dirty="0"/>
              <a:t>(</a:t>
            </a:r>
            <a:r>
              <a:rPr lang="sk-SK" dirty="0" err="1"/>
              <a:t>Francis</a:t>
            </a:r>
            <a:r>
              <a:rPr lang="sk-SK" dirty="0"/>
              <a:t>, </a:t>
            </a:r>
            <a:r>
              <a:rPr lang="sk-SK" dirty="0" err="1"/>
              <a:t>Kaplan</a:t>
            </a:r>
            <a:r>
              <a:rPr lang="sk-SK" dirty="0"/>
              <a:t>, </a:t>
            </a:r>
            <a:r>
              <a:rPr lang="sk-SK" dirty="0" err="1"/>
              <a:t>Deriaz</a:t>
            </a:r>
            <a:r>
              <a:rPr lang="en-US" dirty="0"/>
              <a:t>)</a:t>
            </a:r>
            <a:endParaRPr lang="sk-SK" dirty="0"/>
          </a:p>
          <a:p>
            <a:pPr lvl="1"/>
            <a:r>
              <a:rPr lang="sk-SK" dirty="0"/>
              <a:t>Impulzné, </a:t>
            </a:r>
            <a:r>
              <a:rPr lang="sk-SK" dirty="0" err="1"/>
              <a:t>rovnakotlakové</a:t>
            </a:r>
            <a:r>
              <a:rPr lang="sk-SK" dirty="0"/>
              <a:t> – turbína sa nachádza nad spodnou hladinou </a:t>
            </a:r>
            <a:r>
              <a:rPr lang="en-US" dirty="0"/>
              <a:t>(</a:t>
            </a:r>
            <a:r>
              <a:rPr lang="sk-SK" dirty="0" err="1"/>
              <a:t>Pelton</a:t>
            </a:r>
            <a:r>
              <a:rPr lang="en-US" dirty="0"/>
              <a:t>)</a:t>
            </a:r>
            <a:endParaRPr lang="sk-SK" dirty="0"/>
          </a:p>
          <a:p>
            <a:pPr indent="-285750"/>
            <a:r>
              <a:rPr lang="sk-SK" dirty="0"/>
              <a:t>Dôležité pojmy</a:t>
            </a:r>
          </a:p>
          <a:p>
            <a:pPr lvl="1"/>
            <a:r>
              <a:rPr lang="sk-SK" dirty="0"/>
              <a:t>Spád – rozdielová výška medzi hornou a spodnou hladinou nádrže</a:t>
            </a:r>
          </a:p>
          <a:p>
            <a:pPr lvl="1"/>
            <a:r>
              <a:rPr lang="sk-SK" dirty="0"/>
              <a:t>Prietok – prietok vody cez turbínu</a:t>
            </a:r>
          </a:p>
          <a:p>
            <a:pPr lvl="1"/>
            <a:r>
              <a:rPr lang="sk-SK" dirty="0"/>
              <a:t>Privádzač – Privádzacie potrubie, kanál do turbíny</a:t>
            </a:r>
          </a:p>
        </p:txBody>
      </p:sp>
    </p:spTree>
    <p:extLst>
      <p:ext uri="{BB962C8B-B14F-4D97-AF65-F5344CB8AC3E}">
        <p14:creationId xmlns:p14="http://schemas.microsoft.com/office/powerpoint/2010/main" val="235242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Efektivita</a:t>
            </a:r>
            <a:endParaRPr lang="en-US" dirty="0"/>
          </a:p>
        </p:txBody>
      </p:sp>
      <p:sp>
        <p:nvSpPr>
          <p:cNvPr id="10" name="Zástupný symbol obsahu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Podľa spádu a prietoku</a:t>
            </a:r>
          </a:p>
          <a:p>
            <a:r>
              <a:rPr lang="sk-SK" dirty="0"/>
              <a:t>V podmienkach ES SR sa nachádzajú väčšinou nízke spády, preto sa najčastejšie používajú </a:t>
            </a:r>
            <a:r>
              <a:rPr lang="sk-SK" dirty="0" err="1"/>
              <a:t>Kaplanove</a:t>
            </a:r>
            <a:r>
              <a:rPr lang="sk-SK" dirty="0"/>
              <a:t> turbíny</a:t>
            </a:r>
          </a:p>
          <a:p>
            <a:r>
              <a:rPr lang="sk-SK" dirty="0" err="1"/>
              <a:t>Francisova</a:t>
            </a:r>
            <a:r>
              <a:rPr lang="sk-SK" dirty="0"/>
              <a:t> turbína sa používa hlavne u prečerpávacích vodných elektrární s vysokým spádom </a:t>
            </a:r>
            <a:r>
              <a:rPr lang="en-US" dirty="0"/>
              <a:t>(</a:t>
            </a:r>
            <a:r>
              <a:rPr lang="sk-SK" dirty="0"/>
              <a:t>Čierny Váh, Dobšiná, </a:t>
            </a:r>
            <a:r>
              <a:rPr lang="sk-SK" dirty="0" err="1"/>
              <a:t>Ružín</a:t>
            </a:r>
            <a:r>
              <a:rPr lang="en-US" dirty="0"/>
              <a:t>)</a:t>
            </a:r>
            <a:endParaRPr lang="sk-SK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3" name="Zástupný symbol obsahu 1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388044"/>
            <a:ext cx="4184650" cy="3426525"/>
          </a:xfrm>
        </p:spPr>
      </p:pic>
    </p:spTree>
    <p:extLst>
      <p:ext uri="{BB962C8B-B14F-4D97-AF65-F5344CB8AC3E}">
        <p14:creationId xmlns:p14="http://schemas.microsoft.com/office/powerpoint/2010/main" val="3303710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Efektivita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Efektivita podľa zaťaženia turbíny</a:t>
            </a:r>
          </a:p>
          <a:p>
            <a:endParaRPr lang="sk-SK" dirty="0"/>
          </a:p>
          <a:p>
            <a:r>
              <a:rPr lang="sk-SK" dirty="0" err="1"/>
              <a:t>Peltonove</a:t>
            </a:r>
            <a:r>
              <a:rPr lang="sk-SK" dirty="0"/>
              <a:t> turbíny sa využívajú v podmienkach ES SR pri malých vodných elektrárňach </a:t>
            </a:r>
          </a:p>
          <a:p>
            <a:r>
              <a:rPr lang="sk-SK" dirty="0" err="1"/>
              <a:t>Deriazove</a:t>
            </a:r>
            <a:r>
              <a:rPr lang="sk-SK" dirty="0"/>
              <a:t> turbíny sa používajú na prečerpávacej vodnej elektrárni L. Mara</a:t>
            </a:r>
          </a:p>
        </p:txBody>
      </p:sp>
      <p:pic>
        <p:nvPicPr>
          <p:cNvPr id="5" name="Zástupný symbol obsahu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860616"/>
            <a:ext cx="4184650" cy="2481381"/>
          </a:xfrm>
        </p:spPr>
      </p:pic>
    </p:spTree>
    <p:extLst>
      <p:ext uri="{BB962C8B-B14F-4D97-AF65-F5344CB8AC3E}">
        <p14:creationId xmlns:p14="http://schemas.microsoft.com/office/powerpoint/2010/main" val="2883960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Pri modelovaní turbín uvažujeme nasledovnú schému</a:t>
            </a:r>
          </a:p>
          <a:p>
            <a:r>
              <a:rPr lang="sk-SK" dirty="0"/>
              <a:t>Samotný model vodnej turbíny sa skladá z:</a:t>
            </a:r>
          </a:p>
          <a:p>
            <a:pPr lvl="1"/>
            <a:r>
              <a:rPr lang="sk-SK" dirty="0"/>
              <a:t>Turbína a privádzač</a:t>
            </a:r>
          </a:p>
          <a:p>
            <a:pPr lvl="1"/>
            <a:r>
              <a:rPr lang="sk-SK" dirty="0" err="1"/>
              <a:t>Servosystém</a:t>
            </a:r>
            <a:r>
              <a:rPr lang="sk-SK" dirty="0"/>
              <a:t> rozvádzacieho kolesa RK</a:t>
            </a:r>
          </a:p>
          <a:p>
            <a:pPr lvl="1"/>
            <a:r>
              <a:rPr lang="sk-SK" dirty="0"/>
              <a:t>Riadiaci systém</a:t>
            </a:r>
            <a:endParaRPr lang="en-US" dirty="0"/>
          </a:p>
        </p:txBody>
      </p:sp>
      <p:pic>
        <p:nvPicPr>
          <p:cNvPr id="5" name="Zástupný symbol obsahu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89525" y="2160589"/>
            <a:ext cx="5805182" cy="303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37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Voda prechádza tlakovým potrubím, privádzačom z hornej nádrže do dolnej</a:t>
            </a:r>
          </a:p>
          <a:p>
            <a:r>
              <a:rPr lang="sk-SK" dirty="0"/>
              <a:t>Prietok vody poháňa vodnú turbínu</a:t>
            </a:r>
          </a:p>
          <a:p>
            <a:r>
              <a:rPr lang="sk-SK" dirty="0"/>
              <a:t>Predpoklady modelu:</a:t>
            </a:r>
          </a:p>
          <a:p>
            <a:pPr lvl="1"/>
            <a:r>
              <a:rPr lang="sk-SK" dirty="0"/>
              <a:t>Voda v turbíne je nestlačiteľná</a:t>
            </a:r>
          </a:p>
          <a:p>
            <a:pPr lvl="1"/>
            <a:r>
              <a:rPr lang="sk-SK" dirty="0"/>
              <a:t>Nedochádza k treniu</a:t>
            </a:r>
          </a:p>
          <a:p>
            <a:pPr lvl="1"/>
            <a:r>
              <a:rPr lang="sk-SK" dirty="0"/>
              <a:t>Neuvažuje sa vplyv </a:t>
            </a:r>
            <a:r>
              <a:rPr lang="sk-SK" dirty="0" err="1"/>
              <a:t>kavitácie</a:t>
            </a:r>
            <a:endParaRPr lang="sk-SK" dirty="0"/>
          </a:p>
          <a:p>
            <a:pPr lvl="1"/>
            <a:r>
              <a:rPr lang="en-US" dirty="0">
                <a:hlinkClick r:id="rId2"/>
              </a:rPr>
              <a:t>Cavitation - Easily explained! - YouTube</a:t>
            </a:r>
            <a:endParaRPr lang="sk-SK" dirty="0"/>
          </a:p>
          <a:p>
            <a:pPr lvl="1"/>
            <a:endParaRPr lang="en-US" dirty="0"/>
          </a:p>
        </p:txBody>
      </p:sp>
      <p:pic>
        <p:nvPicPr>
          <p:cNvPr id="5" name="Grafický objekt 58"/>
          <p:cNvPicPr>
            <a:picLocks noGrp="1"/>
          </p:cNvPicPr>
          <p:nvPr>
            <p:ph sz="half" idx="2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9525" y="2760548"/>
            <a:ext cx="4184650" cy="268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923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p:sp>
        <p:nvSpPr>
          <p:cNvPr id="6" name="Zástupný symbol obsah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Vstupy: poloha rozvádzacieho kolesa, poloha obežného kolesa</a:t>
            </a:r>
          </a:p>
          <a:p>
            <a:pPr lvl="1"/>
            <a:r>
              <a:rPr lang="sk-SK" dirty="0"/>
              <a:t>Poloha rozvádzacieho kolesa – ovplyvňuje prietok vody do turbíny</a:t>
            </a:r>
          </a:p>
          <a:p>
            <a:pPr lvl="1"/>
            <a:r>
              <a:rPr lang="sk-SK" dirty="0"/>
              <a:t>Poloha obežného kolesa – ovplyvňuje natočenie lopatiek u </a:t>
            </a:r>
            <a:r>
              <a:rPr lang="sk-SK" dirty="0" err="1"/>
              <a:t>Kaplanovej</a:t>
            </a:r>
            <a:r>
              <a:rPr lang="sk-SK" dirty="0"/>
              <a:t> alebo </a:t>
            </a:r>
            <a:r>
              <a:rPr lang="sk-SK" dirty="0" err="1"/>
              <a:t>Deriazovej</a:t>
            </a:r>
            <a:r>
              <a:rPr lang="sk-SK" dirty="0"/>
              <a:t> turbíny, efektivitu turbíny</a:t>
            </a:r>
          </a:p>
          <a:p>
            <a:endParaRPr lang="sk-SK" dirty="0"/>
          </a:p>
          <a:p>
            <a:r>
              <a:rPr lang="sk-SK" dirty="0"/>
              <a:t>Výstupy: mechanický výkon turbíny, prietok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62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Rýchlosť zmien prietoku v tlakovom potrubí získame, ak rýchlosť zmien momentu vody v tlakovom potrubí položíme rovnú čistej sile pôsobiacej na vodu:</a:t>
                </a:r>
              </a:p>
              <a:p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m:rPr>
                          <m:sty m:val="p"/>
                        </m:rPr>
                        <a:rPr lang="sk-SK">
                          <a:latin typeface="Cambria Math" panose="02040503050406030204" pitchFamily="18" charset="0"/>
                        </a:rPr>
                        <m:t>L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  <a:p>
                <a:pPr marL="0" indent="0">
                  <a:buNone/>
                </a:pPr>
                <a:endParaRPr lang="sk-SK" dirty="0"/>
              </a:p>
              <a:p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sk-SK" dirty="0"/>
                  <a:t> – hustota vody</a:t>
                </a:r>
              </a:p>
              <a:p>
                <a:r>
                  <a:rPr lang="sk-SK" dirty="0"/>
                  <a:t>L – dĺžka potrubia, privádzača</a:t>
                </a:r>
              </a:p>
              <a:p>
                <a:r>
                  <a:rPr lang="sk-SK" dirty="0"/>
                  <a:t>Q – prietok turbínou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𝑛𝑒𝑡</m:t>
                        </m:r>
                      </m:sub>
                    </m:sSub>
                  </m:oMath>
                </a14:m>
                <a:r>
                  <a:rPr lang="sk-SK" dirty="0"/>
                  <a:t> - Sila pôsobiaca na vodu</a:t>
                </a:r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 b="-1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967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Na vstupe do tlakového potrubia je sila pôsobiaca na vodu proporcionálna výške hladiny </a:t>
                </a:r>
                <a:r>
                  <a:rPr lang="sk-SK" dirty="0" err="1"/>
                  <a:t>H</a:t>
                </a:r>
                <a:r>
                  <a:rPr lang="sk-SK" baseline="-25000" dirty="0" err="1"/>
                  <a:t>s</a:t>
                </a:r>
                <a:r>
                  <a:rPr lang="sk-SK" dirty="0"/>
                  <a:t>, zatiaľ čo na rozvádzacom kolese je proporcionálna výške hladiny H na turbíne. Ak neuvažujeme vplyv trenia potom čistá sila pôsobiaca na turbínu:</a:t>
                </a:r>
              </a:p>
              <a:p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𝑛𝑒𝑡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dirty="0"/>
              </a:p>
              <a:p>
                <a:pPr marL="0" indent="0">
                  <a:buNone/>
                </a:pPr>
                <a:endParaRPr lang="sk-SK" dirty="0"/>
              </a:p>
              <a:p>
                <a:r>
                  <a:rPr lang="sk-SK" dirty="0"/>
                  <a:t>A – plocha prierezu potrubia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sk-SK" dirty="0"/>
                  <a:t> – gravitačné zrýchlenie</a:t>
                </a:r>
              </a:p>
              <a:p>
                <a:endParaRPr lang="sk-S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 r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738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sk-SK" dirty="0"/>
                  <a:t>Dosadením do predošlej rovnice dostávame:</a:t>
                </a:r>
              </a:p>
              <a:p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r>
                        <m:rPr>
                          <m:sty m:val="p"/>
                        </m:rPr>
                        <a:rPr lang="sk-SK">
                          <a:latin typeface="Cambria Math" panose="02040503050406030204" pitchFamily="18" charset="0"/>
                        </a:rPr>
                        <m:t>L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sk-SK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𝜌</m:t>
                      </m:r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sk-SK" b="1" dirty="0"/>
              </a:p>
              <a:p>
                <a:pPr marL="0" indent="0">
                  <a:buNone/>
                </a:pPr>
                <a:endParaRPr lang="sk-SK" dirty="0"/>
              </a:p>
              <a:p>
                <a:r>
                  <a:rPr lang="sk-SK" dirty="0"/>
                  <a:t>Zvyčajne sa táto rovnica normalizuje do nejakej vhodnej bázy. Hoci je tento bázový systém ľubovoľný, za základ bázy </a:t>
                </a:r>
                <a:r>
                  <a:rPr lang="sk-SK" dirty="0" err="1"/>
                  <a:t>h</a:t>
                </a:r>
                <a:r>
                  <a:rPr lang="sk-SK" baseline="-25000" dirty="0" err="1"/>
                  <a:t>base</a:t>
                </a:r>
                <a:r>
                  <a:rPr lang="sk-SK" dirty="0"/>
                  <a:t> sa berie výška hladiny nad turbínou, v tomto prípade </a:t>
                </a:r>
                <a:r>
                  <a:rPr lang="sk-SK" dirty="0" err="1"/>
                  <a:t>H</a:t>
                </a:r>
                <a:r>
                  <a:rPr lang="sk-SK" baseline="-25000" dirty="0" err="1"/>
                  <a:t>s</a:t>
                </a:r>
                <a:r>
                  <a:rPr lang="sk-SK" dirty="0"/>
                  <a:t>, zatiaľ čo za bázový prietok </a:t>
                </a:r>
                <a:r>
                  <a:rPr lang="sk-SK" dirty="0" err="1"/>
                  <a:t>q</a:t>
                </a:r>
                <a:r>
                  <a:rPr lang="sk-SK" baseline="-25000" dirty="0" err="1"/>
                  <a:t>base</a:t>
                </a:r>
                <a:r>
                  <a:rPr lang="sk-SK" dirty="0"/>
                  <a:t> sa berie prietok cez turbínu pri plne otvorenom  rozvádzacom kolese a výške hladiny rovnej </a:t>
                </a:r>
                <a:r>
                  <a:rPr lang="sk-SK" dirty="0" err="1"/>
                  <a:t>h</a:t>
                </a:r>
                <a:r>
                  <a:rPr lang="sk-SK" baseline="-25000" dirty="0" err="1"/>
                  <a:t>base</a:t>
                </a:r>
                <a:r>
                  <a:rPr lang="sk-SK" dirty="0"/>
                  <a:t>. Po vydelení oboch strán rovnice výrazom </a:t>
                </a:r>
                <a:r>
                  <a:rPr lang="sk-SK" dirty="0" err="1"/>
                  <a:t>h</a:t>
                </a:r>
                <a:r>
                  <a:rPr lang="sk-SK" baseline="-25000" dirty="0" err="1"/>
                  <a:t>base</a:t>
                </a:r>
                <a:r>
                  <a:rPr lang="sk-SK" dirty="0" err="1"/>
                  <a:t>q</a:t>
                </a:r>
                <a:r>
                  <a:rPr lang="sk-SK" baseline="-25000" dirty="0" err="1"/>
                  <a:t>base</a:t>
                </a:r>
                <a:r>
                  <a:rPr lang="sk-SK" dirty="0"/>
                  <a:t> dostaneme:</a:t>
                </a:r>
              </a:p>
              <a:p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sk-SK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sk-SK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  <m:r>
                        <a:rPr lang="sk-SK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sk-S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" t="-1099" r="-2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9133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sk-SK" dirty="0"/>
                  <a:t>Kde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k-SK">
                        <a:latin typeface="Cambria Math" panose="02040503050406030204" pitchFamily="18" charset="0"/>
                      </a:rPr>
                      <m:t>q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𝑄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sk-SK" dirty="0"/>
                  <a:t>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sk-SK">
                        <a:latin typeface="Cambria Math" panose="02040503050406030204" pitchFamily="18" charset="0"/>
                      </a:rPr>
                      <m:t>h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den>
                    </m:f>
                  </m:oMath>
                </a14:m>
                <a:r>
                  <a:rPr lang="sk-SK" dirty="0"/>
                  <a:t> je normalizovaný prietok a výška hladiny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num>
                      <m:den>
                        <m:r>
                          <a:rPr lang="sk-SK" i="1">
                            <a:latin typeface="Cambria Math" panose="02040503050406030204" pitchFamily="18" charset="0"/>
                          </a:rPr>
                          <m:t>𝐴</m:t>
                        </m:r>
                        <m:sSub>
                          <m:sSubPr>
                            <m:ctrlPr>
                              <a:rPr lang="sk-S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sk-SK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den>
                    </m:f>
                    <m:r>
                      <a:rPr lang="sk-SK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sk-SK" dirty="0"/>
                  <a:t> je časová konštanta vody.</a:t>
                </a:r>
              </a:p>
              <a:p>
                <a:r>
                  <a:rPr lang="sk-SK" dirty="0"/>
                  <a:t>Vzťah medzi polohou rozvádzacieho kolesa g a prietokom q dostaneme ako: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sk-SK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sk-SK" b="0" i="0" smtClean="0">
                          <a:latin typeface="Cambria Math" panose="02040503050406030204" pitchFamily="18" charset="0"/>
                        </a:rPr>
                        <m:t>g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</m:oMath>
                  </m:oMathPara>
                </a14:m>
                <a:endParaRPr lang="sk-SK" dirty="0"/>
              </a:p>
              <a:p>
                <a:pPr marL="0" indent="0">
                  <a:buNone/>
                </a:pPr>
                <a:endParaRPr lang="sk-SK" dirty="0"/>
              </a:p>
              <a:p>
                <a:r>
                  <a:rPr lang="sk-SK" dirty="0"/>
                  <a:t>Výkon turbíny je proporcionálny súčinu prietoku a výšky hladiny a závisí od účinnosti. Aby sme zohľadnili fakt, že turbína nie je 100% účinná, prietok naprázdno q</a:t>
                </a:r>
                <a:r>
                  <a:rPr lang="en-US" baseline="-25000" dirty="0" err="1"/>
                  <a:t>nl</a:t>
                </a:r>
                <a:r>
                  <a:rPr lang="sk-SK" dirty="0"/>
                  <a:t> je odčítaný od aktuálneho prietoku</a:t>
                </a:r>
                <a:r>
                  <a:rPr lang="en-US" dirty="0"/>
                  <a:t>:</a:t>
                </a:r>
                <a:endParaRPr lang="sk-SK" dirty="0"/>
              </a:p>
              <a:p>
                <a:pPr marL="0" indent="0">
                  <a:buNone/>
                </a:pPr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sk-SK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053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sk-SK" dirty="0"/>
              </a:p>
              <a:p>
                <a:r>
                  <a:rPr lang="sk-SK" dirty="0"/>
                  <a:t>Pre prispôsobenie pomerných jednotiek výkonu turbíny k výkonu generátora býva na konci výkon turbíny vynásobený tzv. A</a:t>
                </a:r>
                <a:r>
                  <a:rPr lang="sk-SK" baseline="-25000" dirty="0"/>
                  <a:t>t</a:t>
                </a:r>
                <a:r>
                  <a:rPr lang="sk-SK" dirty="0"/>
                  <a:t> faktorom</a:t>
                </a:r>
              </a:p>
              <a:p>
                <a:r>
                  <a:rPr lang="sk-SK" dirty="0"/>
                  <a:t>A</a:t>
                </a:r>
                <a:r>
                  <a:rPr lang="sk-SK" baseline="-25000" dirty="0"/>
                  <a:t>t</a:t>
                </a:r>
                <a:r>
                  <a:rPr lang="sk-SK" dirty="0"/>
                  <a:t> je zavedený z dôvodu zohľadnenia rozdielu báz. Na získanie hodnoty faktora A</a:t>
                </a:r>
                <a:r>
                  <a:rPr lang="sk-SK" baseline="-25000" dirty="0"/>
                  <a:t>t</a:t>
                </a:r>
                <a:r>
                  <a:rPr lang="sk-SK" dirty="0"/>
                  <a:t> potrebujeme mať znalosť menovitého výkonu turbíny pri maximálnom prietoku a zdanlivého výkonu generátora</a:t>
                </a:r>
              </a:p>
              <a:p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ý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𝑘𝑜𝑛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𝑡𝑢𝑟𝑏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í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𝑛𝑦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 [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𝑀𝑊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ý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𝑘𝑜𝑛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𝑔𝑒𝑛𝑒𝑟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𝑡𝑜𝑟𝑎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[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𝑀𝑉𝐴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638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Pre analýzu dynamických vlastností vodných turbín sa často využíva </a:t>
                </a:r>
                <a:r>
                  <a:rPr lang="sk-SK" dirty="0" err="1"/>
                  <a:t>linearizovaný</a:t>
                </a:r>
                <a:r>
                  <a:rPr lang="sk-SK" dirty="0"/>
                  <a:t> model vodnej turbíny</a:t>
                </a:r>
                <a:endParaRPr lang="en-US" dirty="0"/>
              </a:p>
              <a:p>
                <a:r>
                  <a:rPr lang="en-US" dirty="0" err="1"/>
                  <a:t>Linearizovan</a:t>
                </a:r>
                <a:r>
                  <a:rPr lang="sk-SK" dirty="0"/>
                  <a:t>ý model je možné odvodiť úpravou nelineárneho modelu pomocou rozvoja do </a:t>
                </a:r>
                <a:r>
                  <a:rPr lang="sk-SK" dirty="0" err="1"/>
                  <a:t>Taylorovho</a:t>
                </a:r>
                <a:r>
                  <a:rPr lang="sk-SK" dirty="0"/>
                  <a:t> radu</a:t>
                </a:r>
              </a:p>
              <a:p>
                <a:r>
                  <a:rPr lang="sk-SK" dirty="0"/>
                  <a:t>Najskôr je však potrebné zadefinovať pracovný bod, v ktorom bude nelineárny model </a:t>
                </a:r>
                <a:r>
                  <a:rPr lang="sk-SK" dirty="0" err="1"/>
                  <a:t>linearizovaný</a:t>
                </a:r>
                <a:r>
                  <a:rPr lang="sk-SK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=1+∆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sk-SK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sk-S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038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Neline</a:t>
                </a:r>
                <a:r>
                  <a:rPr lang="sk-SK" dirty="0" err="1"/>
                  <a:t>árny</a:t>
                </a:r>
                <a:r>
                  <a:rPr lang="sk-SK" dirty="0"/>
                  <a:t> model vodnej turbíny je v tvare:</a:t>
                </a:r>
              </a:p>
              <a:p>
                <a:pPr marL="400050" indent="-400050" algn="ctr">
                  <a:buFont typeface="+mj-lt"/>
                  <a:buAutoNum type="roman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sk-S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sk-SK" i="1" dirty="0"/>
              </a:p>
              <a:p>
                <a:pPr marL="400050" indent="-400050" algn="ctr">
                  <a:buFont typeface="+mj-lt"/>
                  <a:buAutoNum type="romanUcPeriod"/>
                </a:pPr>
                <a14:m>
                  <m:oMath xmlns:m="http://schemas.openxmlformats.org/officeDocument/2006/math">
                    <m:r>
                      <a:rPr lang="sk-SK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𝑔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rad>
                  </m:oMath>
                </a14:m>
                <a:endParaRPr lang="sk-SK" i="1" dirty="0"/>
              </a:p>
              <a:p>
                <a:pPr marL="400050" indent="-400050" algn="ctr"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𝑛𝑙</m:t>
                            </m:r>
                          </m:sub>
                        </m:sSub>
                      </m:e>
                    </m:d>
                  </m:oMath>
                </a14:m>
                <a:endParaRPr lang="en-US" i="1" dirty="0"/>
              </a:p>
              <a:p>
                <a:r>
                  <a:rPr lang="sk-SK" dirty="0"/>
                  <a:t>Rozvojom rovníc do </a:t>
                </a:r>
                <a:r>
                  <a:rPr lang="sk-SK" dirty="0" err="1"/>
                  <a:t>Taylorovho</a:t>
                </a:r>
                <a:r>
                  <a:rPr lang="sk-SK" dirty="0"/>
                  <a:t> radu dostávame:</a:t>
                </a:r>
              </a:p>
              <a:p>
                <a:pPr marL="400050" indent="-400050" algn="ctr">
                  <a:buFont typeface="+mj-lt"/>
                  <a:buAutoNum type="romanU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sk-S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sk-SK" i="1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sk-SK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sk-S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</m:oMath>
                </a14:m>
                <a:endParaRPr lang="sk-SK" dirty="0"/>
              </a:p>
              <a:p>
                <a:pPr marL="400050" indent="-400050" algn="ctr">
                  <a:buFont typeface="+mj-lt"/>
                  <a:buAutoNum type="romanUcPeriod"/>
                </a:pPr>
                <a14:m>
                  <m:oMath xmlns:m="http://schemas.openxmlformats.org/officeDocument/2006/math">
                    <m:r>
                      <a:rPr lang="sk-S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=∆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  <a:p>
                <a:pPr marL="400050" indent="-400050" algn="ctr"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sk-SK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sk-SK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sk-SK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sk-SK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sk-SK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𝑛𝑙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sk-S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006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sk-SK" dirty="0"/>
                  <a:t>Úpravou prvej rovnice potom dostávame: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sk-SK" dirty="0"/>
              </a:p>
              <a:p>
                <a:r>
                  <a:rPr lang="sk-SK" dirty="0"/>
                  <a:t>Výraz dosadíme do druhej rovnice: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sk-SK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sk-SK" dirty="0"/>
                  <a:t>Úpravou predošlého vzťahu následne vzťah pre zmenu prietoku </a:t>
                </a:r>
                <a14:m>
                  <m:oMath xmlns:m="http://schemas.openxmlformats.org/officeDocument/2006/math">
                    <m:r>
                      <a:rPr lang="sk-S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sk-SK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sk-SK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sk-S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sk-SK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=∆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sk-SK" dirty="0"/>
              </a:p>
              <a:p>
                <a:pPr marL="0" indent="0">
                  <a:buNone/>
                </a:pPr>
                <a:endParaRPr lang="sk-SK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230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Dosaden</a:t>
                </a:r>
                <a:r>
                  <a:rPr lang="sk-SK" dirty="0" err="1"/>
                  <a:t>ím</a:t>
                </a:r>
                <a:r>
                  <a:rPr lang="sk-SK" dirty="0"/>
                  <a:t> do 3. rovnice pre zmenu mechanického výkonu: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sk-SK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K</a:t>
                </a:r>
                <a:r>
                  <a:rPr lang="sk-SK" dirty="0" err="1"/>
                  <a:t>eďže</a:t>
                </a:r>
                <a:r>
                  <a:rPr lang="sk-SK" dirty="0"/>
                  <a:t> v ustálenom stave je prietok a poloha rozvádzacieho kolesa rovnaký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sk-S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k-SK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sk-SK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sk-SK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𝑛𝑙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sk-SK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𝑛𝑙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sk-SK" i="1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sk-SK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dirty="0" err="1"/>
                  <a:t>teda</a:t>
                </a:r>
                <a:r>
                  <a:rPr lang="en-US" dirty="0"/>
                  <a:t> </a:t>
                </a:r>
                <a:r>
                  <a:rPr lang="en-US" dirty="0" err="1"/>
                  <a:t>lineari</a:t>
                </a:r>
                <a:r>
                  <a:rPr lang="sk-SK" dirty="0" err="1"/>
                  <a:t>zovaný</a:t>
                </a:r>
                <a:r>
                  <a:rPr lang="sk-SK" dirty="0"/>
                  <a:t> model vodnej turbíny: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sk-SK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sk-S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k-S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𝑛𝑙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142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vodných turbín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symbol obsahu 2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sk-SK" dirty="0"/>
                  <a:t>L</a:t>
                </a:r>
                <a:r>
                  <a:rPr lang="en-US" dirty="0" err="1"/>
                  <a:t>ineari</a:t>
                </a:r>
                <a:r>
                  <a:rPr lang="sk-SK" dirty="0" err="1"/>
                  <a:t>zovaný</a:t>
                </a:r>
                <a:r>
                  <a:rPr lang="sk-SK" dirty="0"/>
                  <a:t> model vodnej turbíny: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d>
                        <m:d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sk-SK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k-S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𝑔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k-SK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𝑛𝑙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sk-SK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sk-SK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sk-SK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sk-SK" dirty="0"/>
              </a:p>
              <a:p>
                <a:r>
                  <a:rPr lang="sk-SK" dirty="0"/>
                  <a:t>Všimnime si, že pokiaľ model zjednodušíme tak, že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k-SK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  <m:r>
                      <a:rPr lang="sk-SK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sk-SK" dirty="0"/>
                  <a:t>, budú parametre tohto modelu závisieť len od pracovného bodu polohy rozvádzacieho kolesa a časovej konštanty vody</a:t>
                </a:r>
              </a:p>
              <a:p>
                <a:r>
                  <a:rPr lang="sk-SK" dirty="0"/>
                  <a:t>Typickým znakom vodných turbín je prítomnosť neminimálne fázového charakteru, ktorý je vyjadrený nestabilnou nulou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Zástupný symbol obsah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 rotWithShape="0">
                <a:blip r:embed="rId2"/>
                <a:stretch>
                  <a:fillRect l="-146" t="-1099" r="-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Zástupný symbol obsahu 4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1637" y="2160589"/>
            <a:ext cx="4509840" cy="3880772"/>
          </a:xfrm>
        </p:spPr>
      </p:pic>
    </p:spTree>
    <p:extLst>
      <p:ext uri="{BB962C8B-B14F-4D97-AF65-F5344CB8AC3E}">
        <p14:creationId xmlns:p14="http://schemas.microsoft.com/office/powerpoint/2010/main" val="2123968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Servosystém</a:t>
            </a:r>
            <a:r>
              <a:rPr lang="sk-SK" dirty="0"/>
              <a:t> vodných turbín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k-SK" dirty="0"/>
              <a:t>Hlavný </a:t>
            </a:r>
            <a:r>
              <a:rPr lang="sk-SK" dirty="0" err="1"/>
              <a:t>servosystém</a:t>
            </a:r>
            <a:r>
              <a:rPr lang="sk-SK" dirty="0"/>
              <a:t> vodnej turbíny ovláda polohovanie rozvádzacieho kolesa a je zároveň akčným členom</a:t>
            </a:r>
          </a:p>
          <a:p>
            <a:r>
              <a:rPr lang="sk-SK" dirty="0" err="1"/>
              <a:t>Servosystém</a:t>
            </a:r>
            <a:r>
              <a:rPr lang="sk-SK" dirty="0"/>
              <a:t> pracuje ako hydraulický zosilňovač, kde pomocou polohovania menšieho valca polohujeme hlavný valec, ktorý otvára a zatvára rozvádzacie koleso</a:t>
            </a:r>
          </a:p>
          <a:p>
            <a:r>
              <a:rPr lang="sk-SK" dirty="0"/>
              <a:t>Menší valec, tzv. </a:t>
            </a:r>
            <a:r>
              <a:rPr lang="sk-SK" dirty="0" err="1"/>
              <a:t>šupátko</a:t>
            </a:r>
            <a:r>
              <a:rPr lang="sk-SK" dirty="0"/>
              <a:t>, je polohovaný elektrickým motorom, kde regulujeme otáčky motora</a:t>
            </a:r>
          </a:p>
          <a:p>
            <a:r>
              <a:rPr lang="sk-SK" dirty="0" err="1"/>
              <a:t>Servosystém</a:t>
            </a:r>
            <a:r>
              <a:rPr lang="sk-SK" dirty="0"/>
              <a:t>, tzv. pilot, určuje maximálnu dynamiku vodnej turbíny vzhľadom na maximálne dovolené rýchlosti hydrauliky</a:t>
            </a:r>
          </a:p>
          <a:p>
            <a:r>
              <a:rPr lang="sk-SK" dirty="0"/>
              <a:t>Pokiaľ turbína umožňuje reguláciu sklonu lopatiek, je takýmto </a:t>
            </a:r>
            <a:r>
              <a:rPr lang="sk-SK" dirty="0" err="1"/>
              <a:t>servosystémom</a:t>
            </a:r>
            <a:r>
              <a:rPr lang="sk-SK" dirty="0"/>
              <a:t> vybavené aj obežné koleso</a:t>
            </a:r>
          </a:p>
          <a:p>
            <a:r>
              <a:rPr lang="en-GB" dirty="0">
                <a:hlinkClick r:id="rId2"/>
              </a:rPr>
              <a:t>How Francis Turbines Work (Hydropower) - YouTube</a:t>
            </a:r>
            <a:endParaRPr lang="sk-S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397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990E-0FC0-502A-28C2-750EBF8F2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Servosystém</a:t>
            </a:r>
            <a:r>
              <a:rPr lang="sk-SK" dirty="0"/>
              <a:t> vodných turbín</a:t>
            </a:r>
            <a:endParaRPr lang="en-GB" dirty="0"/>
          </a:p>
        </p:txBody>
      </p:sp>
      <p:pic>
        <p:nvPicPr>
          <p:cNvPr id="4" name="Online Media 3" title="How Francis Turbines Work (Hydropower)">
            <a:hlinkClick r:id="" action="ppaction://media"/>
            <a:extLst>
              <a:ext uri="{FF2B5EF4-FFF2-40B4-BE49-F238E27FC236}">
                <a16:creationId xmlns:a16="http://schemas.microsoft.com/office/drawing/2014/main" id="{B2298EBB-6D69-EA21-1654-12BB3B246DE5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41463" y="2160588"/>
            <a:ext cx="686911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7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Servosystém</a:t>
            </a:r>
            <a:r>
              <a:rPr lang="sk-SK" dirty="0"/>
              <a:t> vodných turbín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Obyčajne sa modeluje len vplyv polohy rozvádzacieho kolesa na výkon turbíny</a:t>
            </a:r>
          </a:p>
          <a:p>
            <a:r>
              <a:rPr lang="sk-SK" dirty="0"/>
              <a:t>Vplyv polohy obežného kolesa býva modelovaný len prostredníctvom efektivity alebo sa v modeli vôbec neuvažuje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sk-SK" dirty="0" err="1"/>
              <a:t>T</a:t>
            </a:r>
            <a:r>
              <a:rPr lang="sk-SK" baseline="-25000" dirty="0" err="1"/>
              <a:t>g</a:t>
            </a:r>
            <a:r>
              <a:rPr lang="sk-SK" dirty="0"/>
              <a:t> – časová konštanta servosystému, </a:t>
            </a:r>
            <a:r>
              <a:rPr lang="sk-SK" dirty="0" err="1"/>
              <a:t>T</a:t>
            </a:r>
            <a:r>
              <a:rPr lang="sk-SK" baseline="-25000" dirty="0" err="1"/>
              <a:t>p</a:t>
            </a:r>
            <a:r>
              <a:rPr lang="sk-SK" dirty="0"/>
              <a:t> – časová konštanta </a:t>
            </a:r>
            <a:r>
              <a:rPr lang="sk-SK" dirty="0" err="1"/>
              <a:t>šupátka</a:t>
            </a:r>
            <a:r>
              <a:rPr lang="sk-SK" dirty="0"/>
              <a:t>, VEL – max. rýchlosť otvorenia/ zatvorenia, </a:t>
            </a:r>
            <a:r>
              <a:rPr lang="sk-SK" dirty="0" err="1"/>
              <a:t>P</a:t>
            </a:r>
            <a:r>
              <a:rPr lang="sk-SK" baseline="-25000" dirty="0" err="1"/>
              <a:t>max</a:t>
            </a:r>
            <a:r>
              <a:rPr lang="sk-SK" dirty="0"/>
              <a:t>/</a:t>
            </a:r>
            <a:r>
              <a:rPr lang="sk-SK" dirty="0" err="1"/>
              <a:t>P</a:t>
            </a:r>
            <a:r>
              <a:rPr lang="sk-SK" baseline="-25000" dirty="0" err="1"/>
              <a:t>min</a:t>
            </a:r>
            <a:r>
              <a:rPr lang="sk-SK" dirty="0"/>
              <a:t> –max. / min. poloha rozvádzacieho kolesa</a:t>
            </a:r>
          </a:p>
          <a:p>
            <a:endParaRPr lang="sk-SK" dirty="0"/>
          </a:p>
        </p:txBody>
      </p:sp>
      <p:pic>
        <p:nvPicPr>
          <p:cNvPr id="4" name="Obrázo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688" y="3434600"/>
            <a:ext cx="4212222" cy="133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8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Servosystém</a:t>
            </a:r>
            <a:r>
              <a:rPr lang="sk-SK" dirty="0"/>
              <a:t> vodných turbín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sk-SK" dirty="0"/>
              <a:t>Pôvodný model vodnej turbíny uvažuje s podmienkou, že závislosť polohy rozvádzacieho kolesa a prietoku vody cez turbínu a výkonu je lineárna</a:t>
            </a:r>
          </a:p>
          <a:p>
            <a:r>
              <a:rPr lang="sk-SK" dirty="0"/>
              <a:t>V skutočnosti to však nemusí byť pravda ako je dokumentované na obrázku</a:t>
            </a:r>
          </a:p>
          <a:p>
            <a:r>
              <a:rPr lang="sk-SK" dirty="0"/>
              <a:t>Do niektorých modelov turbín sa preto pridáva člen modelujúci tento vplyv</a:t>
            </a:r>
          </a:p>
          <a:p>
            <a:endParaRPr lang="en-US" dirty="0"/>
          </a:p>
        </p:txBody>
      </p:sp>
      <p:pic>
        <p:nvPicPr>
          <p:cNvPr id="5" name="Zástupný symbol obsahu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850" y="2160589"/>
            <a:ext cx="4386954" cy="3298717"/>
          </a:xfrm>
        </p:spPr>
      </p:pic>
    </p:spTree>
    <p:extLst>
      <p:ext uri="{BB962C8B-B14F-4D97-AF65-F5344CB8AC3E}">
        <p14:creationId xmlns:p14="http://schemas.microsoft.com/office/powerpoint/2010/main" val="1050620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CA41AD-68F3-7B60-902B-317DB4157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Servosystém</a:t>
            </a:r>
            <a:r>
              <a:rPr lang="sk-SK" dirty="0"/>
              <a:t> vodných turbín </a:t>
            </a:r>
            <a:r>
              <a:rPr lang="sk-SK"/>
              <a:t>– obežné koleso</a:t>
            </a:r>
            <a:endParaRPr lang="en-GB" dirty="0"/>
          </a:p>
        </p:txBody>
      </p:sp>
      <p:pic>
        <p:nvPicPr>
          <p:cNvPr id="7" name="Online Media 6" title="Voith: Functioning of Kaplan turbines (EN)">
            <a:hlinkClick r:id="" action="ppaction://media"/>
            <a:extLst>
              <a:ext uri="{FF2B5EF4-FFF2-40B4-BE49-F238E27FC236}">
                <a16:creationId xmlns:a16="http://schemas.microsoft.com/office/drawing/2014/main" id="{0CC16B09-0ADF-25C8-0ED2-F490E1AFEB3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541463" y="2160588"/>
            <a:ext cx="6869112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2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Riadenie vodnej turbíny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Riadiaci systém vodnej turbíny obsahuje nasledovné režimy:</a:t>
            </a:r>
          </a:p>
          <a:p>
            <a:pPr lvl="1"/>
            <a:r>
              <a:rPr lang="sk-SK" dirty="0"/>
              <a:t>Režim regulácie otáčok turbíny</a:t>
            </a:r>
          </a:p>
          <a:p>
            <a:pPr lvl="1"/>
            <a:r>
              <a:rPr lang="sk-SK" dirty="0"/>
              <a:t>Režim </a:t>
            </a:r>
            <a:r>
              <a:rPr lang="sk-SK" dirty="0" err="1"/>
              <a:t>fázovania</a:t>
            </a:r>
            <a:endParaRPr lang="sk-SK" dirty="0"/>
          </a:p>
          <a:p>
            <a:pPr lvl="1"/>
            <a:r>
              <a:rPr lang="sk-SK" dirty="0"/>
              <a:t>Režim regulácie výkonu, normálna prevádzka</a:t>
            </a:r>
          </a:p>
          <a:p>
            <a:pPr lvl="1"/>
            <a:r>
              <a:rPr lang="sk-SK" dirty="0"/>
              <a:t>Režim regulácie ostrovnej prevádzky</a:t>
            </a:r>
          </a:p>
          <a:p>
            <a:r>
              <a:rPr lang="sk-SK" dirty="0"/>
              <a:t>Okrem spomínaných základných režimov riadiaci systém podľa požiadaviek obyčajne umožňuje aj:</a:t>
            </a:r>
          </a:p>
          <a:p>
            <a:pPr lvl="1"/>
            <a:r>
              <a:rPr lang="sk-SK" dirty="0"/>
              <a:t>Pripojenie primárnej a sekundárnej regulácie výkonu</a:t>
            </a:r>
          </a:p>
          <a:p>
            <a:pPr lvl="1"/>
            <a:r>
              <a:rPr lang="sk-SK" dirty="0"/>
              <a:t>Automatické spustenie pri diaľkovej regulácii výkonu a terciárnej regulácii výkonu</a:t>
            </a:r>
          </a:p>
          <a:p>
            <a:pPr lvl="1"/>
            <a:r>
              <a:rPr lang="sk-SK" dirty="0"/>
              <a:t>Režim čierneho štartu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596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Riadenie vodnej turbíny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Regulátor má štandardne štruktúru PID, môže byť doplnený o väzby </a:t>
            </a:r>
            <a:r>
              <a:rPr lang="sk-SK" dirty="0" err="1"/>
              <a:t>Feed</a:t>
            </a:r>
            <a:r>
              <a:rPr lang="sk-SK" dirty="0"/>
              <a:t>-Forward</a:t>
            </a:r>
          </a:p>
          <a:p>
            <a:r>
              <a:rPr lang="sk-SK" dirty="0"/>
              <a:t>Regulátor musí vedieť vysledovať výstupnú hodnotu počas prepínania medzi svojimi režimami, tzv. </a:t>
            </a:r>
            <a:r>
              <a:rPr lang="sk-SK" dirty="0" err="1"/>
              <a:t>beznárazové</a:t>
            </a:r>
            <a:r>
              <a:rPr lang="sk-SK" dirty="0"/>
              <a:t> prepnutie. Toto prepnutie je najčastejšie riešené spoločným integračným členom pre všetky režimy.</a:t>
            </a:r>
          </a:p>
          <a:p>
            <a:r>
              <a:rPr lang="sk-SK" dirty="0"/>
              <a:t>Počas spustenia zdroja rozbehne regulátor najskôr turbínu v režime regulácie otáčok na nominálne otáčky zodpovedajúce 50Hz v sieti</a:t>
            </a:r>
          </a:p>
          <a:p>
            <a:r>
              <a:rPr lang="sk-SK" dirty="0"/>
              <a:t>Po dosiahnutí nominálnych otáčok sa regulátor prepne do režimu</a:t>
            </a:r>
            <a:r>
              <a:rPr lang="en-US" dirty="0"/>
              <a:t> f</a:t>
            </a:r>
            <a:r>
              <a:rPr lang="sk-SK" dirty="0" err="1"/>
              <a:t>ázovania</a:t>
            </a:r>
            <a:r>
              <a:rPr lang="sk-SK" dirty="0"/>
              <a:t>, na želanú hodnotu otáčok je </a:t>
            </a:r>
            <a:r>
              <a:rPr lang="sk-SK" dirty="0" err="1"/>
              <a:t>nasuperponovaný</a:t>
            </a:r>
            <a:r>
              <a:rPr lang="sk-SK" dirty="0"/>
              <a:t> pílový signál</a:t>
            </a:r>
          </a:p>
          <a:p>
            <a:r>
              <a:rPr lang="sk-SK" dirty="0"/>
              <a:t>Ak sú dodržané </a:t>
            </a:r>
            <a:r>
              <a:rPr lang="sk-SK" dirty="0" err="1"/>
              <a:t>fázovacie</a:t>
            </a:r>
            <a:r>
              <a:rPr lang="sk-SK" dirty="0"/>
              <a:t> podmienky zopne automat generátorový vypínač a regulátor sa prepne do režimu regulácie výkonu, normálna prevádzka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510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Riadenie vodnej turbíny</a:t>
            </a:r>
            <a:endParaRPr lang="en-US" dirty="0"/>
          </a:p>
        </p:txBody>
      </p:sp>
      <p:sp>
        <p:nvSpPr>
          <p:cNvPr id="6" name="Zástupný symbol obsahu 5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k-SK" dirty="0"/>
              <a:t>Štandardné zapojenie regulátora výkonu s korektorom frekvencie a regulátora ostrovnej prevádzky</a:t>
            </a:r>
          </a:p>
          <a:p>
            <a:r>
              <a:rPr lang="sk-SK" dirty="0"/>
              <a:t>Režim ostrovnej prevádzky sa používa počas veľkých porúch v ES</a:t>
            </a:r>
          </a:p>
          <a:p>
            <a:r>
              <a:rPr lang="sk-SK" dirty="0"/>
              <a:t>Do ostrovnej prevádzky sa regulátor prepína pokiaľ frekvencia na svorkách vybočí z intervalu 49,8 až 50,2 Hz. V tomto režime musí regulátor zostať do manuálneho pokynu na prepnutie na reguláciu výkonu</a:t>
            </a:r>
          </a:p>
          <a:p>
            <a:pPr marL="0" indent="0">
              <a:buNone/>
            </a:pPr>
            <a:endParaRPr lang="sk-SK" dirty="0"/>
          </a:p>
        </p:txBody>
      </p:sp>
      <p:pic>
        <p:nvPicPr>
          <p:cNvPr id="7" name="Zástupný symbol obsahu 3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351" y="2160589"/>
            <a:ext cx="5583925" cy="38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407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Modelovanie </a:t>
            </a:r>
            <a:r>
              <a:rPr lang="en-US" dirty="0" err="1"/>
              <a:t>vodn</a:t>
            </a:r>
            <a:r>
              <a:rPr lang="sk-SK" dirty="0" err="1"/>
              <a:t>ých</a:t>
            </a:r>
            <a:r>
              <a:rPr lang="sk-SK" dirty="0"/>
              <a:t> turbín</a:t>
            </a:r>
            <a:endParaRPr lang="en-US" dirty="0"/>
          </a:p>
        </p:txBody>
      </p:sp>
      <p:sp>
        <p:nvSpPr>
          <p:cNvPr id="5" name="Zástupný symbol obsah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/>
              <a:t>Modelovaním vodných turbín sa zaoberá štandard:</a:t>
            </a:r>
          </a:p>
          <a:p>
            <a:r>
              <a:rPr lang="en-US" dirty="0">
                <a:hlinkClick r:id="rId2"/>
              </a:rPr>
              <a:t>PES_TR1.pdf (ieee.org)</a:t>
            </a:r>
            <a:endParaRPr lang="sk-SK" dirty="0"/>
          </a:p>
          <a:p>
            <a:r>
              <a:rPr lang="sk-SK" dirty="0"/>
              <a:t>Model vodnej turbíny: </a:t>
            </a:r>
            <a:r>
              <a:rPr lang="sk-SK" dirty="0" err="1"/>
              <a:t>powerlib</a:t>
            </a:r>
            <a:r>
              <a:rPr lang="sk-SK" dirty="0"/>
              <a:t>/</a:t>
            </a:r>
            <a:r>
              <a:rPr lang="sk-SK" dirty="0" err="1"/>
              <a:t>Machines</a:t>
            </a:r>
            <a:r>
              <a:rPr lang="sk-SK" dirty="0"/>
              <a:t>/</a:t>
            </a:r>
            <a:r>
              <a:rPr lang="sk-SK" dirty="0" err="1"/>
              <a:t>Hydraulic</a:t>
            </a:r>
            <a:r>
              <a:rPr lang="sk-SK" dirty="0"/>
              <a:t> </a:t>
            </a:r>
            <a:r>
              <a:rPr lang="sk-SK" dirty="0" err="1"/>
              <a:t>Turbine</a:t>
            </a:r>
            <a:r>
              <a:rPr lang="sk-SK" dirty="0"/>
              <a:t> and </a:t>
            </a:r>
            <a:r>
              <a:rPr lang="sk-SK" dirty="0" err="1"/>
              <a:t>Governor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1237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Otázky k testu – Vodné turbíny</a:t>
            </a:r>
            <a:endParaRPr lang="en-US" dirty="0"/>
          </a:p>
        </p:txBody>
      </p:sp>
      <p:sp>
        <p:nvSpPr>
          <p:cNvPr id="3" name="Zástupný symbol obsahu 2"/>
          <p:cNvSpPr>
            <a:spLocks noGrp="1"/>
          </p:cNvSpPr>
          <p:nvPr>
            <p:ph idx="1"/>
          </p:nvPr>
        </p:nvSpPr>
        <p:spPr>
          <a:xfrm>
            <a:off x="677334" y="2135189"/>
            <a:ext cx="8596668" cy="3880773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sk-SK" dirty="0"/>
              <a:t>Riadenie obežného kolesa obsahujú nasledovné typy turbín:</a:t>
            </a:r>
          </a:p>
          <a:p>
            <a:pPr>
              <a:buFont typeface="+mj-lt"/>
              <a:buAutoNum type="arabicPeriod"/>
            </a:pPr>
            <a:r>
              <a:rPr lang="sk-SK" dirty="0"/>
              <a:t>V podmienkach ES SR sa najčastejšie využíva tento typ vodnej turbíny:</a:t>
            </a:r>
          </a:p>
          <a:p>
            <a:pPr>
              <a:buFont typeface="+mj-lt"/>
              <a:buAutoNum type="arabicPeriod"/>
            </a:pPr>
            <a:r>
              <a:rPr lang="sk-SK" dirty="0"/>
              <a:t>Ako akčný člen v turbíne slúži:</a:t>
            </a:r>
          </a:p>
          <a:p>
            <a:pPr>
              <a:buFont typeface="+mj-lt"/>
              <a:buAutoNum type="arabicPeriod"/>
            </a:pPr>
            <a:r>
              <a:rPr lang="sk-SK" dirty="0"/>
              <a:t>Závislosť výkonu turbíny od polohy RK je:</a:t>
            </a:r>
          </a:p>
          <a:p>
            <a:pPr>
              <a:buFont typeface="+mj-lt"/>
              <a:buAutoNum type="arabicPeriod"/>
            </a:pPr>
            <a:r>
              <a:rPr lang="sk-SK" dirty="0"/>
              <a:t>V akom režime sa nachádza riadiaci systém vodnej turbíny v normálnej prevádzke?</a:t>
            </a:r>
          </a:p>
          <a:p>
            <a:pPr>
              <a:buFont typeface="+mj-lt"/>
              <a:buAutoNum type="arabicPeriod"/>
            </a:pPr>
            <a:r>
              <a:rPr lang="sk-SK" dirty="0"/>
              <a:t>Typickou vlastnosťou lineárneho modelu vodných turbín z pohľadu rozmiestnenia núl a pólov je:</a:t>
            </a:r>
          </a:p>
        </p:txBody>
      </p:sp>
    </p:spTree>
    <p:extLst>
      <p:ext uri="{BB962C8B-B14F-4D97-AF65-F5344CB8AC3E}">
        <p14:creationId xmlns:p14="http://schemas.microsoft.com/office/powerpoint/2010/main" val="1773161919"/>
      </p:ext>
    </p:extLst>
  </p:cSld>
  <p:clrMapOvr>
    <a:masterClrMapping/>
  </p:clrMapOvr>
</p:sld>
</file>

<file path=ppt/theme/theme1.xml><?xml version="1.0" encoding="utf-8"?>
<a:theme xmlns:a="http://schemas.openxmlformats.org/drawingml/2006/main" name="Fazeta">
  <a:themeElements>
    <a:clrScheme name="Faz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46E8E2D702484CA408F021DEE2569A" ma:contentTypeVersion="10" ma:contentTypeDescription="Create a new document." ma:contentTypeScope="" ma:versionID="7a2812ca667d8c70d2a36b2e3d3b103a">
  <xsd:schema xmlns:xsd="http://www.w3.org/2001/XMLSchema" xmlns:xs="http://www.w3.org/2001/XMLSchema" xmlns:p="http://schemas.microsoft.com/office/2006/metadata/properties" xmlns:ns2="9b327846-e0b3-4ad6-9ca8-68ab1d718056" xmlns:ns3="701217ad-cad6-421a-ac01-78070839b6f6" targetNamespace="http://schemas.microsoft.com/office/2006/metadata/properties" ma:root="true" ma:fieldsID="1988e37045b8dc6db7d08572e240c743" ns2:_="" ns3:_="">
    <xsd:import namespace="9b327846-e0b3-4ad6-9ca8-68ab1d718056"/>
    <xsd:import namespace="701217ad-cad6-421a-ac01-78070839b6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327846-e0b3-4ad6-9ca8-68ab1d718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0de4301-b1da-46d0-bded-5f1fb5ebe3e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17ad-cad6-421a-ac01-78070839b6f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cae3a00-ddd8-4b87-a85e-eacc516c3ca7}" ma:internalName="TaxCatchAll" ma:showField="CatchAllData" ma:web="701217ad-cad6-421a-ac01-78070839b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17ad-cad6-421a-ac01-78070839b6f6" xsi:nil="true"/>
    <lcf76f155ced4ddcb4097134ff3c332f xmlns="9b327846-e0b3-4ad6-9ca8-68ab1d7180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9981FF0-B615-4081-9959-B475F8967A06}"/>
</file>

<file path=customXml/itemProps2.xml><?xml version="1.0" encoding="utf-8"?>
<ds:datastoreItem xmlns:ds="http://schemas.openxmlformats.org/officeDocument/2006/customXml" ds:itemID="{FB84F68A-0FF8-48E3-8E95-C361818B3901}"/>
</file>

<file path=customXml/itemProps3.xml><?xml version="1.0" encoding="utf-8"?>
<ds:datastoreItem xmlns:ds="http://schemas.openxmlformats.org/officeDocument/2006/customXml" ds:itemID="{253E7176-4DBA-4739-A807-7BA2B95AC55C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20140</TotalTime>
  <Words>1630</Words>
  <Application>Microsoft Office PowerPoint</Application>
  <PresentationFormat>Widescreen</PresentationFormat>
  <Paragraphs>191</Paragraphs>
  <Slides>31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Cambria Math</vt:lpstr>
      <vt:lpstr>Trebuchet MS</vt:lpstr>
      <vt:lpstr>Wingdings 3</vt:lpstr>
      <vt:lpstr>Fazeta</vt:lpstr>
      <vt:lpstr>Dynamika elektrizačných sústav 3. Týždeň: Vodné elektrárne </vt:lpstr>
      <vt:lpstr>História – Francisova turbína</vt:lpstr>
      <vt:lpstr>História – Peltonova turbína</vt:lpstr>
      <vt:lpstr>História – Kaplanova turbína</vt:lpstr>
      <vt:lpstr>História – Deriazova turbína</vt:lpstr>
      <vt:lpstr>Princíp činnosti </vt:lpstr>
      <vt:lpstr>Efektivita</vt:lpstr>
      <vt:lpstr>Efektivita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Modelovanie vodných turbín</vt:lpstr>
      <vt:lpstr>Servosystém vodných turbín</vt:lpstr>
      <vt:lpstr>Servosystém vodných turbín</vt:lpstr>
      <vt:lpstr>Servosystém vodných turbín</vt:lpstr>
      <vt:lpstr>Servosystém vodných turbín</vt:lpstr>
      <vt:lpstr>Servosystém vodných turbín – obežné koleso</vt:lpstr>
      <vt:lpstr>Riadenie vodnej turbíny</vt:lpstr>
      <vt:lpstr>Riadenie vodnej turbíny</vt:lpstr>
      <vt:lpstr>Riadenie vodnej turbíny</vt:lpstr>
      <vt:lpstr>Modelovanie vodných turbín</vt:lpstr>
      <vt:lpstr>Otázky k testu – Vodné turbíny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Dynamika elektrizačných sústav 2. Týždeň: Synchrónny generátor, budenie </dc:title>
  <dc:creator>Martin Ernek</dc:creator>
  <cp:lastModifiedBy>Martin Ernek</cp:lastModifiedBy>
  <cp:revision>144</cp:revision>
  <dcterms:created xsi:type="dcterms:W3CDTF">2021-08-17T07:33:29Z</dcterms:created>
  <dcterms:modified xsi:type="dcterms:W3CDTF">2026-03-02T11:44:03Z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0x010100F946E8E2D702484CA408F021DEE2569A</vt:lpwstr>
  </property>
</Properties>
</file>